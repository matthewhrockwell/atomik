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7" r:id="rId4"/>
    <p:sldId id="258" r:id="rId5"/>
    <p:sldId id="261" r:id="rId6"/>
    <p:sldId id="259" r:id="rId7"/>
    <p:sldId id="266" r:id="rId8"/>
    <p:sldId id="262" r:id="rId9"/>
    <p:sldId id="260" r:id="rId10"/>
    <p:sldId id="263" r:id="rId11"/>
    <p:sldId id="264" r:id="rId12"/>
    <p:sldId id="268" r:id="rId13"/>
    <p:sldId id="269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4558C-10A4-4989-93D8-98B84FC007FF}" v="17" dt="2026-02-03T20:42:43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8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Rockwell" userId="be3989a97b66b923" providerId="LiveId" clId="{B89F934C-8C3B-4D2B-ADD7-B5452E27AB91}"/>
    <pc:docChg chg="undo redo custSel addSld modSld sldOrd">
      <pc:chgData name="Matthew Rockwell" userId="be3989a97b66b923" providerId="LiveId" clId="{B89F934C-8C3B-4D2B-ADD7-B5452E27AB91}" dt="2026-02-03T20:42:47.398" v="1669" actId="1076"/>
      <pc:docMkLst>
        <pc:docMk/>
      </pc:docMkLst>
      <pc:sldChg chg="addSp modSp mod modNotesTx">
        <pc:chgData name="Matthew Rockwell" userId="be3989a97b66b923" providerId="LiveId" clId="{B89F934C-8C3B-4D2B-ADD7-B5452E27AB91}" dt="2026-02-03T20:28:47.212" v="1112" actId="20577"/>
        <pc:sldMkLst>
          <pc:docMk/>
          <pc:sldMk cId="0" sldId="256"/>
        </pc:sldMkLst>
        <pc:spChg chg="mod">
          <ac:chgData name="Matthew Rockwell" userId="be3989a97b66b923" providerId="LiveId" clId="{B89F934C-8C3B-4D2B-ADD7-B5452E27AB91}" dt="2026-02-03T08:46:24.668" v="29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7:03.895" v="29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42:48.527" v="53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2:56.391" v="857" actId="115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42:46.310" v="53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47.720" v="849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47.720" v="849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2:11.173" v="851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7:17.075" v="302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47.720" v="849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2:11.173" v="851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47.720" v="84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47.720" v="849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2:11.173" v="851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47.720" v="849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47.720" v="849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2:11.173" v="85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16:34.535" v="24" actId="1076"/>
          <ac:spMkLst>
            <pc:docMk/>
            <pc:sldMk cId="0" sldId="256"/>
            <ac:spMk id="20" creationId="{00000000-0000-0000-0000-000000000000}"/>
          </ac:spMkLst>
        </pc:spChg>
        <pc:picChg chg="add mod">
          <ac:chgData name="Matthew Rockwell" userId="be3989a97b66b923" providerId="LiveId" clId="{B89F934C-8C3B-4D2B-ADD7-B5452E27AB91}" dt="2026-02-03T20:11:56.192" v="850" actId="1076"/>
          <ac:picMkLst>
            <pc:docMk/>
            <pc:sldMk cId="0" sldId="256"/>
            <ac:picMk id="23" creationId="{F1A8A962-12C9-7356-E89F-372FA2904C6B}"/>
          </ac:picMkLst>
        </pc:picChg>
        <pc:picChg chg="add mod">
          <ac:chgData name="Matthew Rockwell" userId="be3989a97b66b923" providerId="LiveId" clId="{B89F934C-8C3B-4D2B-ADD7-B5452E27AB91}" dt="2026-02-03T08:18:30.748" v="39" actId="14100"/>
          <ac:picMkLst>
            <pc:docMk/>
            <pc:sldMk cId="0" sldId="256"/>
            <ac:picMk id="24" creationId="{70A1005D-65CF-A8ED-DAC8-03221AC798A8}"/>
          </ac:picMkLst>
        </pc:picChg>
        <pc:picChg chg="add mod">
          <ac:chgData name="Matthew Rockwell" userId="be3989a97b66b923" providerId="LiveId" clId="{B89F934C-8C3B-4D2B-ADD7-B5452E27AB91}" dt="2026-02-03T20:12:18.396" v="852" actId="1076"/>
          <ac:picMkLst>
            <pc:docMk/>
            <pc:sldMk cId="0" sldId="256"/>
            <ac:picMk id="25" creationId="{8EE4E9B9-DBD8-F328-E3E6-E37776204195}"/>
          </ac:picMkLst>
        </pc:picChg>
        <pc:picChg chg="add mod">
          <ac:chgData name="Matthew Rockwell" userId="be3989a97b66b923" providerId="LiveId" clId="{B89F934C-8C3B-4D2B-ADD7-B5452E27AB91}" dt="2026-02-03T08:19:05.497" v="48" actId="1076"/>
          <ac:picMkLst>
            <pc:docMk/>
            <pc:sldMk cId="0" sldId="256"/>
            <ac:picMk id="26" creationId="{0DD58A02-0623-905F-DF05-119B9F8FF818}"/>
          </ac:picMkLst>
        </pc:picChg>
      </pc:sldChg>
      <pc:sldChg chg="modSp mod modNotesTx">
        <pc:chgData name="Matthew Rockwell" userId="be3989a97b66b923" providerId="LiveId" clId="{B89F934C-8C3B-4D2B-ADD7-B5452E27AB91}" dt="2026-02-03T20:30:22.727" v="1133" actId="1076"/>
        <pc:sldMkLst>
          <pc:docMk/>
          <pc:sldMk cId="0" sldId="257"/>
        </pc:sldMkLst>
        <pc:spChg chg="mod">
          <ac:chgData name="Matthew Rockwell" userId="be3989a97b66b923" providerId="LiveId" clId="{B89F934C-8C3B-4D2B-ADD7-B5452E27AB91}" dt="2026-02-03T20:29:16.544" v="1125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43:57.572" v="544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9:06.130" v="112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43:58.835" v="546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43:58.136" v="545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9:51.524" v="113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9:43.369" v="1131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8:47.571" v="312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13.884" v="393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0:22.727" v="113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0:22.727" v="113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0:47.863" v="137" actId="242"/>
          <ac:spMkLst>
            <pc:docMk/>
            <pc:sldMk cId="0" sldId="257"/>
            <ac:spMk id="22" creationId="{00000000-0000-0000-0000-000000000000}"/>
          </ac:spMkLst>
        </pc:spChg>
      </pc:sldChg>
      <pc:sldChg chg="modSp mod modNotesTx">
        <pc:chgData name="Matthew Rockwell" userId="be3989a97b66b923" providerId="LiveId" clId="{B89F934C-8C3B-4D2B-ADD7-B5452E27AB91}" dt="2026-02-03T20:30:58.359" v="1149" actId="20577"/>
        <pc:sldMkLst>
          <pc:docMk/>
          <pc:sldMk cId="0" sldId="258"/>
        </pc:sldMkLst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9:46.438" v="319" actId="24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9:56.242" v="323" actId="242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9:20.789" v="314" actId="242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0:27.082" v="327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9:00:28.177" v="394" actId="1076"/>
          <ac:spMkLst>
            <pc:docMk/>
            <pc:sldMk cId="0" sldId="258"/>
            <ac:spMk id="30" creationId="{00000000-0000-0000-0000-000000000000}"/>
          </ac:spMkLst>
        </pc:spChg>
      </pc:sldChg>
      <pc:sldChg chg="modSp mod modNotesTx">
        <pc:chgData name="Matthew Rockwell" userId="be3989a97b66b923" providerId="LiveId" clId="{B89F934C-8C3B-4D2B-ADD7-B5452E27AB91}" dt="2026-02-03T20:35:53.208" v="1273" actId="1076"/>
        <pc:sldMkLst>
          <pc:docMk/>
          <pc:sldMk cId="0" sldId="259"/>
        </pc:sldMkLst>
        <pc:spChg chg="mod">
          <ac:chgData name="Matthew Rockwell" userId="be3989a97b66b923" providerId="LiveId" clId="{B89F934C-8C3B-4D2B-ADD7-B5452E27AB91}" dt="2026-02-03T08:26:36.727" v="98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6:48.206" v="99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6:48.206" v="99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6:30.448" v="97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1:29.585" v="58" actId="1410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4:47.571" v="85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5:46.496" v="1272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2:48.637" v="66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6:48.206" v="99" actId="20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2:48.637" v="66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4:41.337" v="8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5:38.626" v="1271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4:10.814" v="78" actId="1410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5:24.544" v="1270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2:21.678" v="64" actId="14100"/>
          <ac:spMkLst>
            <pc:docMk/>
            <pc:sldMk cId="0" sldId="259"/>
            <ac:spMk id="2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4:37.360" v="83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5:53.208" v="1273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2:48.637" v="66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6:48.206" v="99" actId="207"/>
          <ac:spMkLst>
            <pc:docMk/>
            <pc:sldMk cId="0" sldId="259"/>
            <ac:spMk id="29" creationId="{00000000-0000-0000-0000-000000000000}"/>
          </ac:spMkLst>
        </pc:spChg>
        <pc:graphicFrameChg chg="mod modGraphic">
          <ac:chgData name="Matthew Rockwell" userId="be3989a97b66b923" providerId="LiveId" clId="{B89F934C-8C3B-4D2B-ADD7-B5452E27AB91}" dt="2026-02-03T08:23:12.791" v="69" actId="122"/>
          <ac:graphicFrameMkLst>
            <pc:docMk/>
            <pc:sldMk cId="0" sldId="259"/>
            <ac:graphicFrameMk id="14" creationId="{00000000-0000-0000-0000-000000000000}"/>
          </ac:graphicFrameMkLst>
        </pc:graphicFrameChg>
      </pc:sldChg>
      <pc:sldChg chg="addSp delSp modSp mod modNotesTx">
        <pc:chgData name="Matthew Rockwell" userId="be3989a97b66b923" providerId="LiveId" clId="{B89F934C-8C3B-4D2B-ADD7-B5452E27AB91}" dt="2026-02-03T20:31:34.800" v="1186" actId="20577"/>
        <pc:sldMkLst>
          <pc:docMk/>
          <pc:sldMk cId="0" sldId="260"/>
        </pc:sldMkLst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17.180" v="614" actId="242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04.367" v="612" actId="242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17.180" v="614" actId="242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17.180" v="614" actId="242"/>
          <ac:spMkLst>
            <pc:docMk/>
            <pc:sldMk cId="0" sldId="260"/>
            <ac:spMk id="2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04.367" v="612" actId="242"/>
          <ac:spMkLst>
            <pc:docMk/>
            <pc:sldMk cId="0" sldId="260"/>
            <ac:spMk id="2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17.180" v="614" actId="242"/>
          <ac:spMkLst>
            <pc:docMk/>
            <pc:sldMk cId="0" sldId="260"/>
            <ac:spMk id="2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17.180" v="614" actId="242"/>
          <ac:spMkLst>
            <pc:docMk/>
            <pc:sldMk cId="0" sldId="260"/>
            <ac:spMk id="3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17.180" v="614" actId="242"/>
          <ac:spMkLst>
            <pc:docMk/>
            <pc:sldMk cId="0" sldId="260"/>
            <ac:spMk id="3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36.285" v="615" actId="207"/>
          <ac:spMkLst>
            <pc:docMk/>
            <pc:sldMk cId="0" sldId="260"/>
            <ac:spMk id="3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46:09.709" v="551" actId="107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5:23.555" v="87" actId="1076"/>
          <ac:spMkLst>
            <pc:docMk/>
            <pc:sldMk cId="0" sldId="260"/>
            <ac:spMk id="4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0:32.880" v="581" actId="1076"/>
          <ac:spMkLst>
            <pc:docMk/>
            <pc:sldMk cId="0" sldId="260"/>
            <ac:spMk id="4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0:44.608" v="582" actId="1076"/>
          <ac:spMkLst>
            <pc:docMk/>
            <pc:sldMk cId="0" sldId="260"/>
            <ac:spMk id="4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25:23.555" v="87" actId="1076"/>
          <ac:spMkLst>
            <pc:docMk/>
            <pc:sldMk cId="0" sldId="260"/>
            <ac:spMk id="4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0:32.880" v="581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0:44.608" v="582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0:32.880" v="581" actId="1076"/>
          <ac:spMkLst>
            <pc:docMk/>
            <pc:sldMk cId="0" sldId="260"/>
            <ac:spMk id="4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0:44.608" v="582" actId="1076"/>
          <ac:spMkLst>
            <pc:docMk/>
            <pc:sldMk cId="0" sldId="260"/>
            <ac:spMk id="4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5:17.180" v="614" actId="242"/>
          <ac:spMkLst>
            <pc:docMk/>
            <pc:sldMk cId="0" sldId="260"/>
            <ac:spMk id="5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0:44.608" v="582" actId="1076"/>
          <ac:spMkLst>
            <pc:docMk/>
            <pc:sldMk cId="0" sldId="260"/>
            <ac:spMk id="5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49:39.153" v="578" actId="1076"/>
          <ac:spMkLst>
            <pc:docMk/>
            <pc:sldMk cId="0" sldId="260"/>
            <ac:spMk id="53" creationId="{00000000-0000-0000-0000-000000000000}"/>
          </ac:spMkLst>
        </pc:spChg>
        <pc:spChg chg="add mod">
          <ac:chgData name="Matthew Rockwell" userId="be3989a97b66b923" providerId="LiveId" clId="{B89F934C-8C3B-4D2B-ADD7-B5452E27AB91}" dt="2026-02-03T19:50:06.349" v="580" actId="948"/>
          <ac:spMkLst>
            <pc:docMk/>
            <pc:sldMk cId="0" sldId="260"/>
            <ac:spMk id="55" creationId="{B4CD9FB4-8EDA-CD65-5A19-F25B2E83691A}"/>
          </ac:spMkLst>
        </pc:spChg>
        <pc:spChg chg="add del mod">
          <ac:chgData name="Matthew Rockwell" userId="be3989a97b66b923" providerId="LiveId" clId="{B89F934C-8C3B-4D2B-ADD7-B5452E27AB91}" dt="2026-02-03T19:47:32.905" v="567" actId="478"/>
          <ac:spMkLst>
            <pc:docMk/>
            <pc:sldMk cId="0" sldId="260"/>
            <ac:spMk id="56" creationId="{D7100D82-DC34-BDC5-93B6-363781A3310B}"/>
          </ac:spMkLst>
        </pc:spChg>
        <pc:spChg chg="add del">
          <ac:chgData name="Matthew Rockwell" userId="be3989a97b66b923" providerId="LiveId" clId="{B89F934C-8C3B-4D2B-ADD7-B5452E27AB91}" dt="2026-02-03T19:51:19.201" v="584" actId="478"/>
          <ac:spMkLst>
            <pc:docMk/>
            <pc:sldMk cId="0" sldId="260"/>
            <ac:spMk id="57" creationId="{D8B0E346-3C07-DD60-EFD4-038875751749}"/>
          </ac:spMkLst>
        </pc:spChg>
        <pc:spChg chg="add mod">
          <ac:chgData name="Matthew Rockwell" userId="be3989a97b66b923" providerId="LiveId" clId="{B89F934C-8C3B-4D2B-ADD7-B5452E27AB91}" dt="2026-02-03T19:55:47.578" v="616" actId="208"/>
          <ac:spMkLst>
            <pc:docMk/>
            <pc:sldMk cId="0" sldId="260"/>
            <ac:spMk id="63" creationId="{022A7E07-DC45-A9B9-6AAE-80499F5910C5}"/>
          </ac:spMkLst>
        </pc:spChg>
        <pc:cxnChg chg="add del mod">
          <ac:chgData name="Matthew Rockwell" userId="be3989a97b66b923" providerId="LiveId" clId="{B89F934C-8C3B-4D2B-ADD7-B5452E27AB91}" dt="2026-02-03T19:51:51.463" v="589" actId="478"/>
          <ac:cxnSpMkLst>
            <pc:docMk/>
            <pc:sldMk cId="0" sldId="260"/>
            <ac:cxnSpMk id="59" creationId="{504503C5-C1C9-EBF9-C43F-5173945C587F}"/>
          </ac:cxnSpMkLst>
        </pc:cxnChg>
      </pc:sldChg>
      <pc:sldChg chg="modSp mod ord modNotesTx">
        <pc:chgData name="Matthew Rockwell" userId="be3989a97b66b923" providerId="LiveId" clId="{B89F934C-8C3B-4D2B-ADD7-B5452E27AB91}" dt="2026-02-03T20:34:53.610" v="1266"/>
        <pc:sldMkLst>
          <pc:docMk/>
          <pc:sldMk cId="0" sldId="261"/>
        </pc:sldMkLst>
        <pc:spChg chg="mod">
          <ac:chgData name="Matthew Rockwell" userId="be3989a97b66b923" providerId="LiveId" clId="{B89F934C-8C3B-4D2B-ADD7-B5452E27AB91}" dt="2026-02-03T20:00:39.379" v="634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0:39.379" v="634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0:39.379" v="63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0:39.379" v="63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0:39.379" v="634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0:39.379" v="63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0:59.326" v="636" actId="20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6:49.273" v="619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6:49.273" v="619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6:49.273" v="619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6:36.031" v="618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6:36.031" v="618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6:36.031" v="618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33.217" v="622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57:19.713" v="620" actId="1076"/>
          <ac:spMkLst>
            <pc:docMk/>
            <pc:sldMk cId="0" sldId="261"/>
            <ac:spMk id="27" creationId="{00000000-0000-0000-0000-000000000000}"/>
          </ac:spMkLst>
        </pc:spChg>
      </pc:sldChg>
      <pc:sldChg chg="modSp mod ord modNotesTx">
        <pc:chgData name="Matthew Rockwell" userId="be3989a97b66b923" providerId="LiveId" clId="{B89F934C-8C3B-4D2B-ADD7-B5452E27AB91}" dt="2026-02-03T20:36:32.610" v="1275"/>
        <pc:sldMkLst>
          <pc:docMk/>
          <pc:sldMk cId="0" sldId="262"/>
        </pc:sldMkLst>
        <pc:spChg chg="mod">
          <ac:chgData name="Matthew Rockwell" userId="be3989a97b66b923" providerId="LiveId" clId="{B89F934C-8C3B-4D2B-ADD7-B5452E27AB91}" dt="2026-02-03T08:53:36.710" v="352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3:03.597" v="348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2:45.608" v="346" actId="242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3:03.597" v="348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2:45.608" v="346" actId="242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3:03.597" v="348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2:45.608" v="346" actId="242"/>
          <ac:spMkLst>
            <pc:docMk/>
            <pc:sldMk cId="0" sldId="262"/>
            <ac:spMk id="2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3:03.597" v="348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4:14.964" v="642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1:43.366" v="142" actId="207"/>
          <ac:spMkLst>
            <pc:docMk/>
            <pc:sldMk cId="0" sldId="262"/>
            <ac:spMk id="3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4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3:06.137" v="1221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32:06.620" v="1219" actId="403"/>
          <ac:spMkLst>
            <pc:docMk/>
            <pc:sldMk cId="0" sldId="262"/>
            <ac:spMk id="43" creationId="{00000000-0000-0000-0000-000000000000}"/>
          </ac:spMkLst>
        </pc:spChg>
      </pc:sldChg>
      <pc:sldChg chg="modSp mod modNotesTx">
        <pc:chgData name="Matthew Rockwell" userId="be3989a97b66b923" providerId="LiveId" clId="{B89F934C-8C3B-4D2B-ADD7-B5452E27AB91}" dt="2026-02-03T20:33:44.404" v="1232" actId="20577"/>
        <pc:sldMkLst>
          <pc:docMk/>
          <pc:sldMk cId="0" sldId="263"/>
        </pc:sldMkLst>
        <pc:spChg chg="mod">
          <ac:chgData name="Matthew Rockwell" userId="be3989a97b66b923" providerId="LiveId" clId="{B89F934C-8C3B-4D2B-ADD7-B5452E27AB91}" dt="2026-02-03T08:33:03.156" v="153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2:58.692" v="152" actId="207"/>
          <ac:spMkLst>
            <pc:docMk/>
            <pc:sldMk cId="0" sldId="263"/>
            <ac:spMk id="6" creationId="{00000000-0000-0000-0000-000000000000}"/>
          </ac:spMkLst>
        </pc:spChg>
        <pc:graphicFrameChg chg="mod modGraphic">
          <ac:chgData name="Matthew Rockwell" userId="be3989a97b66b923" providerId="LiveId" clId="{B89F934C-8C3B-4D2B-ADD7-B5452E27AB91}" dt="2026-02-03T20:05:26.087" v="650" actId="27107"/>
          <ac:graphicFrameMkLst>
            <pc:docMk/>
            <pc:sldMk cId="0" sldId="263"/>
            <ac:graphicFrameMk id="5" creationId="{00000000-0000-0000-0000-000000000000}"/>
          </ac:graphicFrameMkLst>
        </pc:graphicFrameChg>
        <pc:graphicFrameChg chg="modGraphic">
          <ac:chgData name="Matthew Rockwell" userId="be3989a97b66b923" providerId="LiveId" clId="{B89F934C-8C3B-4D2B-ADD7-B5452E27AB91}" dt="2026-02-03T08:53:55.399" v="354" actId="207"/>
          <ac:graphicFrameMkLst>
            <pc:docMk/>
            <pc:sldMk cId="0" sldId="263"/>
            <ac:graphicFrameMk id="7" creationId="{00000000-0000-0000-0000-000000000000}"/>
          </ac:graphicFrameMkLst>
        </pc:graphicFrameChg>
      </pc:sldChg>
      <pc:sldChg chg="addSp delSp modSp mod modNotesTx">
        <pc:chgData name="Matthew Rockwell" userId="be3989a97b66b923" providerId="LiveId" clId="{B89F934C-8C3B-4D2B-ADD7-B5452E27AB91}" dt="2026-02-03T20:34:19.439" v="1257" actId="20577"/>
        <pc:sldMkLst>
          <pc:docMk/>
          <pc:sldMk cId="0" sldId="264"/>
        </pc:sldMkLst>
        <pc:spChg chg="mod">
          <ac:chgData name="Matthew Rockwell" userId="be3989a97b66b923" providerId="LiveId" clId="{B89F934C-8C3B-4D2B-ADD7-B5452E27AB91}" dt="2026-02-03T08:35:52.122" v="173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3:32.811" v="154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6:44.899" v="657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4:19.587" v="15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6:39.075" v="656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3:44.407" v="156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6:30.880" v="655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3:56.344" v="157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5:23.010" v="169" actId="20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3:56.344" v="157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5:23.010" v="169" actId="207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3:56.344" v="157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6:21.109" v="654" actId="107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3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3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3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4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42" creationId="{00000000-0000-0000-0000-000000000000}"/>
          </ac:spMkLst>
        </pc:spChg>
        <pc:spChg chg="del mod">
          <ac:chgData name="Matthew Rockwell" userId="be3989a97b66b923" providerId="LiveId" clId="{B89F934C-8C3B-4D2B-ADD7-B5452E27AB91}" dt="2026-02-03T19:34:18.536" v="412" actId="478"/>
          <ac:spMkLst>
            <pc:docMk/>
            <pc:sldMk cId="0" sldId="264"/>
            <ac:spMk id="4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4:01.159" v="410" actId="1076"/>
          <ac:spMkLst>
            <pc:docMk/>
            <pc:sldMk cId="0" sldId="264"/>
            <ac:spMk id="4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4:54.708" v="165" actId="1076"/>
          <ac:spMkLst>
            <pc:docMk/>
            <pc:sldMk cId="0" sldId="264"/>
            <ac:spMk id="4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6:09.103" v="174" actId="207"/>
          <ac:spMkLst>
            <pc:docMk/>
            <pc:sldMk cId="0" sldId="264"/>
            <ac:spMk id="4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4:48.275" v="164" actId="1076"/>
          <ac:spMkLst>
            <pc:docMk/>
            <pc:sldMk cId="0" sldId="264"/>
            <ac:spMk id="5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6:09.103" v="174" actId="207"/>
          <ac:spMkLst>
            <pc:docMk/>
            <pc:sldMk cId="0" sldId="264"/>
            <ac:spMk id="5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4:35.086" v="161" actId="1076"/>
          <ac:spMkLst>
            <pc:docMk/>
            <pc:sldMk cId="0" sldId="264"/>
            <ac:spMk id="5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1:15.315" v="397" actId="1076"/>
          <ac:spMkLst>
            <pc:docMk/>
            <pc:sldMk cId="0" sldId="264"/>
            <ac:spMk id="5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6:09.103" v="174" actId="207"/>
          <ac:spMkLst>
            <pc:docMk/>
            <pc:sldMk cId="0" sldId="264"/>
            <ac:spMk id="5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4:29.353" v="160" actId="1076"/>
          <ac:spMkLst>
            <pc:docMk/>
            <pc:sldMk cId="0" sldId="264"/>
            <ac:spMk id="5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36:09.103" v="174" actId="207"/>
          <ac:spMkLst>
            <pc:docMk/>
            <pc:sldMk cId="0" sldId="264"/>
            <ac:spMk id="6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9:07.027" v="840" actId="14100"/>
          <ac:spMkLst>
            <pc:docMk/>
            <pc:sldMk cId="0" sldId="264"/>
            <ac:spMk id="6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4:56.194" v="359" actId="1076"/>
          <ac:spMkLst>
            <pc:docMk/>
            <pc:sldMk cId="0" sldId="264"/>
            <ac:spMk id="6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5:33.298" v="369" actId="1076"/>
          <ac:spMkLst>
            <pc:docMk/>
            <pc:sldMk cId="0" sldId="264"/>
            <ac:spMk id="6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5:57.757" v="374" actId="1076"/>
          <ac:spMkLst>
            <pc:docMk/>
            <pc:sldMk cId="0" sldId="264"/>
            <ac:spMk id="6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19:31:38.015" v="398" actId="1076"/>
          <ac:spMkLst>
            <pc:docMk/>
            <pc:sldMk cId="0" sldId="264"/>
            <ac:spMk id="6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09:20.166" v="841" actId="1076"/>
          <ac:spMkLst>
            <pc:docMk/>
            <pc:sldMk cId="0" sldId="264"/>
            <ac:spMk id="67" creationId="{00000000-0000-0000-0000-000000000000}"/>
          </ac:spMkLst>
        </pc:spChg>
        <pc:spChg chg="add del mod">
          <ac:chgData name="Matthew Rockwell" userId="be3989a97b66b923" providerId="LiveId" clId="{B89F934C-8C3B-4D2B-ADD7-B5452E27AB91}" dt="2026-02-03T19:34:12.998" v="411" actId="478"/>
          <ac:spMkLst>
            <pc:docMk/>
            <pc:sldMk cId="0" sldId="264"/>
            <ac:spMk id="69" creationId="{66809538-DD93-03C7-3FC7-6577EF7E4956}"/>
          </ac:spMkLst>
        </pc:spChg>
        <pc:spChg chg="add mod">
          <ac:chgData name="Matthew Rockwell" userId="be3989a97b66b923" providerId="LiveId" clId="{B89F934C-8C3B-4D2B-ADD7-B5452E27AB91}" dt="2026-02-03T19:33:58.258" v="409" actId="1076"/>
          <ac:spMkLst>
            <pc:docMk/>
            <pc:sldMk cId="0" sldId="264"/>
            <ac:spMk id="70" creationId="{69DD6251-175D-2795-A40E-3C118E124D93}"/>
          </ac:spMkLst>
        </pc:spChg>
        <pc:spChg chg="add mod">
          <ac:chgData name="Matthew Rockwell" userId="be3989a97b66b923" providerId="LiveId" clId="{B89F934C-8C3B-4D2B-ADD7-B5452E27AB91}" dt="2026-02-03T20:09:29.526" v="842" actId="14100"/>
          <ac:spMkLst>
            <pc:docMk/>
            <pc:sldMk cId="0" sldId="264"/>
            <ac:spMk id="71" creationId="{839FB0E2-DAB6-083A-AA0D-EC231084F07E}"/>
          </ac:spMkLst>
        </pc:spChg>
        <pc:spChg chg="add mod">
          <ac:chgData name="Matthew Rockwell" userId="be3989a97b66b923" providerId="LiveId" clId="{B89F934C-8C3B-4D2B-ADD7-B5452E27AB91}" dt="2026-02-03T20:08:41.323" v="835" actId="207"/>
          <ac:spMkLst>
            <pc:docMk/>
            <pc:sldMk cId="0" sldId="264"/>
            <ac:spMk id="72" creationId="{3EA87A69-23E3-BE74-EC31-F3F821846D1A}"/>
          </ac:spMkLst>
        </pc:spChg>
      </pc:sldChg>
      <pc:sldChg chg="delSp modSp mod modNotesTx">
        <pc:chgData name="Matthew Rockwell" userId="be3989a97b66b923" providerId="LiveId" clId="{B89F934C-8C3B-4D2B-ADD7-B5452E27AB91}" dt="2026-02-03T20:34:31.824" v="1264" actId="20577"/>
        <pc:sldMkLst>
          <pc:docMk/>
          <pc:sldMk cId="0" sldId="265"/>
        </pc:sldMkLst>
        <pc:spChg chg="mod">
          <ac:chgData name="Matthew Rockwell" userId="be3989a97b66b923" providerId="LiveId" clId="{B89F934C-8C3B-4D2B-ADD7-B5452E27AB91}" dt="2026-02-03T20:21:44.953" v="969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6:34.178" v="1088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07.691" v="383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44.546" v="387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07.691" v="383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39.268" v="386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07.691" v="383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26.978" v="384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07.691" v="383" actId="1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58:30.568" v="385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2:20.218" v="986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3:11.455" v="255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3:11.455" v="255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3:11.455" v="255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2:47.957" v="1001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3:20.946" v="256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3:20.946" v="256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3:20.946" v="256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3:01.248" v="1016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2:45.889" v="253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2:45.889" v="253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2:45.889" v="253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3:43.501" v="1035" actId="20577"/>
          <ac:spMkLst>
            <pc:docMk/>
            <pc:sldMk cId="0" sldId="265"/>
            <ac:spMk id="2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2:19.888" v="252" actId="20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3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1:15.057" v="848" actId="207"/>
          <ac:spMkLst>
            <pc:docMk/>
            <pc:sldMk cId="0" sldId="265"/>
            <ac:spMk id="3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3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3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4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0:28.640" v="843" actId="1076"/>
          <ac:spMkLst>
            <pc:docMk/>
            <pc:sldMk cId="0" sldId="265"/>
            <ac:spMk id="4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4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0:28.640" v="843" actId="1076"/>
          <ac:spMkLst>
            <pc:docMk/>
            <pc:sldMk cId="0" sldId="265"/>
            <ac:spMk id="4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57.921" v="1042" actId="1076"/>
          <ac:spMkLst>
            <pc:docMk/>
            <pc:sldMk cId="0" sldId="265"/>
            <ac:spMk id="45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43.398" v="1041" actId="14100"/>
          <ac:spMkLst>
            <pc:docMk/>
            <pc:sldMk cId="0" sldId="265"/>
            <ac:spMk id="4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21.174" v="1036" actId="1076"/>
          <ac:spMkLst>
            <pc:docMk/>
            <pc:sldMk cId="0" sldId="265"/>
            <ac:spMk id="4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0:51.797" v="245" actId="1076"/>
          <ac:spMkLst>
            <pc:docMk/>
            <pc:sldMk cId="0" sldId="265"/>
            <ac:spMk id="48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0:51.797" v="245" actId="1076"/>
          <ac:spMkLst>
            <pc:docMk/>
            <pc:sldMk cId="0" sldId="265"/>
            <ac:spMk id="49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0:51.797" v="245" actId="1076"/>
          <ac:spMkLst>
            <pc:docMk/>
            <pc:sldMk cId="0" sldId="265"/>
            <ac:spMk id="50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0:51.797" v="245" actId="1076"/>
          <ac:spMkLst>
            <pc:docMk/>
            <pc:sldMk cId="0" sldId="265"/>
            <ac:spMk id="51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0:51.797" v="245" actId="1076"/>
          <ac:spMkLst>
            <pc:docMk/>
            <pc:sldMk cId="0" sldId="265"/>
            <ac:spMk id="52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0:51.797" v="245" actId="1076"/>
          <ac:spMkLst>
            <pc:docMk/>
            <pc:sldMk cId="0" sldId="265"/>
            <ac:spMk id="53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0:51.797" v="245" actId="1076"/>
          <ac:spMkLst>
            <pc:docMk/>
            <pc:sldMk cId="0" sldId="265"/>
            <ac:spMk id="54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08:43:50.157" v="268" actId="20577"/>
          <ac:spMkLst>
            <pc:docMk/>
            <pc:sldMk cId="0" sldId="265"/>
            <ac:spMk id="55" creationId="{00000000-0000-0000-0000-000000000000}"/>
          </ac:spMkLst>
        </pc:spChg>
        <pc:spChg chg="del mod">
          <ac:chgData name="Matthew Rockwell" userId="be3989a97b66b923" providerId="LiveId" clId="{B89F934C-8C3B-4D2B-ADD7-B5452E27AB91}" dt="2026-02-03T08:39:57.699" v="239" actId="478"/>
          <ac:spMkLst>
            <pc:docMk/>
            <pc:sldMk cId="0" sldId="265"/>
            <ac:spMk id="56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10:38.953" v="845" actId="1076"/>
          <ac:spMkLst>
            <pc:docMk/>
            <pc:sldMk cId="0" sldId="265"/>
            <ac:spMk id="57" creationId="{00000000-0000-0000-0000-000000000000}"/>
          </ac:spMkLst>
        </pc:spChg>
        <pc:spChg chg="mod">
          <ac:chgData name="Matthew Rockwell" userId="be3989a97b66b923" providerId="LiveId" clId="{B89F934C-8C3B-4D2B-ADD7-B5452E27AB91}" dt="2026-02-03T20:24:23.833" v="1037" actId="1076"/>
          <ac:spMkLst>
            <pc:docMk/>
            <pc:sldMk cId="0" sldId="265"/>
            <ac:spMk id="58" creationId="{00000000-0000-0000-0000-000000000000}"/>
          </ac:spMkLst>
        </pc:spChg>
      </pc:sldChg>
      <pc:sldChg chg="new modNotesTx">
        <pc:chgData name="Matthew Rockwell" userId="be3989a97b66b923" providerId="LiveId" clId="{B89F934C-8C3B-4D2B-ADD7-B5452E27AB91}" dt="2026-02-03T20:38:10.593" v="1339" actId="20577"/>
        <pc:sldMkLst>
          <pc:docMk/>
          <pc:sldMk cId="1369964729" sldId="266"/>
        </pc:sldMkLst>
      </pc:sldChg>
      <pc:sldChg chg="new modNotesTx">
        <pc:chgData name="Matthew Rockwell" userId="be3989a97b66b923" providerId="LiveId" clId="{B89F934C-8C3B-4D2B-ADD7-B5452E27AB91}" dt="2026-02-03T20:39:25.039" v="1422" actId="20577"/>
        <pc:sldMkLst>
          <pc:docMk/>
          <pc:sldMk cId="103691717" sldId="267"/>
        </pc:sldMkLst>
      </pc:sldChg>
      <pc:sldChg chg="new modNotesTx">
        <pc:chgData name="Matthew Rockwell" userId="be3989a97b66b923" providerId="LiveId" clId="{B89F934C-8C3B-4D2B-ADD7-B5452E27AB91}" dt="2026-02-03T20:40:29.306" v="1526" actId="20577"/>
        <pc:sldMkLst>
          <pc:docMk/>
          <pc:sldMk cId="1460704355" sldId="268"/>
        </pc:sldMkLst>
      </pc:sldChg>
      <pc:sldChg chg="new modNotesTx">
        <pc:chgData name="Matthew Rockwell" userId="be3989a97b66b923" providerId="LiveId" clId="{B89F934C-8C3B-4D2B-ADD7-B5452E27AB91}" dt="2026-02-03T20:41:22.285" v="1628" actId="20577"/>
        <pc:sldMkLst>
          <pc:docMk/>
          <pc:sldMk cId="1559956752" sldId="269"/>
        </pc:sldMkLst>
      </pc:sldChg>
      <pc:sldChg chg="new modNotesTx">
        <pc:chgData name="Matthew Rockwell" userId="be3989a97b66b923" providerId="LiveId" clId="{B89F934C-8C3B-4D2B-ADD7-B5452E27AB91}" dt="2026-02-03T20:41:54.757" v="1634" actId="20577"/>
        <pc:sldMkLst>
          <pc:docMk/>
          <pc:sldMk cId="3858414289" sldId="270"/>
        </pc:sldMkLst>
      </pc:sldChg>
      <pc:sldChg chg="addSp modSp new mod modNotesTx">
        <pc:chgData name="Matthew Rockwell" userId="be3989a97b66b923" providerId="LiveId" clId="{B89F934C-8C3B-4D2B-ADD7-B5452E27AB91}" dt="2026-02-03T20:42:47.398" v="1669" actId="1076"/>
        <pc:sldMkLst>
          <pc:docMk/>
          <pc:sldMk cId="398000268" sldId="271"/>
        </pc:sldMkLst>
        <pc:spChg chg="add mod">
          <ac:chgData name="Matthew Rockwell" userId="be3989a97b66b923" providerId="LiveId" clId="{B89F934C-8C3B-4D2B-ADD7-B5452E27AB91}" dt="2026-02-03T20:42:47.398" v="1669" actId="1076"/>
          <ac:spMkLst>
            <pc:docMk/>
            <pc:sldMk cId="398000268" sldId="271"/>
            <ac:spMk id="2" creationId="{FC159BB2-F34F-47FA-5728-F93DF1C297F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6EB17-4F0B-4A55-9BAD-374C917578F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671F2-E488-4C08-84D7-2A0DC4C16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05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Introduction/Title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75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6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– How Product Solves Problem (Ideally with narrative) [Placeholder]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53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Opportunity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47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Product/Technology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89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Product/Technology – Visuals, Screenshots, Demos [Placeholder]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89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31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Traction/Milestones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69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01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Marketing/Growth 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02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– Highlights key team members’ experience and why they are best suited to execute [Placeholder]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27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Projections: 3-5 year summary of revenue, expenses and profitability [Placeholder]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06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67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671F2-E488-4C08-84D7-2A0DC4C16F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1773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F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848" y="321385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2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89B4FA"/>
                </a:solidFill>
                <a:latin typeface="Segoe UI"/>
              </a:rPr>
              <a:t>ATOMiK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848" y="131445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dirty="0">
                <a:solidFill>
                  <a:srgbClr val="CBA6F7"/>
                </a:solidFill>
                <a:latin typeface="Segoe UI"/>
              </a:rPr>
              <a:t>Delta-State Computing in Silicon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848" y="2310877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A6E3A1"/>
                </a:solidFill>
                <a:latin typeface="Segoe UI"/>
              </a:rPr>
              <a:t>1 </a:t>
            </a:r>
            <a:r>
              <a:rPr sz="2200" b="1" u="sng" dirty="0">
                <a:solidFill>
                  <a:srgbClr val="A6E3A1"/>
                </a:solidFill>
                <a:latin typeface="Segoe UI"/>
              </a:rPr>
              <a:t>Billion</a:t>
            </a:r>
            <a:r>
              <a:rPr sz="2200" b="1" dirty="0">
                <a:solidFill>
                  <a:srgbClr val="A6E3A1"/>
                </a:solidFill>
                <a:latin typeface="Segoe UI"/>
              </a:rPr>
              <a:t> Operations/Second on a $13.50 Chip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848" y="2768077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1"/>
                </a:solidFill>
                <a:latin typeface="Segoe UI"/>
              </a:rPr>
              <a:t>Mathematically proven  •  Hardware validated  •  </a:t>
            </a:r>
            <a:r>
              <a:rPr lang="en-US" sz="1600" b="0" dirty="0">
                <a:solidFill>
                  <a:schemeClr val="bg1"/>
                </a:solidFill>
                <a:latin typeface="Segoe UI"/>
              </a:rPr>
              <a:t>Provisional </a:t>
            </a:r>
            <a:r>
              <a:rPr sz="1600" b="0" dirty="0">
                <a:solidFill>
                  <a:schemeClr val="bg1"/>
                </a:solidFill>
                <a:latin typeface="Segoe UI"/>
              </a:rPr>
              <a:t>Patent 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3787" y="4231117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6667" y="4260696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A6E3A1"/>
                </a:solidFill>
                <a:latin typeface="Segoe UI"/>
              </a:rPr>
              <a:t>1,056 Mops/s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6667" y="5377815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Peak Throughput (16 banks</a:t>
            </a:r>
            <a:r>
              <a:rPr lang="en-US" sz="1100" b="0" dirty="0">
                <a:solidFill>
                  <a:schemeClr val="bg1"/>
                </a:solidFill>
                <a:latin typeface="Segoe UI"/>
              </a:rPr>
              <a:t> – limited by hardware</a:t>
            </a:r>
            <a:r>
              <a:rPr sz="1100" b="0" dirty="0">
                <a:solidFill>
                  <a:schemeClr val="bg1"/>
                </a:solidFill>
                <a:latin typeface="Segoe UI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49827" y="4231117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56911" y="4286245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89B4FA"/>
                </a:solidFill>
                <a:latin typeface="Segoe UI"/>
              </a:rPr>
              <a:t>10.6 ns</a:t>
            </a:r>
            <a:r>
              <a:rPr lang="en-US" sz="2800" b="1" dirty="0">
                <a:solidFill>
                  <a:srgbClr val="89B4FA"/>
                </a:solidFill>
                <a:latin typeface="Segoe UI"/>
              </a:rPr>
              <a:t> latency</a:t>
            </a:r>
            <a:endParaRPr sz="2800" b="1" dirty="0">
              <a:solidFill>
                <a:srgbClr val="89B4FA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2707" y="5400675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chemeClr val="bg1"/>
                </a:solidFill>
                <a:latin typeface="Segoe UI"/>
              </a:rPr>
              <a:t>Deterministic </a:t>
            </a:r>
            <a:r>
              <a:rPr sz="1100" b="0" dirty="0">
                <a:solidFill>
                  <a:schemeClr val="bg1"/>
                </a:solidFill>
                <a:latin typeface="Segoe UI"/>
              </a:rPr>
              <a:t>Single-Op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4231117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8747" y="4286245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CBA6F7"/>
                </a:solidFill>
                <a:latin typeface="Segoe UI"/>
              </a:rPr>
              <a:t>92 Proofs</a:t>
            </a:r>
            <a:r>
              <a:rPr lang="en-US" sz="2800" b="1" dirty="0">
                <a:solidFill>
                  <a:srgbClr val="CBA6F7"/>
                </a:solidFill>
                <a:latin typeface="Segoe UI"/>
              </a:rPr>
              <a:t> confirmed</a:t>
            </a:r>
            <a:endParaRPr sz="2800" b="1" dirty="0">
              <a:solidFill>
                <a:srgbClr val="CBA6F7"/>
              </a:solidFill>
              <a:latin typeface="Segoe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38747" y="5377815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chemeClr val="bg1"/>
                </a:solidFill>
                <a:latin typeface="Segoe UI"/>
              </a:rPr>
              <a:t>Delta-Algebra proofs, </a:t>
            </a:r>
            <a:r>
              <a:rPr sz="1100" b="0" dirty="0">
                <a:solidFill>
                  <a:schemeClr val="bg1"/>
                </a:solidFill>
                <a:latin typeface="Segoe UI"/>
              </a:rPr>
              <a:t>Lean4 Verified</a:t>
            </a:r>
            <a:r>
              <a:rPr lang="en-US" sz="1100" b="0" dirty="0">
                <a:solidFill>
                  <a:schemeClr val="bg1"/>
                </a:solidFill>
                <a:latin typeface="Segoe UI"/>
              </a:rPr>
              <a:t> -</a:t>
            </a:r>
            <a:r>
              <a:rPr sz="1100" b="0" dirty="0">
                <a:solidFill>
                  <a:schemeClr val="bg1"/>
                </a:solidFill>
                <a:latin typeface="Segoe UI"/>
              </a:rPr>
              <a:t> 0 Sorry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1907" y="4231117"/>
            <a:ext cx="2286000" cy="10058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44787" y="4299697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9E2AF"/>
                </a:solidFill>
                <a:latin typeface="Segoe UI"/>
              </a:rPr>
              <a:t>$13.50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4787" y="5400675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chemeClr val="bg1"/>
                </a:solidFill>
                <a:latin typeface="Segoe UI"/>
              </a:rPr>
              <a:t>Sipeed </a:t>
            </a:r>
            <a:r>
              <a:rPr sz="1100" b="0" dirty="0">
                <a:solidFill>
                  <a:schemeClr val="bg1"/>
                </a:solidFill>
                <a:latin typeface="Segoe UI"/>
              </a:rPr>
              <a:t>Tang Nano 9K FPGA</a:t>
            </a:r>
            <a:r>
              <a:rPr lang="en-US" sz="1100" b="0" dirty="0">
                <a:solidFill>
                  <a:schemeClr val="bg1"/>
                </a:solidFill>
                <a:latin typeface="Segoe UI"/>
              </a:rPr>
              <a:t> – GW1NR-9</a:t>
            </a:r>
            <a:endParaRPr sz="1100" b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49118" y="66294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Confidential — For Investor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1/15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1A8A962-12C9-7356-E89F-372FA290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03055" y="1887294"/>
            <a:ext cx="2606040" cy="70072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A1005D-65CF-A8ED-DAC8-03221AC79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9453" y="6858000"/>
            <a:ext cx="13326035" cy="36544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E4E9B9-DBD8-F328-E3E6-E37776204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8710" y="-120349"/>
            <a:ext cx="2606040" cy="70072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DD58A02-0623-905F-DF05-119B9F8FF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-3654458"/>
            <a:ext cx="13326035" cy="3654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The Memory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695" y="885475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1"/>
                </a:solidFill>
                <a:latin typeface="Segoe UI"/>
              </a:rPr>
              <a:t>60–90% of system energy is spent moving data, not computing on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7164" y="1813559"/>
            <a:ext cx="5506569" cy="64008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37722" y="1984187"/>
            <a:ext cx="367104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131A"/>
                </a:solidFill>
                <a:latin typeface="Segoe UI"/>
              </a:rPr>
              <a:t>DATA MOVEMENT  60–90%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733" y="1813559"/>
            <a:ext cx="611841" cy="64008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353733" y="1920239"/>
            <a:ext cx="611841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4248" y="2545079"/>
            <a:ext cx="6468036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A6E3A1"/>
                </a:solidFill>
                <a:latin typeface="Segoe UI"/>
              </a:rPr>
              <a:t>Compute (10–40%)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165" y="2545079"/>
            <a:ext cx="3671046" cy="274320"/>
          </a:xfrm>
          <a:prstGeom prst="rect">
            <a:avLst/>
          </a:prstGeom>
          <a:noFill/>
        </p:spPr>
        <p:txBody>
          <a:bodyPr wrap="square" lIns="0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38BA8"/>
                </a:solidFill>
                <a:latin typeface="Segoe UI"/>
              </a:rPr>
              <a:t>Data movement (60–90%)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165" y="3302449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0045" y="346985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38BA8"/>
                </a:solidFill>
                <a:latin typeface="Segoe UI"/>
              </a:rPr>
              <a:t>1,000×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045" y="4000202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Energy: off-chip access
vs floating-point 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445" y="3302449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3325" y="3451623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A6E3A1"/>
                </a:solidFill>
                <a:latin typeface="Segoe UI"/>
              </a:rPr>
              <a:t>30,740×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3325" y="3981975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Memory traffic reduction
(ATOMiK vs traditional, 64×64 matrix)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3725" y="3302449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6605" y="3456404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F9E2AF"/>
                </a:solidFill>
                <a:latin typeface="Segoe UI"/>
              </a:rPr>
              <a:t>+130%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6605" y="3986756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HBM demand growth
YoY in 2025 (TrendForce)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5058125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chemeClr val="bg1"/>
                </a:solidFill>
                <a:latin typeface="Segoe UI"/>
              </a:rPr>
              <a:t>Root cause: the full-state computation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" y="5515325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chemeClr val="bg1"/>
                </a:solidFill>
                <a:latin typeface="Segoe UI"/>
              </a:rPr>
              <a:t>Changing 1 bit in a 64-byte cache line moves 512 bits. A 64×64 matrix update moves 32 KB per operation. ATOMiK’s delta approach moves 8 bytes — the delta itself.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583680"/>
            <a:ext cx="7315200" cy="27432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7F849C"/>
                </a:solidFill>
                <a:latin typeface="Segoe UI"/>
              </a:rPr>
              <a:t>Sources: DARPA/JASON, Intel ISSCC, TrendForce, McKinsey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9B4FA"/>
                </a:solidFill>
                <a:latin typeface="Segoe UI"/>
              </a:rPr>
              <a:t>Beyond the Memory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5475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  <a:latin typeface="Segoe UI"/>
              </a:rPr>
              <a:t>Three compounding problems that delta-state algebra solves simultaneously.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0000"/>
            <a:ext cx="3400000" cy="3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1520" y="165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38BA8"/>
                </a:solidFill>
                <a:latin typeface="Segoe UI"/>
              </a:rPr>
              <a:t>Lock Contention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1520" y="205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Traditional mutable state requires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locks for concurrent access.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Locks serialize execution,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destroying parallelism.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1520" y="3300000"/>
            <a:ext cx="2800000" cy="2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1520" y="340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E3A1"/>
                </a:solidFill>
                <a:latin typeface="Segoe UI"/>
              </a:rPr>
              <a:t>ATOMiK Answer: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1520" y="365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9B4FA"/>
                </a:solidFill>
                <a:latin typeface="Segoe UI"/>
              </a:rPr>
              <a:t>XOR commutativity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520" y="395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6E3A1"/>
                </a:solidFill>
                <a:latin typeface="Segoe UI"/>
              </a:rPr>
              <a:t>δ₁ ⊕ δ₂ = δ₂ ⊕ δ₁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520" y="435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7F849C"/>
                </a:solidFill>
                <a:latin typeface="Segoe UI"/>
              </a:rPr>
              <a:t>Order is irrelevant.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7F849C"/>
                </a:solidFill>
                <a:latin typeface="Segoe UI"/>
              </a:rPr>
              <a:t>No locks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1520" y="1500000"/>
            <a:ext cx="3400000" cy="3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520" y="165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9E2AF"/>
                </a:solidFill>
                <a:latin typeface="Segoe UI"/>
              </a:rPr>
              <a:t>No Native Undo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0" y="205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Checkpoint/rollback journals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add latency, complexity, and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storage overhead. Financial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systems spend millions.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1520" y="3300000"/>
            <a:ext cx="2800000" cy="2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520" y="340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E3A1"/>
                </a:solidFill>
                <a:latin typeface="Segoe UI"/>
              </a:rPr>
              <a:t>ATOMiK 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0" y="365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9B4FA"/>
                </a:solidFill>
                <a:latin typeface="Segoe UI"/>
              </a:rPr>
              <a:t>Self-inverse property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0" y="395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6E3A1"/>
                </a:solidFill>
                <a:latin typeface="Segoe UI"/>
              </a:rPr>
              <a:t>δ ⊕ δ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0" y="435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7F849C"/>
                </a:solidFill>
                <a:latin typeface="Segoe UI"/>
              </a:rPr>
              <a:t>Every operation is its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7F849C"/>
                </a:solidFill>
                <a:latin typeface="Segoe UI"/>
              </a:rPr>
              <a:t>own undo. Zero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1520" y="1500000"/>
            <a:ext cx="3400000" cy="3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1520" y="165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AB387"/>
                </a:solidFill>
                <a:latin typeface="Segoe UI"/>
              </a:rPr>
              <a:t>Scaling Wall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1520" y="2050000"/>
            <a:ext cx="3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Adding cores yields diminishing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returns from shared-state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synchronization overhead.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DD6F4"/>
                </a:solidFill>
                <a:latin typeface="Segoe UI"/>
              </a:rPr>
              <a:t>Amdahl's Law limits speedup.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1520" y="3300000"/>
            <a:ext cx="2800000" cy="2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1520" y="340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E3A1"/>
                </a:solidFill>
                <a:latin typeface="Segoe UI"/>
              </a:rPr>
              <a:t>ATOMiK Answer: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1520" y="365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9B4FA"/>
                </a:solidFill>
                <a:latin typeface="Segoe UI"/>
              </a:rPr>
              <a:t>Linear scaling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1520" y="395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6E3A1"/>
                </a:solidFill>
                <a:latin typeface="Segoe UI"/>
              </a:rPr>
              <a:t>N banks = N× throughput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1520" y="435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7F849C"/>
                </a:solidFill>
                <a:latin typeface="Segoe UI"/>
              </a:rPr>
              <a:t>Perfect 16× at N=16.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7F849C"/>
                </a:solidFill>
                <a:latin typeface="Segoe UI"/>
              </a:rPr>
              <a:t>Parallel efficiency: 0.85.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F849C"/>
                </a:solidFill>
                <a:latin typeface="Segoe UI"/>
              </a:rPr>
              <a:t>All three properties proven in Lean4 (92 theorems, 0 sorry statements). Hardware-validated on Tang Nano 9K.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9224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849C"/>
                </a:solidFill>
                <a:latin typeface="Segoe UI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10369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Why Now: Four Converging Forces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96012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81013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81013"/>
            <a:ext cx="2468880" cy="508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45920" y="1741842"/>
            <a:ext cx="640080" cy="640080"/>
          </a:xfrm>
          <a:prstGeom prst="ellipse">
            <a:avLst/>
          </a:prstGeom>
          <a:solidFill>
            <a:srgbClr val="51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73168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F38BA8"/>
                </a:solidFill>
                <a:latin typeface="Segoe U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908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8BA8"/>
                </a:solidFill>
                <a:latin typeface="Segoe UI"/>
              </a:rPr>
              <a:t>AI Inference
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64093"/>
            <a:ext cx="2194560" cy="1645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90% of AI compute is inference
(McKinsey). Inference is
memory-bandwidth-bound.
$300B+ hyperscaler AI capex.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81013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381013"/>
            <a:ext cx="2468880" cy="508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43400" y="1741842"/>
            <a:ext cx="640080" cy="640080"/>
          </a:xfrm>
          <a:prstGeom prst="ellipse">
            <a:avLst/>
          </a:prstGeom>
          <a:solidFill>
            <a:srgbClr val="43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73168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BA6F7"/>
                </a:solidFill>
                <a:latin typeface="Segoe UI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1908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BA6F7"/>
                </a:solidFill>
                <a:latin typeface="Segoe UI"/>
              </a:rPr>
              <a:t>Post-Moore
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64093"/>
            <a:ext cx="2194560" cy="1645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Below 3nm: diminishing returns.
Architectural innovation is
the new scaling vector.
XOR eliminates carry chains.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81013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381013"/>
            <a:ext cx="2468880" cy="5080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40880" y="1741842"/>
            <a:ext cx="640080" cy="640080"/>
          </a:xfrm>
          <a:prstGeom prst="ellipse">
            <a:avLst/>
          </a:prstGeom>
          <a:solidFill>
            <a:srgbClr val="314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173168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94E2D5"/>
                </a:solidFill>
                <a:latin typeface="Segoe UI"/>
              </a:rPr>
              <a:t>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908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4E2D5"/>
                </a:solidFill>
                <a:latin typeface="Segoe UI"/>
              </a:rPr>
              <a:t>Edge
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64093"/>
            <a:ext cx="2194560" cy="1645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Edge market: $61B → $232B
by 2030 (MarketsandMarkets).
Devices need single-watt budgets.
ATOMiK: ~20 mW.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381013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381013"/>
            <a:ext cx="2468880" cy="508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738360" y="1741842"/>
            <a:ext cx="640080" cy="640080"/>
          </a:xfrm>
          <a:prstGeom prst="ellipse">
            <a:avLst/>
          </a:prstGeom>
          <a:solidFill>
            <a:srgbClr val="53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1731682"/>
            <a:ext cx="640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9E2AF"/>
                </a:solidFill>
                <a:latin typeface="Segoe UI"/>
              </a:rP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51908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9E2AF"/>
                </a:solidFill>
                <a:latin typeface="Segoe UI"/>
              </a:rPr>
              <a:t>HBM Cost
Spiral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64093"/>
            <a:ext cx="2194560" cy="1645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Demand +130% YoY (TrendForce).
Prices +35%.
95–100% traffic reduction
cuts HBM requirements.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30053"/>
            <a:ext cx="10515600" cy="109728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311738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6E3A1"/>
                </a:solidFill>
                <a:latin typeface="Segoe UI"/>
              </a:rPr>
              <a:t>VC Climate: $280B deployed into US/Canadian startups in 2025 (+46% YoY)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723218"/>
            <a:ext cx="9966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AI seed median pre-money: $17.9M (42% premium over non-AI)  •  AI Series A median: &gt;$50M  •  Compute-focused seeds regularly &gt;$100M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Market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96012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7133" y="1678184"/>
            <a:ext cx="4206240" cy="4206240"/>
          </a:xfrm>
          <a:prstGeom prst="ellipse">
            <a:avLst/>
          </a:prstGeom>
          <a:solidFill>
            <a:srgbClr val="1E283E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24803" y="1781054"/>
            <a:ext cx="113089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89B4FA"/>
                </a:solidFill>
                <a:latin typeface="Segoe UI"/>
              </a:rPr>
              <a:t>TAM </a:t>
            </a:r>
            <a:r>
              <a:rPr sz="1400" b="1" dirty="0">
                <a:solidFill>
                  <a:schemeClr val="bg1"/>
                </a:solidFill>
                <a:latin typeface="Segoe UI"/>
              </a:rPr>
              <a:t>~$85B</a:t>
            </a:r>
          </a:p>
        </p:txBody>
      </p:sp>
      <p:sp>
        <p:nvSpPr>
          <p:cNvPr id="6" name="Oval 5"/>
          <p:cNvSpPr/>
          <p:nvPr/>
        </p:nvSpPr>
        <p:spPr>
          <a:xfrm>
            <a:off x="1618653" y="2409704"/>
            <a:ext cx="2743200" cy="2743200"/>
          </a:xfrm>
          <a:prstGeom prst="ellipse">
            <a:avLst/>
          </a:prstGeom>
          <a:solidFill>
            <a:srgbClr val="1E2E28"/>
          </a:solidFill>
          <a:ln w="2540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21622" y="2558294"/>
            <a:ext cx="9372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94E2D5"/>
                </a:solidFill>
                <a:latin typeface="Segoe UI"/>
              </a:rPr>
              <a:t>SAM </a:t>
            </a:r>
            <a:r>
              <a:rPr sz="1300" b="1" dirty="0">
                <a:solidFill>
                  <a:schemeClr val="bg1"/>
                </a:solidFill>
                <a:latin typeface="Segoe UI"/>
              </a:rPr>
              <a:t>~$8B</a:t>
            </a:r>
          </a:p>
        </p:txBody>
      </p:sp>
      <p:sp>
        <p:nvSpPr>
          <p:cNvPr id="8" name="Oval 7"/>
          <p:cNvSpPr/>
          <p:nvPr/>
        </p:nvSpPr>
        <p:spPr>
          <a:xfrm>
            <a:off x="2395893" y="3141224"/>
            <a:ext cx="1188720" cy="1188720"/>
          </a:xfrm>
          <a:prstGeom prst="ellipse">
            <a:avLst/>
          </a:prstGeom>
          <a:solidFill>
            <a:srgbClr val="2A3A1E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1517" y="3484124"/>
            <a:ext cx="1277471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A6E3A1"/>
                </a:solidFill>
                <a:latin typeface="Segoe UI"/>
              </a:rPr>
              <a:t>SOM</a:t>
            </a:r>
          </a:p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chemeClr val="bg1"/>
                </a:solidFill>
                <a:latin typeface="Segoe UI"/>
              </a:rPr>
              <a:t>~$80M (Yr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10029"/>
            <a:ext cx="4754880" cy="534117"/>
          </a:xfrm>
          <a:prstGeom prst="rect">
            <a:avLst/>
          </a:prstGeom>
          <a:noFill/>
        </p:spPr>
        <p:txBody>
          <a:bodyPr wrap="square" anchor="b"/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FPGA: $10–14B  •  Edge: $61B  •  AI HW Accel: $10.2B</a:t>
            </a:r>
          </a:p>
          <a:p>
            <a:pPr algn="l">
              <a:lnSpc>
                <a:spcPts val="1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7F849C"/>
                </a:solidFill>
                <a:latin typeface="Segoe UI"/>
              </a:rPr>
              <a:t>Sources: MarketsandMarkets, Mordor Intelligence, GlobeNewsWire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1230390"/>
            <a:ext cx="4923266" cy="1417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0" y="1230390"/>
            <a:ext cx="50800" cy="141732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8880" y="1303542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38BA8"/>
                </a:solidFill>
                <a:latin typeface="Segoe UI"/>
              </a:rPr>
              <a:t>High-Frequency</a:t>
            </a:r>
            <a:r>
              <a:rPr lang="en-US" sz="1400" b="1" dirty="0">
                <a:solidFill>
                  <a:srgbClr val="F38BA8"/>
                </a:solidFill>
                <a:latin typeface="Segoe UI"/>
              </a:rPr>
              <a:t> </a:t>
            </a:r>
            <a:r>
              <a:rPr sz="1400" b="1" dirty="0">
                <a:solidFill>
                  <a:srgbClr val="F38BA8"/>
                </a:solidFill>
                <a:latin typeface="Segoe UI"/>
              </a:rPr>
              <a:t>Trading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80" y="1733310"/>
            <a:ext cx="2834640" cy="822960"/>
          </a:xfrm>
          <a:prstGeom prst="rect">
            <a:avLst/>
          </a:prstGeom>
          <a:noFill/>
        </p:spPr>
        <p:txBody>
          <a:bodyPr wrap="square"/>
          <a:lstStyle/>
          <a:p>
            <a:pPr marL="171450" indent="-17145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10.6 ns tick processing
Instant trade reversal
Lock-free parallel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1966" y="1300046"/>
            <a:ext cx="12573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F38BA8"/>
                </a:solidFill>
                <a:latin typeface="Segoe UI"/>
              </a:rPr>
              <a:t>$12B market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3072644"/>
            <a:ext cx="4923266" cy="1417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0" y="3072644"/>
            <a:ext cx="50800" cy="141732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8880" y="3145796"/>
            <a:ext cx="2713616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94E2D5"/>
                </a:solidFill>
                <a:latin typeface="Segoe UI"/>
              </a:rPr>
              <a:t>Edge Sensor</a:t>
            </a:r>
            <a:r>
              <a:rPr lang="en-US" sz="1400" b="1" dirty="0">
                <a:solidFill>
                  <a:srgbClr val="94E2D5"/>
                </a:solidFill>
                <a:latin typeface="Segoe UI"/>
              </a:rPr>
              <a:t> </a:t>
            </a:r>
            <a:r>
              <a:rPr sz="1400" b="1" dirty="0">
                <a:solidFill>
                  <a:srgbClr val="94E2D5"/>
                </a:solidFill>
                <a:latin typeface="Segoe UI"/>
              </a:rPr>
              <a:t>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3575564"/>
            <a:ext cx="2834640" cy="822960"/>
          </a:xfrm>
          <a:prstGeom prst="rect">
            <a:avLst/>
          </a:prstGeom>
          <a:noFill/>
        </p:spPr>
        <p:txBody>
          <a:bodyPr wrap="square"/>
          <a:lstStyle/>
          <a:p>
            <a:pPr marL="171450" indent="-17145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~20 mW power budget
Lock-free multi-stream merge
Linear scaling with sensors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1966" y="3142300"/>
            <a:ext cx="12573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E2D5"/>
                </a:solidFill>
                <a:latin typeface="Segoe UI"/>
              </a:rPr>
              <a:t>$61B→$232B market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0" y="4914899"/>
            <a:ext cx="4923266" cy="1417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0" y="4914899"/>
            <a:ext cx="50800" cy="14173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8880" y="4988051"/>
            <a:ext cx="22093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9E2AF"/>
                </a:solidFill>
                <a:latin typeface="Segoe UI"/>
              </a:rPr>
              <a:t>Streaming</a:t>
            </a:r>
            <a:r>
              <a:rPr lang="en-US" sz="1400" b="1" dirty="0">
                <a:solidFill>
                  <a:srgbClr val="F9E2AF"/>
                </a:solidFill>
                <a:latin typeface="Segoe UI"/>
              </a:rPr>
              <a:t> </a:t>
            </a:r>
            <a:r>
              <a:rPr sz="1400" b="1" dirty="0">
                <a:solidFill>
                  <a:srgbClr val="F9E2AF"/>
                </a:solidFill>
                <a:latin typeface="Segoe UI"/>
              </a:rPr>
              <a:t>Transforms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0566" y="5513697"/>
            <a:ext cx="2834640" cy="822960"/>
          </a:xfrm>
          <a:prstGeom prst="rect">
            <a:avLst/>
          </a:prstGeom>
          <a:noFill/>
        </p:spPr>
        <p:txBody>
          <a:bodyPr wrap="square"/>
          <a:lstStyle/>
          <a:p>
            <a:pPr marL="171450" indent="-17145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95–100% memory reduction
+55% pipeline speedup
Frame/signal delta 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1966" y="4984555"/>
            <a:ext cx="12573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9E2AF"/>
                </a:solidFill>
                <a:latin typeface="Segoe UI"/>
              </a:rPr>
              <a:t>Write-heavy verticals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880" y="5281601"/>
            <a:ext cx="4664186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SOM </a:t>
            </a:r>
            <a:r>
              <a:rPr lang="en-US" sz="1000" b="0" dirty="0">
                <a:solidFill>
                  <a:schemeClr val="bg1"/>
                </a:solidFill>
                <a:latin typeface="Segoe UI"/>
              </a:rPr>
              <a:t>M</a:t>
            </a:r>
            <a:r>
              <a:rPr sz="1000" b="0" dirty="0">
                <a:solidFill>
                  <a:schemeClr val="bg1"/>
                </a:solidFill>
                <a:latin typeface="Segoe UI"/>
              </a:rPr>
              <a:t>ath: 15 design wins × $3M + 200 SDK subs × $50K + royalties = ~$80M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9266" y="650501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Delta-State XOR Algebra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bg1"/>
                </a:solidFill>
                <a:latin typeface="Segoe UI"/>
              </a:rPr>
              <a:t>Replace full-state read-modify-write with single-cycle delta accumulation.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2A1A1A"/>
          </a:solidFill>
          <a:ln w="1270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8BA8"/>
                </a:solidFill>
                <a:latin typeface="Segoe UI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DD6F4"/>
                </a:solidFill>
                <a:latin typeface="Consolas"/>
              </a:rPr>
              <a:t>State = Load → Lock → Modify → Unlock →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Full 64-byte copy each time  •  Lock contention  •  No undo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1A2A1A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6E3A1"/>
                </a:solidFill>
                <a:latin typeface="Segoe UI"/>
              </a:rPr>
              <a:t>ATOMiK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DD6F4"/>
                </a:solidFill>
                <a:latin typeface="Consolas"/>
              </a:rPr>
              <a:t>State = S₀ ⊕ δ₁ ⊕ δ₂ ⊕ … ⊕ δₙ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8-byte delta only  •  Lock-free  •  Self-inverse undo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5486400" cy="365760"/>
          </a:xfrm>
          <a:prstGeom prst="rect">
            <a:avLst/>
          </a:prstGeom>
          <a:noFill/>
        </p:spPr>
        <p:txBody>
          <a:bodyPr wrap="square" lIns="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chemeClr val="bg1"/>
                </a:solidFill>
                <a:latin typeface="Segoe UI"/>
              </a:rPr>
              <a:t>Abelian Group Properties (All Proven in Lean4)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095794"/>
              </p:ext>
            </p:extLst>
          </p:nvPr>
        </p:nvGraphicFramePr>
        <p:xfrm>
          <a:off x="731520" y="3749040"/>
          <a:ext cx="732999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1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Property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Formula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Hardware Implication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Commutativity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δ₁ ⊕ δ₂ = δ₂ ⊕ δ₁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Lock-free parallel banks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Associativity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(δ₁ ⊕ δ₂) ⊕ δ₃ = δ₁ ⊕ (δ₂ ⊕ δ₃)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Binary merge tree reduction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Self-Inverse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δ ⊕ δ = 0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Every change is its own undo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Identity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δ ⊕ 0 = δ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Zero-cost no-op filtering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 dirty="0"/>
                        <a:t>Closure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t>δ₁ ⊕ δ₂ ∈ Δ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 dirty="0"/>
                        <a:t>No overflow, no type conversion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595360" y="2884544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59952" y="3010946"/>
            <a:ext cx="228600" cy="22860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59952" y="3015668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975984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6E3A1"/>
                </a:solidFill>
                <a:latin typeface="Segoe UI"/>
              </a:rPr>
              <a:t>Single-Cycle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478904"/>
            <a:ext cx="19202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10.6 ns per op
No carry propagation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4210424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752180" y="4320152"/>
            <a:ext cx="228600" cy="2286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52180" y="4320152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01864"/>
            <a:ext cx="1828800" cy="4572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89B4FA"/>
                </a:solidFill>
                <a:latin typeface="Segoe UI"/>
              </a:rPr>
              <a:t>Lock-Free</a:t>
            </a:r>
            <a:r>
              <a:rPr lang="en-US" sz="1400" b="1" dirty="0">
                <a:solidFill>
                  <a:srgbClr val="89B4FA"/>
                </a:solidFill>
                <a:latin typeface="Segoe UI"/>
              </a:rPr>
              <a:t> </a:t>
            </a:r>
            <a:r>
              <a:rPr sz="1400" b="1" dirty="0">
                <a:solidFill>
                  <a:srgbClr val="89B4FA"/>
                </a:solidFill>
                <a:latin typeface="Segoe UI"/>
              </a:rPr>
              <a:t>Parallel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877936"/>
            <a:ext cx="19202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N banks = N</a:t>
            </a:r>
            <a:r>
              <a:rPr lang="en-US" sz="1100" b="0" dirty="0">
                <a:solidFill>
                  <a:schemeClr val="bg1"/>
                </a:solidFill>
                <a:latin typeface="Segoe UI"/>
              </a:rPr>
              <a:t> </a:t>
            </a:r>
            <a:r>
              <a:rPr sz="1100" b="0" dirty="0">
                <a:solidFill>
                  <a:schemeClr val="bg1"/>
                </a:solidFill>
                <a:latin typeface="Segoe UI"/>
              </a:rPr>
              <a:t>×</a:t>
            </a:r>
            <a:r>
              <a:rPr lang="en-US" sz="1100" b="0" dirty="0">
                <a:solidFill>
                  <a:schemeClr val="bg1"/>
                </a:solidFill>
                <a:latin typeface="Segoe UI"/>
              </a:rPr>
              <a:t> </a:t>
            </a:r>
            <a:r>
              <a:rPr sz="1100" b="0" dirty="0">
                <a:solidFill>
                  <a:schemeClr val="bg1"/>
                </a:solidFill>
                <a:latin typeface="Segoe UI"/>
              </a:rPr>
              <a:t>throughput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5536304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52180" y="5650754"/>
            <a:ext cx="228600" cy="228600"/>
          </a:xfrm>
          <a:prstGeom prst="ellipse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52180" y="5646032"/>
            <a:ext cx="2286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627744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BA6F7"/>
                </a:solidFill>
                <a:latin typeface="Segoe UI"/>
              </a:rPr>
              <a:t>Instant Undo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6130664"/>
            <a:ext cx="19202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δ ⊕ δ = 0
Zero-cost reversal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9B4FA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5475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  <a:latin typeface="Segoe UI"/>
              </a:rPr>
              <a:t>From delta to state in one 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000"/>
            <a:ext cx="1800000" cy="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9B4FA"/>
                </a:solidFill>
                <a:latin typeface="Segoe UI"/>
              </a:rPr>
              <a:t>Input Deltas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6E3A1"/>
                </a:solidFill>
                <a:latin typeface="Segoe UI"/>
              </a:rPr>
              <a:t>δ₁, δ₂, δ₃, ... δₙ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000" y="18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9B4FA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0000" y="1400000"/>
            <a:ext cx="3600000" cy="14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0000" y="142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9B4FA"/>
                </a:solidFill>
                <a:latin typeface="Segoe UI"/>
              </a:rPr>
              <a:t>Round-Robin Distributor → N XOR Banks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0000" y="1750000"/>
            <a:ext cx="580000" cy="400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0000" y="1800000"/>
            <a:ext cx="5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E3A1"/>
                </a:solidFill>
                <a:latin typeface="Segoe UI"/>
              </a:rPr>
              <a:t>Bank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0000" y="1950000"/>
            <a:ext cx="5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F849C"/>
                </a:solidFill>
                <a:latin typeface="Segoe UI"/>
              </a:rPr>
              <a:t>XOR Acc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0000" y="1750000"/>
            <a:ext cx="580000" cy="400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0000" y="1800000"/>
            <a:ext cx="5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E3A1"/>
                </a:solidFill>
                <a:latin typeface="Segoe UI"/>
              </a:rPr>
              <a:t>Bank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0000" y="1950000"/>
            <a:ext cx="5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F849C"/>
                </a:solidFill>
                <a:latin typeface="Segoe UI"/>
              </a:rPr>
              <a:t>XOR Acc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0000" y="1750000"/>
            <a:ext cx="580000" cy="400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0000" y="1800000"/>
            <a:ext cx="5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E3A1"/>
                </a:solidFill>
                <a:latin typeface="Segoe UI"/>
              </a:rPr>
              <a:t>Bank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0000" y="1950000"/>
            <a:ext cx="5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F849C"/>
                </a:solidFill>
                <a:latin typeface="Segoe UI"/>
              </a:rPr>
              <a:t>XOR Acc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000" y="1750000"/>
            <a:ext cx="580000" cy="400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000" y="1800000"/>
            <a:ext cx="5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E3A1"/>
                </a:solidFill>
                <a:latin typeface="Segoe UI"/>
              </a:rPr>
              <a:t>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000" y="1950000"/>
            <a:ext cx="5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F849C"/>
                </a:solidFill>
                <a:latin typeface="Segoe U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0000" y="1750000"/>
            <a:ext cx="580000" cy="400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0000" y="1800000"/>
            <a:ext cx="5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E3A1"/>
                </a:solidFill>
                <a:latin typeface="Segoe UI"/>
              </a:rPr>
              <a:t>Bank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0000" y="1950000"/>
            <a:ext cx="5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F849C"/>
                </a:solidFill>
                <a:latin typeface="Segoe UI"/>
              </a:rPr>
              <a:t>XOR Acc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0000" y="220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F849C"/>
                </a:solidFill>
                <a:latin typeface="Segoe UI"/>
              </a:rPr>
              <a:t>1 cycle per accumulation  •  Independent banks  •  No inter-bank dependencies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000" y="18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9B4FA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0000" y="1600000"/>
            <a:ext cx="1800000" cy="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0000" y="165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9B4FA"/>
                </a:solidFill>
                <a:latin typeface="Segoe UI"/>
              </a:rPr>
              <a:t>Binary Merge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0000" y="194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DD6F4"/>
                </a:solidFill>
                <a:latin typeface="Segoe UI"/>
              </a:rPr>
              <a:t>O(log₂ N) depth
Purely combinational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0000" y="18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9B4FA"/>
                </a:solidFill>
                <a:latin typeface="Segoe U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00000" y="1600000"/>
            <a:ext cx="1800000" cy="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0000" y="165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6E3A1"/>
                </a:solidFill>
                <a:latin typeface="Segoe UI"/>
              </a:rPr>
              <a:t>Current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0000" y="194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DD6F4"/>
                </a:solidFill>
                <a:latin typeface="Segoe UI"/>
              </a:rPr>
              <a:t>S₀ ⊕ merged_acc
0-cycle reconstruct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1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  <a:latin typeface="Segoe UI"/>
              </a:rPr>
              <a:t>Operation Cycle (All Single-Clock)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450000"/>
            <a:ext cx="10500000" cy="2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3600000"/>
            <a:ext cx="2500000" cy="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520" y="3630000"/>
            <a:ext cx="2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  <a:latin typeface="Segoe UI"/>
              </a:rPr>
              <a:t>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520" y="388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Set initial state S₀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520" y="407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1 cycle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31520" y="3600000"/>
            <a:ext cx="2500000" cy="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1520" y="3630000"/>
            <a:ext cx="2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  <a:latin typeface="Segoe UI"/>
              </a:rPr>
              <a:t>ACCUMULATE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1520" y="388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XOR delta into assigned bank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1520" y="407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1 cycle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31520" y="3600000"/>
            <a:ext cx="2500000" cy="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1520" y="3630000"/>
            <a:ext cx="2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  <a:latin typeface="Segoe UI"/>
              </a:rPr>
              <a:t>READ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1520" y="388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Compute S₀ ⊕ merged_accumulator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1520" y="407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1 cycle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31520" y="3600000"/>
            <a:ext cx="2500000" cy="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31520" y="3630000"/>
            <a:ext cx="2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  <a:latin typeface="Segoe UI"/>
              </a:rPr>
              <a:t>STATUS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1520" y="388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Check if accumulator is zero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31520" y="4070000"/>
            <a:ext cx="2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1 cycle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  <a:latin typeface="Segoe UI"/>
              </a:rPr>
              <a:t>Key Design Decisions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950000"/>
            <a:ext cx="10500000" cy="2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100000"/>
            <a:ext cx="2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Round-robin distribution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31520" y="510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Even bank utilization, no load balancer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20" y="5100000"/>
            <a:ext cx="2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Binary merge tree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31520" y="510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O(log₂ N) depth, purely combinational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650000"/>
            <a:ext cx="2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syn_keep attributes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31520" y="565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Prevent carry-chain inference (+42% Fmax)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1520" y="5650000"/>
            <a:ext cx="2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6E3A1"/>
                </a:solidFill>
                <a:latin typeface="Segoe UI"/>
              </a:rPr>
              <a:t>~65 LUT + 64 FF per bank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31520" y="565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Sub-linear resource growth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77295" y="649224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849C"/>
                </a:solidFill>
                <a:latin typeface="Segoe UI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136996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585" y="845895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1"/>
                </a:solidFill>
                <a:latin typeface="Segoe UI"/>
              </a:rPr>
              <a:t>ARM-style IP licensing at 90%+ gross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2560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2468880" cy="508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9B4FA"/>
                </a:solidFill>
                <a:latin typeface="Segoe UI"/>
              </a:rPr>
              <a:t>RTL IP
Licensing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17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Per-design fee +
per-unit royalty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868258"/>
            <a:ext cx="1097280" cy="320040"/>
          </a:xfrm>
          <a:prstGeom prst="roundRect">
            <a:avLst>
              <a:gd name="adj" fmla="val 8000"/>
            </a:avLst>
          </a:prstGeom>
          <a:solidFill>
            <a:srgbClr val="222D3E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868258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B4FA"/>
                </a:solidFill>
                <a:latin typeface="Segoe UI"/>
              </a:rPr>
              <a:t>90%+ 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Primary revenue.
ARM Cortex-M comparable.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508760"/>
            <a:ext cx="2468880" cy="2560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508760"/>
            <a:ext cx="2468880" cy="508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6459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BA6F7"/>
                </a:solidFill>
                <a:latin typeface="Segoe UI"/>
              </a:rPr>
              <a:t>Vertical
Accelerator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717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Pre-built domain
modules (HFT, IoT)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868258"/>
            <a:ext cx="1097280" cy="320040"/>
          </a:xfrm>
          <a:prstGeom prst="roundRect">
            <a:avLst>
              <a:gd name="adj" fmla="val 8000"/>
            </a:avLst>
          </a:prstGeom>
          <a:solidFill>
            <a:srgbClr val="32293D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2868258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BA6F7"/>
                </a:solidFill>
                <a:latin typeface="Segoe UI"/>
              </a:rPr>
              <a:t>85%+ 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46120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Higher value.
Domain-specific RTL.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508760"/>
            <a:ext cx="2468880" cy="2560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508760"/>
            <a:ext cx="2468880" cy="508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6459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6E3A1"/>
                </a:solidFill>
                <a:latin typeface="Segoe UI"/>
              </a:rPr>
              <a:t>SDK
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717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Annual subscription
for codegen +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2868258"/>
            <a:ext cx="1097280" cy="320040"/>
          </a:xfrm>
          <a:prstGeom prst="roundRect">
            <a:avLst>
              <a:gd name="adj" fmla="val 8000"/>
            </a:avLst>
          </a:prstGeom>
          <a:solidFill>
            <a:srgbClr val="293828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2868258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6E3A1"/>
                </a:solidFill>
                <a:latin typeface="Segoe UI"/>
              </a:rPr>
              <a:t>90%+ GM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46120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Recurring revenue.
Developer lock-in.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508760"/>
            <a:ext cx="2468880" cy="25603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23960" y="1508760"/>
            <a:ext cx="2468880" cy="508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0" y="16459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9E2AF"/>
                </a:solidFill>
                <a:latin typeface="Segoe UI"/>
              </a:rPr>
              <a:t>Professional
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1717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Custom integration
engagements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868258"/>
            <a:ext cx="1097280" cy="320040"/>
          </a:xfrm>
          <a:prstGeom prst="roundRect">
            <a:avLst>
              <a:gd name="adj" fmla="val 8000"/>
            </a:avLst>
          </a:prstGeom>
          <a:solidFill>
            <a:srgbClr val="3E382B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0" y="2868258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9E2AF"/>
                </a:solidFill>
                <a:latin typeface="Segoe UI"/>
              </a:rPr>
              <a:t>50–60% GM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246120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Strategic land.
Learning use cases.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452303"/>
            <a:ext cx="10515600" cy="118872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4543743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chemeClr val="bg1"/>
                </a:solidFill>
                <a:latin typeface="Segoe UI"/>
              </a:rPr>
              <a:t>Comparable: ARM Holdings (FY2025)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940282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9B4FA"/>
                </a:solidFill>
                <a:latin typeface="Segoe UI"/>
              </a:rPr>
              <a:t>$4.0B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26032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940282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6E3A1"/>
                </a:solidFill>
                <a:latin typeface="Segoe UI"/>
              </a:rPr>
              <a:t>97%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5260322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Gross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929823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BA6F7"/>
                </a:solidFill>
                <a:latin typeface="Segoe UI"/>
              </a:rPr>
              <a:t>Pure 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249863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No Manufacturing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941627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9E2AF"/>
                </a:solidFill>
                <a:latin typeface="Segoe UI"/>
              </a:rPr>
              <a:t>30+ Years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5261667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Model Proven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972137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solidFill>
                  <a:schemeClr val="bg1"/>
                </a:solidFill>
                <a:latin typeface="Segoe UI"/>
              </a:rPr>
              <a:t>Blended margin trajectory:  Year 1: ~75%  →  Year 3: ~85%  →  Year 5: ~88%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solidFill>
                  <a:schemeClr val="bg1"/>
                </a:solidFill>
                <a:latin typeface="Segoe UI"/>
              </a:rPr>
              <a:t>Improves as services % declines and SDK recurring revenue grows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Traction &amp; Engineering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96012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0800" cy="10515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6E3A1"/>
                </a:solidFill>
                <a:latin typeface="Segoe UI"/>
              </a:rPr>
              <a:t>1,056 Mops/s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Peak throughput (N=16)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3444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34440"/>
            <a:ext cx="50800" cy="10515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89B4FA"/>
                </a:solidFill>
                <a:latin typeface="Segoe UI"/>
              </a:rPr>
              <a:t>10.6 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Single-op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23444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0" y="1234440"/>
            <a:ext cx="50800" cy="105156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132588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BA6F7"/>
                </a:solidFill>
                <a:latin typeface="Segoe UI"/>
              </a:rPr>
              <a:t>92 proofs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82880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Lean4 verified, 0 sorry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1460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514600"/>
            <a:ext cx="50800" cy="10515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60604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6E3A1"/>
                </a:solidFill>
                <a:latin typeface="Segoe UI"/>
              </a:rPr>
              <a:t>80/80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Hardware tests passing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51460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2514600"/>
            <a:ext cx="50800" cy="1051560"/>
          </a:xfrm>
          <a:prstGeom prst="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260604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4E2D5"/>
                </a:solidFill>
                <a:latin typeface="Segoe UI"/>
              </a:rPr>
              <a:t>353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10896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SDK (5 languages)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51460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0" y="2514600"/>
            <a:ext cx="50800" cy="10515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0" y="260604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9E2AF"/>
                </a:solidFill>
                <a:latin typeface="Segoe UI"/>
              </a:rPr>
              <a:t>95–100%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10896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Memory traffic reduction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9476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3794760"/>
            <a:ext cx="50800" cy="10515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88620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6E3A1"/>
                </a:solidFill>
                <a:latin typeface="Segoe UI"/>
              </a:rPr>
              <a:t>+35.7%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XOR vs adder speed (p&lt;.0001)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79476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51960" y="3794760"/>
            <a:ext cx="50800" cy="10515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388620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6E3A1"/>
                </a:solidFill>
                <a:latin typeface="Segoe UI"/>
              </a:rPr>
              <a:t>0% overflow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8912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Segoe UI"/>
              </a:rPr>
              <a:t>XOR risk (vs 150.7% adder)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79476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0" y="3794760"/>
            <a:ext cx="50800" cy="10515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80" y="3886200"/>
            <a:ext cx="30175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9E2AF"/>
                </a:solidFill>
                <a:latin typeface="Segoe UI"/>
              </a:rPr>
              <a:t>~$225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389120"/>
            <a:ext cx="3017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chemeClr val="bg1"/>
                </a:solidFill>
                <a:latin typeface="Segoe UI"/>
              </a:rPr>
              <a:t>Development cost (AI tokens)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176" y="5068197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chemeClr val="bg1"/>
                </a:solidFill>
                <a:latin typeface="Segoe UI"/>
              </a:rPr>
              <a:t>Parallel Scaling (Verilog-Verified)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213297"/>
            <a:ext cx="1645920" cy="90011"/>
          </a:xfrm>
          <a:prstGeom prst="rect">
            <a:avLst/>
          </a:prstGeom>
          <a:solidFill>
            <a:srgbClr val="30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593221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A6E3A1"/>
                </a:solidFill>
                <a:latin typeface="Segoe UI"/>
              </a:rPr>
              <a:t>94 Mops/s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355793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N=1
94.5 MHz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5994699"/>
            <a:ext cx="1645920" cy="308610"/>
          </a:xfrm>
          <a:prstGeom prst="rect">
            <a:avLst/>
          </a:prstGeom>
          <a:solidFill>
            <a:srgbClr val="306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88920" y="571361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6E3A1"/>
                </a:solidFill>
                <a:latin typeface="Segoe UI"/>
              </a:rPr>
              <a:t>324 Mops/s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6355793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N=4
81 MHz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6360" y="5788959"/>
            <a:ext cx="1645920" cy="514350"/>
          </a:xfrm>
          <a:prstGeom prst="rect">
            <a:avLst/>
          </a:prstGeom>
          <a:solidFill>
            <a:srgbClr val="3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66360" y="550787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6E3A1"/>
                </a:solidFill>
                <a:latin typeface="Segoe UI"/>
              </a:rPr>
              <a:t>540 Mops/s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6355793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N=8
67.5 MHz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5297469"/>
            <a:ext cx="1645920" cy="1005840"/>
          </a:xfrm>
          <a:prstGeom prst="rect">
            <a:avLst/>
          </a:prstGeom>
          <a:solidFill>
            <a:srgbClr val="30D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43800" y="5016384"/>
            <a:ext cx="16459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6E3A1"/>
                </a:solidFill>
                <a:latin typeface="Segoe UI"/>
              </a:rPr>
              <a:t>1056 Mops/s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6355793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N=16
66 MHz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5704" y="5412525"/>
            <a:ext cx="1945036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b="1" dirty="0">
                <a:solidFill>
                  <a:srgbClr val="A6E3A1"/>
                </a:solidFill>
                <a:latin typeface="Segoe UI"/>
              </a:rPr>
              <a:t>Linear scaling: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9/15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CD9FB4-8EDA-CD65-5A19-F25B2E83691A}"/>
              </a:ext>
            </a:extLst>
          </p:cNvPr>
          <p:cNvSpPr txBox="1"/>
          <p:nvPr/>
        </p:nvSpPr>
        <p:spPr>
          <a:xfrm>
            <a:off x="9495704" y="5710377"/>
            <a:ext cx="2513111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A6E3A1"/>
                </a:solidFill>
                <a:latin typeface="Segoe UI"/>
              </a:rPr>
              <a:t>N banks = N</a:t>
            </a:r>
            <a:r>
              <a:rPr lang="en-US" sz="1300" b="1" dirty="0">
                <a:solidFill>
                  <a:srgbClr val="A6E3A1"/>
                </a:solidFill>
                <a:latin typeface="Segoe UI"/>
              </a:rPr>
              <a:t> </a:t>
            </a:r>
            <a:r>
              <a:rPr sz="1300" b="1" dirty="0">
                <a:solidFill>
                  <a:srgbClr val="A6E3A1"/>
                </a:solidFill>
                <a:latin typeface="Segoe UI"/>
              </a:rPr>
              <a:t>×</a:t>
            </a:r>
            <a:r>
              <a:rPr lang="en-US" sz="1300" b="1" dirty="0">
                <a:solidFill>
                  <a:srgbClr val="A6E3A1"/>
                </a:solidFill>
                <a:latin typeface="Segoe UI"/>
              </a:rPr>
              <a:t>T</a:t>
            </a:r>
            <a:r>
              <a:rPr sz="1300" b="1" dirty="0">
                <a:solidFill>
                  <a:srgbClr val="A6E3A1"/>
                </a:solidFill>
                <a:latin typeface="Segoe UI"/>
              </a:rPr>
              <a:t>hroughput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chemeClr val="bg1"/>
                </a:solidFill>
                <a:latin typeface="Segoe UI"/>
              </a:rPr>
              <a:t>No diminishing returns</a:t>
            </a:r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022A7E07-DC45-A9B9-6AAE-80499F5910C5}"/>
              </a:ext>
            </a:extLst>
          </p:cNvPr>
          <p:cNvSpPr/>
          <p:nvPr/>
        </p:nvSpPr>
        <p:spPr>
          <a:xfrm rot="10454364">
            <a:off x="-2278946" y="4101241"/>
            <a:ext cx="13492779" cy="1943409"/>
          </a:xfrm>
          <a:prstGeom prst="arc">
            <a:avLst>
              <a:gd name="adj1" fmla="val 11125465"/>
              <a:gd name="adj2" fmla="val 20972744"/>
            </a:avLst>
          </a:prstGeom>
          <a:ln>
            <a:solidFill>
              <a:schemeClr val="bg1"/>
            </a:solidFill>
            <a:head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96012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 l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chemeClr val="bg1"/>
                </a:solidFill>
                <a:latin typeface="Segoe UI"/>
              </a:rPr>
              <a:t>Technical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09961"/>
              </p:ext>
            </p:extLst>
          </p:nvPr>
        </p:nvGraphicFramePr>
        <p:xfrm>
          <a:off x="731519" y="1417320"/>
          <a:ext cx="941428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7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rPr dirty="0"/>
                        <a:t>Dimension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ATOMiK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rPr dirty="0"/>
                        <a:t>Event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Sourcing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CRDTs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GPU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rPr dirty="0"/>
                        <a:t>Near-Memory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Reconstruction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O(1)/cycle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O(N) replay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O(N) merge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Batch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O(1) local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Formal Proofs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92 Lean4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Manual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Undo/Reversal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Free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Log replay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Parallelism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Linear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Limited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Eventual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SIMT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Ctrl-bound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Power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~20 mW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50–200W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50–200W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300–700W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10–50W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Latency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10.6 ns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ms-scale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ms-scale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µs-scale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ns-scale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77639"/>
            <a:ext cx="5486400" cy="365760"/>
          </a:xfrm>
          <a:prstGeom prst="rect">
            <a:avLst/>
          </a:prstGeom>
          <a:noFill/>
        </p:spPr>
        <p:txBody>
          <a:bodyPr wrap="square" l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chemeClr val="bg1"/>
                </a:solidFill>
                <a:latin typeface="Segoe UI"/>
              </a:rPr>
              <a:t>Market Comparables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20888"/>
              </p:ext>
            </p:extLst>
          </p:nvPr>
        </p:nvGraphicFramePr>
        <p:xfrm>
          <a:off x="731520" y="42976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Company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Valuation / Revenue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9B4FA"/>
                          </a:solidFill>
                          <a:latin typeface="Segoe UI"/>
                        </a:defRPr>
                      </a:pPr>
                      <a: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25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ARM Holdings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$4.0B rev, 97% GM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IP license + royalty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SEC filing, FY2025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Lattice Semi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$489M rev, 21.6× EV/Rev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Low-power FPGA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Earnings, 2025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Cerebras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$8.1B valuation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AI chip hardware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Crunchbase, Sep 2025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Groq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$20B (NVIDIA acq.)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Inference accelerator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TechCrunch, Dec 2025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Tenstorrent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$2.6B valuation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RISC-V AI accelerator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Fortune, Dec 2024</a:t>
                      </a:r>
                    </a:p>
                  </a:txBody>
                  <a:tcPr marL="73152" marR="73152" marT="36576" marB="36576"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Positron AI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$51.6M Series A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FPGA inference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DD6F4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Crunchbase, 2025</a:t>
                      </a:r>
                    </a:p>
                  </a:txBody>
                  <a:tcPr marL="73152" marR="73152" marT="36576" marB="36576">
                    <a:solidFill>
                      <a:srgbClr val="1A1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chemeClr val="bg1"/>
                </a:solidFill>
                <a:latin typeface="Segoe UI"/>
              </a:rPr>
              <a:t>From proof-of-concept to production silicon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0515600" cy="381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" y="1719072"/>
            <a:ext cx="274320" cy="274320"/>
          </a:xfrm>
          <a:prstGeom prst="ellipse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5860" y="173736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508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BA6F7"/>
                </a:solidFill>
                <a:latin typeface="Segoe U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Math
Formalization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927" y="2752075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92 Lean4
proofs</a:t>
            </a:r>
          </a:p>
        </p:txBody>
      </p:sp>
      <p:sp>
        <p:nvSpPr>
          <p:cNvPr id="11" name="Oval 10"/>
          <p:cNvSpPr/>
          <p:nvPr/>
        </p:nvSpPr>
        <p:spPr>
          <a:xfrm>
            <a:off x="2857500" y="1719072"/>
            <a:ext cx="274320" cy="27432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7500" y="172974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057400"/>
            <a:ext cx="1508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9B4FA"/>
                </a:solidFill>
                <a:latin typeface="Segoe U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8600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SCORE
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0269" y="276225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95–100%
mem reduction</a:t>
            </a:r>
          </a:p>
        </p:txBody>
      </p:sp>
      <p:sp>
        <p:nvSpPr>
          <p:cNvPr id="16" name="Oval 15"/>
          <p:cNvSpPr/>
          <p:nvPr/>
        </p:nvSpPr>
        <p:spPr>
          <a:xfrm>
            <a:off x="4549140" y="1719072"/>
            <a:ext cx="274320" cy="274320"/>
          </a:xfrm>
          <a:prstGeom prst="ellipse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9140" y="173828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057400"/>
            <a:ext cx="1508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4E2D5"/>
                </a:solidFill>
                <a:latin typeface="Segoe UI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28600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Hardware
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767853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94.5 MHz
80/80 tests</a:t>
            </a:r>
          </a:p>
        </p:txBody>
      </p:sp>
      <p:sp>
        <p:nvSpPr>
          <p:cNvPr id="21" name="Oval 20"/>
          <p:cNvSpPr/>
          <p:nvPr/>
        </p:nvSpPr>
        <p:spPr>
          <a:xfrm>
            <a:off x="6240780" y="1719072"/>
            <a:ext cx="274320" cy="27432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0780" y="173828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057400"/>
            <a:ext cx="1508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6E3A1"/>
                </a:solidFill>
                <a:latin typeface="Segoe UI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28600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SDK
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278892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chemeClr val="bg1"/>
                </a:solidFill>
                <a:latin typeface="Segoe UI"/>
              </a:rPr>
              <a:t>5 languages
353 tests</a:t>
            </a:r>
          </a:p>
        </p:txBody>
      </p:sp>
      <p:sp>
        <p:nvSpPr>
          <p:cNvPr id="26" name="Oval 25"/>
          <p:cNvSpPr/>
          <p:nvPr/>
        </p:nvSpPr>
        <p:spPr>
          <a:xfrm>
            <a:off x="7932420" y="1719072"/>
            <a:ext cx="274320" cy="274320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2420" y="173828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057400"/>
            <a:ext cx="1508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9E2AF"/>
                </a:solidFill>
                <a:latin typeface="Segoe UI"/>
              </a:rP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28600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3-Node
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78892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chemeClr val="bg1"/>
                </a:solidFill>
                <a:latin typeface="Segoe UI"/>
              </a:rPr>
              <a:t>Multi-device
merge</a:t>
            </a:r>
          </a:p>
        </p:txBody>
      </p:sp>
      <p:sp>
        <p:nvSpPr>
          <p:cNvPr id="31" name="Oval 30"/>
          <p:cNvSpPr/>
          <p:nvPr/>
        </p:nvSpPr>
        <p:spPr>
          <a:xfrm>
            <a:off x="9624060" y="1719072"/>
            <a:ext cx="274320" cy="27432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24060" y="1738286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131A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057400"/>
            <a:ext cx="1508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6E3A1"/>
                </a:solidFill>
                <a:latin typeface="Segoe UI"/>
              </a:rPr>
              <a:t>Phase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286000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DD6F4"/>
                </a:solidFill>
                <a:latin typeface="Segoe UI"/>
              </a:rPr>
              <a:t>Parallel
Scaling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809539"/>
            <a:ext cx="1508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chemeClr val="bg1"/>
                </a:solidFill>
                <a:latin typeface="Segoe UI"/>
              </a:rPr>
              <a:t>1,056 Mops/s
16× linear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73080" y="1911365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673080" y="2185685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673080" y="2460005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673080" y="2734324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673080" y="3008645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673080" y="3282965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673080" y="3557284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49840" y="135934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9E2AF"/>
                </a:solidFill>
                <a:latin typeface="Segoe UI"/>
              </a:rPr>
              <a:t>SEED ROUND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114800"/>
            <a:ext cx="10332720" cy="381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83080" y="4005072"/>
            <a:ext cx="274320" cy="274320"/>
          </a:xfrm>
          <a:prstGeom prst="ellipse">
            <a:avLst/>
          </a:prstGeom>
          <a:solidFill>
            <a:srgbClr val="1E1E2E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83080" y="401574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89B4FA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343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9B4FA"/>
                </a:solidFill>
                <a:latin typeface="Segoe UI"/>
              </a:rPr>
              <a:t>Larger FPGA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8006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N=64+ banks
&gt;4 Gops/s target</a:t>
            </a:r>
          </a:p>
        </p:txBody>
      </p:sp>
      <p:sp>
        <p:nvSpPr>
          <p:cNvPr id="50" name="Oval 49"/>
          <p:cNvSpPr/>
          <p:nvPr/>
        </p:nvSpPr>
        <p:spPr>
          <a:xfrm>
            <a:off x="4434840" y="4005072"/>
            <a:ext cx="274320" cy="274320"/>
          </a:xfrm>
          <a:prstGeom prst="ellipse">
            <a:avLst/>
          </a:prstGeom>
          <a:solidFill>
            <a:srgbClr val="1E1E2E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34840" y="402336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CBA6F7"/>
                </a:solidFill>
                <a:latin typeface="Segoe U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4343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BA6F7"/>
                </a:solidFill>
                <a:latin typeface="Segoe UI"/>
              </a:rPr>
              <a:t>Vertical SDK
Modules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48006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chemeClr val="bg1"/>
                </a:solidFill>
                <a:latin typeface="Segoe UI"/>
              </a:rPr>
              <a:t>HFT, sensor,
streaming packages</a:t>
            </a:r>
          </a:p>
        </p:txBody>
      </p:sp>
      <p:sp>
        <p:nvSpPr>
          <p:cNvPr id="54" name="Oval 53"/>
          <p:cNvSpPr/>
          <p:nvPr/>
        </p:nvSpPr>
        <p:spPr>
          <a:xfrm>
            <a:off x="7086600" y="4005072"/>
            <a:ext cx="274320" cy="274320"/>
          </a:xfrm>
          <a:prstGeom prst="ellipse">
            <a:avLst/>
          </a:prstGeom>
          <a:solidFill>
            <a:srgbClr val="1E1E2E"/>
          </a:solidFill>
          <a:ln w="25400">
            <a:solidFill>
              <a:srgbClr val="94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86600" y="401574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94E2D5"/>
                </a:solidFill>
                <a:latin typeface="Segoe U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43840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94E2D5"/>
                </a:solidFill>
                <a:latin typeface="Segoe UI"/>
              </a:rPr>
              <a:t>ASIC Feasibility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48006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chemeClr val="bg1"/>
                </a:solidFill>
                <a:latin typeface="Segoe UI"/>
              </a:rPr>
              <a:t>Foundry partner
28nm estimates</a:t>
            </a:r>
          </a:p>
        </p:txBody>
      </p:sp>
      <p:sp>
        <p:nvSpPr>
          <p:cNvPr id="58" name="Oval 57"/>
          <p:cNvSpPr/>
          <p:nvPr/>
        </p:nvSpPr>
        <p:spPr>
          <a:xfrm>
            <a:off x="9738360" y="4005072"/>
            <a:ext cx="274320" cy="274320"/>
          </a:xfrm>
          <a:prstGeom prst="ellipse">
            <a:avLst/>
          </a:prstGeom>
          <a:solidFill>
            <a:srgbClr val="1E1E2E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38360" y="402336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6E3A1"/>
                </a:solidFill>
                <a:latin typeface="Segoe U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343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6E3A1"/>
                </a:solidFill>
                <a:latin typeface="Segoe UI"/>
              </a:rPr>
              <a:t>Pilot Design
Wins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8006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chemeClr val="bg1"/>
                </a:solidFill>
                <a:latin typeface="Segoe UI"/>
              </a:rPr>
              <a:t>2–3 revenue
customers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88" y="5402580"/>
            <a:ext cx="1059897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solidFill>
                  <a:schemeClr val="bg1"/>
                </a:solidFill>
                <a:latin typeface="Segoe UI"/>
              </a:rPr>
              <a:t>Risk profile: 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03020" y="5407062"/>
            <a:ext cx="8229600" cy="365760"/>
          </a:xfrm>
          <a:prstGeom prst="rect">
            <a:avLst/>
          </a:prstGeom>
          <a:noFill/>
        </p:spPr>
        <p:txBody>
          <a:bodyPr wrap="square" lIns="0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A6E3A1"/>
                </a:solidFill>
                <a:latin typeface="Segoe UI"/>
              </a:rPr>
              <a:t>Larger FPGA = 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86692" y="5421630"/>
            <a:ext cx="17992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A6E3A1"/>
                </a:solidFill>
                <a:latin typeface="Segoe UI"/>
              </a:rPr>
              <a:t>  SDK Modules = 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443369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F9E2AF"/>
                </a:solidFill>
                <a:latin typeface="Segoe UI"/>
              </a:rPr>
              <a:t>ASIC = Medium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79093" y="5440680"/>
            <a:ext cx="1992854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dirty="0">
                <a:solidFill>
                  <a:srgbClr val="F9E2AF"/>
                </a:solidFill>
                <a:latin typeface="Segoe UI"/>
              </a:rPr>
              <a:t>Pilots = 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167" y="5887122"/>
            <a:ext cx="10515600" cy="45720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chemeClr val="bg1"/>
                </a:solidFill>
                <a:latin typeface="Segoe UI"/>
              </a:rPr>
              <a:t>6 engineering phases complete with validation at every gate. Seed funds the transition from proof-of-concept to first design wins.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11/15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9DD6251-175D-2795-A40E-3C118E124D93}"/>
              </a:ext>
            </a:extLst>
          </p:cNvPr>
          <p:cNvSpPr/>
          <p:nvPr/>
        </p:nvSpPr>
        <p:spPr>
          <a:xfrm>
            <a:off x="10673080" y="1654049"/>
            <a:ext cx="25400" cy="1371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39FB0E2-DAB6-083A-AA0D-EC231084F07E}"/>
              </a:ext>
            </a:extLst>
          </p:cNvPr>
          <p:cNvSpPr/>
          <p:nvPr/>
        </p:nvSpPr>
        <p:spPr>
          <a:xfrm>
            <a:off x="1075765" y="3766790"/>
            <a:ext cx="9576995" cy="2066992"/>
          </a:xfrm>
          <a:prstGeom prst="roundRect">
            <a:avLst/>
          </a:prstGeom>
          <a:gradFill>
            <a:gsLst>
              <a:gs pos="39000">
                <a:schemeClr val="accent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82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EA87A69-23E3-BE74-EC31-F3F821846D1A}"/>
              </a:ext>
            </a:extLst>
          </p:cNvPr>
          <p:cNvSpPr/>
          <p:nvPr/>
        </p:nvSpPr>
        <p:spPr>
          <a:xfrm>
            <a:off x="708735" y="1555106"/>
            <a:ext cx="9730665" cy="1745609"/>
          </a:xfrm>
          <a:prstGeom prst="roundRect">
            <a:avLst/>
          </a:prstGeom>
          <a:gradFill>
            <a:gsLst>
              <a:gs pos="39000">
                <a:schemeClr val="accent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82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9B4FA"/>
                </a:solidFill>
                <a:latin typeface="Segoe U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5475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  <a:latin typeface="Segoe UI"/>
              </a:rPr>
              <a:t>Solo founder + AI-augmented development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0000"/>
            <a:ext cx="5000000" cy="2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6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9B4FA"/>
                </a:solidFill>
                <a:latin typeface="Segoe UI"/>
              </a:rPr>
              <a:t>Matthew H. Rockwell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0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BA6F7"/>
                </a:solidFill>
                <a:latin typeface="Segoe UI"/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250000"/>
            <a:ext cx="4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D6F4"/>
                </a:solidFill>
                <a:latin typeface="Segoe UI"/>
              </a:rPr>
              <a:t>•  Formal mathematics (Lean4 proof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530000"/>
            <a:ext cx="4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D6F4"/>
                </a:solidFill>
                <a:latin typeface="Segoe UI"/>
              </a:rPr>
              <a:t>•  Digital design (Verilog RTL, FPGA synthesis, timing closure)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810000"/>
            <a:ext cx="4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D6F4"/>
                </a:solidFill>
                <a:latin typeface="Segoe UI"/>
              </a:rPr>
              <a:t>•  Software engineering (Python SDK, multi-language codegen)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090000"/>
            <a:ext cx="4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D6F4"/>
                </a:solidFill>
                <a:latin typeface="Segoe UI"/>
              </a:rPr>
              <a:t>•  Hardware validation (UART protocol, physical FPGA testing)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370000"/>
            <a:ext cx="4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DD6F4"/>
                </a:solidFill>
                <a:latin typeface="Segoe UI"/>
              </a:rPr>
              <a:t>•  Business development (patent filing, investor materials)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0000" y="1500000"/>
            <a:ext cx="5400000" cy="28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16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E3A1"/>
                </a:solidFill>
                <a:latin typeface="Segoe UI"/>
              </a:rPr>
              <a:t>AI-Augmented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05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Development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0000" y="20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8BA8"/>
                </a:solidFill>
                <a:latin typeface="Segoe UI"/>
              </a:rPr>
              <a:t>$2–5M typical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0000" y="20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  <a:latin typeface="Segoe UI"/>
              </a:rPr>
              <a:t>~$225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255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Team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0000" y="25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8BA8"/>
                </a:solidFill>
                <a:latin typeface="Segoe UI"/>
              </a:rPr>
              <a:t>5–10 engineers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0000" y="25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  <a:latin typeface="Segoe UI"/>
              </a:rPr>
              <a:t>1 founder +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305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Time to PoC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0000" y="30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8BA8"/>
                </a:solidFill>
                <a:latin typeface="Segoe UI"/>
              </a:rPr>
              <a:t>12–18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0000" y="30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  <a:latin typeface="Segoe UI"/>
              </a:rPr>
              <a:t>~7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355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49C"/>
                </a:solidFill>
                <a:latin typeface="Segoe UI"/>
              </a:rPr>
              <a:t>Proof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0000" y="35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8BA8"/>
                </a:solidFill>
                <a:latin typeface="Segoe UI"/>
              </a:rPr>
              <a:t>Months per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0000" y="355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  <a:latin typeface="Segoe UI"/>
              </a:rPr>
              <a:t>92 in single sprint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0000" y="190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F849C"/>
                </a:solidFill>
                <a:latin typeface="Segoe UI"/>
              </a:rPr>
              <a:t>Traditional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0000" y="190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6E3A1"/>
                </a:solidFill>
                <a:latin typeface="Segoe UI"/>
              </a:rPr>
              <a:t>ATOMiK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  <a:latin typeface="Segoe UI"/>
              </a:rPr>
              <a:t>Post-Funding Team Expansion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950000"/>
            <a:ext cx="10500000" cy="20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0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D6F4"/>
                </a:solidFill>
                <a:latin typeface="Segoe UI"/>
              </a:rPr>
              <a:t>FPGA/ASIC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1520" y="5100000"/>
            <a:ext cx="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  <a:latin typeface="Segoe UI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1520" y="510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49C"/>
                </a:solidFill>
                <a:latin typeface="Segoe UI"/>
              </a:rPr>
              <a:t>Larger device ports, synthesis 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1520" y="510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D6F4"/>
                </a:solidFill>
                <a:latin typeface="Segoe UI"/>
              </a:rPr>
              <a:t>Application Engineer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1520" y="5100000"/>
            <a:ext cx="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E3A1"/>
                </a:solidFill>
                <a:latin typeface="Segoe UI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1520" y="510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49C"/>
                </a:solidFill>
                <a:latin typeface="Segoe UI"/>
              </a:rPr>
              <a:t>Vertical modules, customer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D6F4"/>
                </a:solidFill>
                <a:latin typeface="Segoe UI"/>
              </a:rPr>
              <a:t>DevRel / Community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1520" y="5650000"/>
            <a:ext cx="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Segoe U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1520" y="565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49C"/>
                </a:solidFill>
                <a:latin typeface="Segoe UI"/>
              </a:rPr>
              <a:t>SDK ecosystem growth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1520" y="56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D6F4"/>
                </a:solidFill>
                <a:latin typeface="Segoe UI"/>
              </a:rPr>
              <a:t>Business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1520" y="5650000"/>
            <a:ext cx="6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E2AF"/>
                </a:solidFill>
                <a:latin typeface="Segoe UI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1520" y="565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849C"/>
                </a:solidFill>
                <a:latin typeface="Segoe UI"/>
              </a:rPr>
              <a:t>Partnership and licensing deals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A6F7"/>
                </a:solidFill>
                <a:latin typeface="Segoe UI"/>
              </a:rPr>
              <a:t>If one person with AI tools can produce 92 proofs, working hardware, and a 5-language SDK, a funded team can move exponentially faster.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295" y="649224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849C"/>
                </a:solidFill>
                <a:latin typeface="Segoe UI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146070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9B4FA"/>
                </a:solidFill>
                <a:latin typeface="Segoe UI"/>
              </a:rPr>
              <a:t>Moat &amp; 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5475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  <a:latin typeface="Segoe UI"/>
              </a:rPr>
              <a:t>Four layers of compounding defense.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0000"/>
            <a:ext cx="5200000" cy="1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1520" y="1650000"/>
            <a:ext cx="350000" cy="350000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1520" y="169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131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1520" y="16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  <a:latin typeface="Segoe UI"/>
              </a:rPr>
              <a:t>Patent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1520" y="20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Architecture and execution model under IP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1520" y="23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Covers: XOR accumulation, parallel banks, merge tree, RTL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1520" y="27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Continuation patents planned for parallel scaling innovations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520" y="1500000"/>
            <a:ext cx="5200000" cy="1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81520" y="1650000"/>
            <a:ext cx="350000" cy="350000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1520" y="169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131A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1520" y="16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E3A1"/>
                </a:solidFill>
                <a:latin typeface="Segoe UI"/>
              </a:rPr>
              <a:t>Formal Verification Barrier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1520" y="20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92 Lean4 proofs = multi-month engineering effort to replicate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1520" y="23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Competitors must match proof standard or accept unverified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1520" y="27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Proof base grows with each theorem, increasing barrier over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00000"/>
            <a:ext cx="5200000" cy="1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1520" y="3550000"/>
            <a:ext cx="350000" cy="350000"/>
          </a:xfrm>
          <a:prstGeom prst="ellipse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520" y="359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13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1520" y="35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BA6F7"/>
                </a:solidFill>
                <a:latin typeface="Segoe UI"/>
              </a:rPr>
              <a:t>SDK Ecosystem Lock-In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1520" y="39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Schema-driven codegen across 5 languages creates switching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1520" y="42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Hardware RTL + software coupled through same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1520" y="46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353 tests verify algebraic correctness across all targets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520" y="3400000"/>
            <a:ext cx="5200000" cy="17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81520" y="3550000"/>
            <a:ext cx="350000" cy="350000"/>
          </a:xfrm>
          <a:prstGeom prst="ellipse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1520" y="359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131A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1520" y="35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AB387"/>
                </a:solidFill>
                <a:latin typeface="Segoe UI"/>
              </a:rPr>
              <a:t>Architectural Lock-In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1520" y="39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RTL IP wired into chip data path = 12-24 month re-design to switch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1520" y="42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Performance advantage compounds: optimizing for delta-state = increasing returns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1520" y="463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DD6F4"/>
                </a:solidFill>
                <a:latin typeface="Segoe UI"/>
              </a:rPr>
              <a:t>•  Standard-setting potential: if ATOMiK becomes the primitive, switching costs are permanent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F849C"/>
                </a:solidFill>
                <a:latin typeface="Segoe UI"/>
              </a:rPr>
              <a:t>Each layer is independently defensible. Together they create a compounding barrier that grows stronger over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9224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849C"/>
                </a:solidFill>
                <a:latin typeface="Segoe UI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1559956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89B4FA"/>
                </a:solidFill>
                <a:latin typeface="Segoe U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9928" y="881753"/>
            <a:ext cx="9740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chemeClr val="bg1"/>
                </a:solidFill>
                <a:latin typeface="Segoe UI"/>
              </a:rPr>
              <a:t>$3M - $4M </a:t>
            </a:r>
            <a:r>
              <a:rPr lang="en-US" sz="1600" dirty="0">
                <a:solidFill>
                  <a:schemeClr val="bg1"/>
                </a:solidFill>
                <a:latin typeface="Segoe UI"/>
              </a:rPr>
              <a:t>s</a:t>
            </a:r>
            <a:r>
              <a:rPr lang="en-US" sz="1600" b="0" dirty="0">
                <a:solidFill>
                  <a:schemeClr val="bg1"/>
                </a:solidFill>
                <a:latin typeface="Segoe UI"/>
              </a:rPr>
              <a:t>eed round for 15% - 25% equity to take ATOMiK from validated silicon to first design wins.</a:t>
            </a:r>
            <a:endParaRPr sz="1600" b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904" y="128016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013524" cy="365760"/>
          </a:xfrm>
          <a:prstGeom prst="rect">
            <a:avLst/>
          </a:prstGeom>
          <a:noFill/>
        </p:spPr>
        <p:txBody>
          <a:bodyPr wrap="square" lIns="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chemeClr val="bg1"/>
                </a:solidFill>
                <a:latin typeface="Segoe UI"/>
              </a:rPr>
              <a:t>Use of Funds</a:t>
            </a:r>
            <a:r>
              <a:rPr lang="en-US" sz="1800" b="1" dirty="0">
                <a:solidFill>
                  <a:schemeClr val="bg1"/>
                </a:solidFill>
                <a:latin typeface="Segoe UI"/>
              </a:rPr>
              <a:t>: Buys us 18 – 24 months of runway</a:t>
            </a:r>
            <a:endParaRPr sz="1800" b="1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6278880" cy="5486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472440" y="2014547"/>
            <a:ext cx="627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131A"/>
                </a:solidFill>
                <a:latin typeface="Segoe UI"/>
              </a:rPr>
              <a:t>40%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74519"/>
            <a:ext cx="3924300" cy="5486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70960" y="2001011"/>
            <a:ext cx="39243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131A"/>
                </a:solidFill>
                <a:latin typeface="Segoe UI"/>
              </a:rPr>
              <a:t>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72300" y="1874519"/>
            <a:ext cx="3139440" cy="54864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4610" y="2001011"/>
            <a:ext cx="3139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131A"/>
                </a:solidFill>
                <a:latin typeface="Segoe UI"/>
              </a:rP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92540" y="1874519"/>
            <a:ext cx="2354580" cy="5486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2540" y="2014832"/>
            <a:ext cx="23545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131A"/>
                </a:solidFill>
                <a:latin typeface="Segoe UI"/>
              </a:rPr>
              <a:t>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2286000" cy="11887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228600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67919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B4FA"/>
                </a:solidFill>
                <a:latin typeface="Segoe UI"/>
              </a:rPr>
              <a:t>Hardware R&amp;D (40%)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Larger FPGA port, ASIC feasibility,
dev boards</a:t>
            </a:r>
            <a:endParaRPr lang="en-US" sz="1000" b="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chemeClr val="bg1"/>
                </a:solidFill>
                <a:latin typeface="Segoe UI"/>
              </a:rPr>
              <a:t>$900K - $1.4M</a:t>
            </a:r>
            <a:endParaRPr sz="1000" b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41102" y="2606040"/>
            <a:ext cx="2286000" cy="11887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41102" y="2606040"/>
            <a:ext cx="2286000" cy="381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2542" y="267919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6E3A1"/>
                </a:solidFill>
                <a:latin typeface="Segoe UI"/>
              </a:rPr>
              <a:t>SDK &amp; Platform (25%)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2542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Production hardening, vertical
modules, docs</a:t>
            </a:r>
            <a:endParaRPr lang="en-US" sz="1000" b="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chemeClr val="bg1"/>
                </a:solidFill>
                <a:latin typeface="Segoe UI"/>
              </a:rPr>
              <a:t>$500K - $900K</a:t>
            </a:r>
            <a:endParaRPr sz="1000" b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01111" y="2606040"/>
            <a:ext cx="2286000" cy="11887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01111" y="2606040"/>
            <a:ext cx="2286000" cy="381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2551" y="267919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BA6F7"/>
                </a:solidFill>
                <a:latin typeface="Segoe UI"/>
              </a:rPr>
              <a:t>Business Dev (20%)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2551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Patent prosecution, partnerships,
pilot support</a:t>
            </a:r>
            <a:endParaRPr lang="en-US" sz="1000" b="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chemeClr val="bg1"/>
                </a:solidFill>
                <a:latin typeface="Segoe UI"/>
              </a:rPr>
              <a:t>$400K - $700K</a:t>
            </a:r>
            <a:endParaRPr sz="1000" b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961120" y="2606040"/>
            <a:ext cx="2286000" cy="11887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61120" y="2606040"/>
            <a:ext cx="2286000" cy="381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267919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9E2AF"/>
                </a:solidFill>
                <a:latin typeface="Segoe UI"/>
              </a:rPr>
              <a:t>Team (15%)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FPGA engineer,
application engineer</a:t>
            </a:r>
            <a:endParaRPr lang="en-US" sz="1000" b="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chemeClr val="bg1"/>
                </a:solidFill>
                <a:latin typeface="Segoe UI"/>
              </a:rPr>
              <a:t>$400K - $600K</a:t>
            </a:r>
            <a:endParaRPr sz="1000" b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2182" y="428050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chemeClr val="bg1"/>
                </a:solidFill>
                <a:latin typeface="Segoe UI"/>
              </a:rPr>
              <a:t>Key Milestones (Seed Stage)</a:t>
            </a:r>
          </a:p>
        </p:txBody>
      </p:sp>
      <p:sp>
        <p:nvSpPr>
          <p:cNvPr id="31" name="Oval 30"/>
          <p:cNvSpPr/>
          <p:nvPr/>
        </p:nvSpPr>
        <p:spPr>
          <a:xfrm>
            <a:off x="835062" y="471942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5062" y="4701132"/>
            <a:ext cx="1645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131A"/>
                </a:solidFill>
                <a:latin typeface="Segoe U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5102" y="469198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chemeClr val="bg1"/>
                </a:solidFill>
                <a:latin typeface="Segoe UI"/>
              </a:rPr>
              <a:t>Port to mid-range FPGA: N=64+ banks, &gt;4 Gops/s</a:t>
            </a:r>
          </a:p>
        </p:txBody>
      </p:sp>
      <p:sp>
        <p:nvSpPr>
          <p:cNvPr id="34" name="Oval 33"/>
          <p:cNvSpPr/>
          <p:nvPr/>
        </p:nvSpPr>
        <p:spPr>
          <a:xfrm>
            <a:off x="835062" y="5012028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5062" y="4993740"/>
            <a:ext cx="1645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131A"/>
                </a:solidFill>
                <a:latin typeface="Segoe U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5102" y="4984596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chemeClr val="bg1"/>
                </a:solidFill>
                <a:latin typeface="Segoe UI"/>
              </a:rPr>
              <a:t>Land 2 pilot design wins (HFT + edge AI)</a:t>
            </a:r>
          </a:p>
        </p:txBody>
      </p:sp>
      <p:sp>
        <p:nvSpPr>
          <p:cNvPr id="37" name="Oval 36"/>
          <p:cNvSpPr/>
          <p:nvPr/>
        </p:nvSpPr>
        <p:spPr>
          <a:xfrm>
            <a:off x="835062" y="5304636"/>
            <a:ext cx="164592" cy="164592"/>
          </a:xfrm>
          <a:prstGeom prst="ellipse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5062" y="5286348"/>
            <a:ext cx="1645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131A"/>
                </a:solidFill>
                <a:latin typeface="Sego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5102" y="5277204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bg1"/>
                </a:solidFill>
                <a:latin typeface="Segoe UI"/>
              </a:rPr>
              <a:t>Complete ASIC feasibility study with foundry</a:t>
            </a:r>
          </a:p>
        </p:txBody>
      </p:sp>
      <p:sp>
        <p:nvSpPr>
          <p:cNvPr id="40" name="Oval 39"/>
          <p:cNvSpPr/>
          <p:nvPr/>
        </p:nvSpPr>
        <p:spPr>
          <a:xfrm>
            <a:off x="835062" y="5597244"/>
            <a:ext cx="164592" cy="164592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5062" y="5578956"/>
            <a:ext cx="1645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131A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5102" y="556981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bg1"/>
                </a:solidFill>
                <a:latin typeface="Segoe UI"/>
              </a:rPr>
              <a:t>Grow SDK community to 500+ developers</a:t>
            </a:r>
          </a:p>
        </p:txBody>
      </p:sp>
      <p:sp>
        <p:nvSpPr>
          <p:cNvPr id="43" name="Oval 42"/>
          <p:cNvSpPr/>
          <p:nvPr/>
        </p:nvSpPr>
        <p:spPr>
          <a:xfrm>
            <a:off x="835062" y="5889852"/>
            <a:ext cx="164592" cy="164592"/>
          </a:xfrm>
          <a:prstGeom prst="ellipse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5062" y="5871564"/>
            <a:ext cx="1645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3131A"/>
                </a:solidFill>
                <a:latin typeface="Segoe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5102" y="58624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chemeClr val="bg1"/>
                </a:solidFill>
                <a:latin typeface="Segoe UI"/>
              </a:rPr>
              <a:t>File 2+ continuation patents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5999" y="4008511"/>
            <a:ext cx="5181295" cy="2501419"/>
          </a:xfrm>
          <a:prstGeom prst="roundRect">
            <a:avLst>
              <a:gd name="adj" fmla="val 3000"/>
            </a:avLst>
          </a:prstGeom>
          <a:solidFill>
            <a:srgbClr val="1A2A1A"/>
          </a:solidFill>
          <a:ln w="127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407157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chemeClr val="bg1"/>
                </a:solidFill>
                <a:latin typeface="Segoe UI"/>
              </a:rPr>
              <a:t>Why This Is Fundable Now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444" y="438912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A6E3A1"/>
                </a:solidFill>
                <a:latin typeface="Segoe UI"/>
              </a:rPr>
              <a:t>✓  Technical risk retired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5044" y="4590288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92 proofs + working silicon</a:t>
            </a:r>
            <a:r>
              <a:rPr lang="en-US" sz="1000" b="0" dirty="0">
                <a:solidFill>
                  <a:schemeClr val="bg1"/>
                </a:solidFill>
                <a:latin typeface="Segoe UI"/>
              </a:rPr>
              <a:t> (Tang Nano 9K – FPGA)</a:t>
            </a:r>
            <a:r>
              <a:rPr sz="1000" b="0" dirty="0">
                <a:solidFill>
                  <a:schemeClr val="bg1"/>
                </a:solidFill>
                <a:latin typeface="Segoe UI"/>
              </a:rPr>
              <a:t> + 353 </a:t>
            </a:r>
            <a:r>
              <a:rPr lang="en-US" sz="1000" b="0" dirty="0">
                <a:solidFill>
                  <a:schemeClr val="bg1"/>
                </a:solidFill>
                <a:latin typeface="Segoe UI"/>
              </a:rPr>
              <a:t>validation </a:t>
            </a:r>
            <a:r>
              <a:rPr sz="1000" b="0" dirty="0">
                <a:solidFill>
                  <a:schemeClr val="bg1"/>
                </a:solidFill>
                <a:latin typeface="Segoe UI"/>
              </a:rPr>
              <a:t>tests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6444" y="4828032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A6E3A1"/>
                </a:solidFill>
                <a:latin typeface="Segoe UI"/>
              </a:rPr>
              <a:t>✓  Market timing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5044" y="502920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$300B+ hyperscaler AI capex cycle in progress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6444" y="526040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A6E3A1"/>
                </a:solidFill>
                <a:latin typeface="Segoe UI"/>
              </a:rPr>
              <a:t>✓  Capital efficiency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5044" y="5461568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chemeClr val="bg1"/>
                </a:solidFill>
                <a:latin typeface="Segoe UI"/>
              </a:rPr>
              <a:t>~$225 total spend → 1 Gops/s hardware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6444" y="5690168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A6E3A1"/>
                </a:solidFill>
                <a:latin typeface="Segoe UI"/>
              </a:rPr>
              <a:t>✓  Clear IP moat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5044" y="5891336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dirty="0">
                <a:solidFill>
                  <a:schemeClr val="bg1"/>
                </a:solidFill>
                <a:latin typeface="Segoe UI"/>
              </a:rPr>
              <a:t>Provisional </a:t>
            </a:r>
            <a:r>
              <a:rPr sz="1000" b="0" dirty="0">
                <a:solidFill>
                  <a:schemeClr val="bg1"/>
                </a:solidFill>
                <a:latin typeface="Segoe UI"/>
              </a:rPr>
              <a:t>Patent pending + formal verification barrier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852" y="6298692"/>
            <a:ext cx="5486400" cy="45720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chemeClr val="bg1"/>
                </a:solidFill>
                <a:latin typeface="Segoe UI"/>
              </a:rPr>
              <a:t>ATOMiK — Delta-State Computing in Silicon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0" y="61325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chemeClr val="bg1"/>
                </a:solidFill>
                <a:latin typeface="Segoe UI"/>
              </a:rPr>
              <a:t>$225 to 1 Gops/s. Imagine what funded execution looks like.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49C"/>
                </a:solidFill>
                <a:latin typeface="Segoe U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89B4FA"/>
                </a:solidFill>
                <a:latin typeface="Segoe UI"/>
              </a:rPr>
              <a:t>Why ATOMiK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100000"/>
            <a:ext cx="10972800" cy="25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0000" y="1400000"/>
            <a:ext cx="3200000" cy="24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55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6E3A1"/>
                </a:solidFill>
                <a:latin typeface="Segoe UI"/>
              </a:rPr>
              <a:t>Mathematically
Inevitable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00000" y="2100000"/>
            <a:ext cx="2400000" cy="2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00000"/>
            <a:ext cx="2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92 Lean4 proofs establish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that delta-state XOR algebra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is the optimal structure for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parallel state accumulation.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3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6E3A1"/>
                </a:solidFill>
                <a:latin typeface="Segoe UI"/>
              </a:rPr>
              <a:t>92 proofs, 0 sorry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0000" y="1400000"/>
            <a:ext cx="3200000" cy="24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0" y="155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9B4FA"/>
                </a:solidFill>
                <a:latin typeface="Segoe UI"/>
              </a:rPr>
              <a:t>Hardware
Validated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00000" y="2100000"/>
            <a:ext cx="2400000" cy="2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00" y="2200000"/>
            <a:ext cx="2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1,056 Mops/s on a $13.50 FPGA.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80/80 tests passing. Real silicon.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95-100% memory traffic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reduction measured.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33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9B4FA"/>
                </a:solidFill>
                <a:latin typeface="Segoe UI"/>
              </a:rPr>
              <a:t>1,056 Mops/s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000" y="1400000"/>
            <a:ext cx="3200000" cy="2400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0000" y="155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BA6F7"/>
                </a:solidFill>
                <a:latin typeface="Segoe UI"/>
              </a:rPr>
              <a:t>Timing
Is Right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0000" y="2100000"/>
            <a:ext cx="2400000" cy="20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0" y="2200000"/>
            <a:ext cx="2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AI inference crisis, memory wall,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edge constraints, HBM cost spiral.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$280B VC + $300B+ hyperscaler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DD6F4"/>
                </a:solidFill>
                <a:latin typeface="Segoe UI"/>
              </a:rPr>
              <a:t>capex seeking solutions.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0000" y="33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BA6F7"/>
                </a:solidFill>
                <a:latin typeface="Segoe UI"/>
              </a:rPr>
              <a:t>$300B+ AI capex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9B4FA"/>
                </a:solidFill>
                <a:latin typeface="Segoe UI"/>
              </a:rPr>
              <a:t>Invitation to Investors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0" y="460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DD6F4"/>
                </a:solidFill>
                <a:latin typeface="Segoe UI"/>
              </a:rPr>
              <a:t>✓  Review the proofs — Every theorem is in the repository, machine-verified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0000" y="492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DD6F4"/>
                </a:solidFill>
                <a:latin typeface="Segoe UI"/>
              </a:rPr>
              <a:t>✓  Run the hardware — The demo runs on $13.50 boards — we’ll ship you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0000" y="5240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DD6F4"/>
                </a:solidFill>
                <a:latin typeface="Segoe UI"/>
              </a:rPr>
              <a:t>✓  Examine the data — Every metric traces to a source file with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9B4FA"/>
                </a:solidFill>
                <a:latin typeface="Segoe UI"/>
              </a:rPr>
              <a:t>ATOMiK — Delta-State Computing in Silicon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5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49C"/>
                </a:solidFill>
                <a:latin typeface="Segoe UI"/>
              </a:rPr>
              <a:t>Patent Pending  •  matt@atomik.dev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9224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849C"/>
                </a:solidFill>
                <a:latin typeface="Segoe UI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385841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1713</Words>
  <Application>Microsoft Office PowerPoint</Application>
  <PresentationFormat>Widescreen</PresentationFormat>
  <Paragraphs>365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Matthew Rockwell</cp:lastModifiedBy>
  <cp:revision>1</cp:revision>
  <dcterms:created xsi:type="dcterms:W3CDTF">2013-01-27T09:14:16Z</dcterms:created>
  <dcterms:modified xsi:type="dcterms:W3CDTF">2026-02-03T20:42:47Z</dcterms:modified>
  <cp:category/>
</cp:coreProperties>
</file>