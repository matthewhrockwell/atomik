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67" r:id="rId4"/>
    <p:sldId id="258" r:id="rId5"/>
    <p:sldId id="261" r:id="rId6"/>
    <p:sldId id="259" r:id="rId7"/>
    <p:sldId id="266" r:id="rId8"/>
    <p:sldId id="262" r:id="rId9"/>
    <p:sldId id="260" r:id="rId10"/>
    <p:sldId id="263" r:id="rId11"/>
    <p:sldId id="264" r:id="rId12"/>
    <p:sldId id="268" r:id="rId13"/>
    <p:sldId id="269" r:id="rId14"/>
    <p:sldId id="265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6141F78-074F-4D7D-9A53-A3CE91297885}" v="299" dt="2026-03-10T00:50:20.10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7" d="100"/>
          <a:sy n="97" d="100"/>
        </p:scale>
        <p:origin x="84" y="30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microsoft.com/office/2015/10/relationships/revisionInfo" Target="revisionInfo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16EB17-4F0B-4A55-9BAD-374C917578F6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61671F2-E488-4C08-84D7-2A0DC4C16F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3056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Introduction/Title 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1671F2-E488-4C08-84D7-2A0DC4C16FC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4750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Problem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1671F2-E488-4C08-84D7-2A0DC4C16FC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42620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Solution – How Product Solves Problem (Ideally with narrative) [Placeholder]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1671F2-E488-4C08-84D7-2A0DC4C16FC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964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Now?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1671F2-E488-4C08-84D7-2A0DC4C16FC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19533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Market Opportunity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1671F2-E488-4C08-84D7-2A0DC4C16FC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74471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Product/Technology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1671F2-E488-4C08-84D7-2A0DC4C16FC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04892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Product/Technology – Visuals, Screenshots, Demos [Placeholder]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1671F2-E488-4C08-84D7-2A0DC4C16FC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0893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Business Model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1671F2-E488-4C08-84D7-2A0DC4C16FC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53197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Traction/Milestones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1671F2-E488-4C08-84D7-2A0DC4C16FC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826995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Competition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1671F2-E488-4C08-84D7-2A0DC4C16FC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650130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Marketing/Growth Strategy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1671F2-E488-4C08-84D7-2A0DC4C16FC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210261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Team – Highlights key team members’ experience and why they are best suited to execute [Placeholder]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1671F2-E488-4C08-84D7-2A0DC4C16FC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822747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Financial Projections: 3-5 year summary of revenue, expenses and profitability [Placeholder]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1671F2-E488-4C08-84D7-2A0DC4C16FCC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40667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Ask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1671F2-E488-4C08-84D7-2A0DC4C16FCC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56769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1671F2-E488-4C08-84D7-2A0DC4C16FCC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491773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1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448495" y="-1371600"/>
            <a:ext cx="4572000" cy="4572000"/>
          </a:xfrm>
          <a:prstGeom prst="ellipse">
            <a:avLst/>
          </a:prstGeom>
          <a:solidFill>
            <a:srgbClr val="1F27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1828800" y="4114800"/>
            <a:ext cx="4572000" cy="4572000"/>
          </a:xfrm>
          <a:prstGeom prst="ellipse">
            <a:avLst/>
          </a:prstGeom>
          <a:solidFill>
            <a:srgbClr val="1F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0848" y="321385"/>
            <a:ext cx="91440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8200"/>
              </a:lnSpc>
              <a:spcBef>
                <a:spcPts val="0"/>
              </a:spcBef>
              <a:spcAft>
                <a:spcPts val="0"/>
              </a:spcAft>
            </a:pPr>
            <a:r>
              <a:rPr sz="7200" b="1">
                <a:solidFill>
                  <a:srgbClr val="89B4FA"/>
                </a:solidFill>
                <a:latin typeface="Segoe UI"/>
              </a:rPr>
              <a:t>ATOMiK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0848" y="1314450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dirty="0">
                <a:solidFill>
                  <a:srgbClr val="CBA6F7"/>
                </a:solidFill>
                <a:latin typeface="Segoe UI"/>
              </a:rPr>
              <a:t>Delta-State Execution for Real-Time Embedded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0848" y="2310877"/>
            <a:ext cx="914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5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dirty="0">
                <a:solidFill>
                  <a:srgbClr val="A6E3A1"/>
                </a:solidFill>
                <a:latin typeface="Segoe UI"/>
              </a:rPr>
              <a:t>Accumulate changes, not full state — in hardware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-9000000" y="-9000000"/>
            <a:ext cx="7315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dirty="0">
                <a:solidFill>
                  <a:schemeClr val="bg1"/>
                </a:solidFill>
                <a:latin typeface="Segoe UI"/>
              </a:rPr>
              <a:t/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-9000000" y="-9000000"/>
            <a:ext cx="2286000" cy="1005840"/>
          </a:xfrm>
          <a:prstGeom prst="roundRect">
            <a:avLst>
              <a:gd name="adj" fmla="val 5000"/>
            </a:avLst>
          </a:prstGeom>
          <a:solidFill>
            <a:srgbClr val="1E1E2E"/>
          </a:solidFill>
          <a:ln w="12700"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-9000000" y="-9000000"/>
            <a:ext cx="1920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32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dirty="0">
                <a:solidFill>
                  <a:srgbClr val="A6E3A1"/>
                </a:solidFill>
                <a:latin typeface="Segoe U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-9000000" y="-9000000"/>
            <a:ext cx="19202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dirty="0">
                <a:solidFill>
                  <a:schemeClr val="bg1"/>
                </a:solidFill>
                <a:latin typeface="Segoe UI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-9000000" y="-9000000"/>
            <a:ext cx="2286000" cy="1005840"/>
          </a:xfrm>
          <a:prstGeom prst="roundRect">
            <a:avLst>
              <a:gd name="adj" fmla="val 5000"/>
            </a:avLst>
          </a:prstGeom>
          <a:solidFill>
            <a:srgbClr val="1E1E2E"/>
          </a:solidFill>
          <a:ln w="12700"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-9000000" y="-9000000"/>
            <a:ext cx="1920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32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dirty="0">
                <a:solidFill>
                  <a:srgbClr val="89B4FA"/>
                </a:solidFill>
                <a:latin typeface="Segoe UI"/>
              </a:rPr>
              <a:t/>
            </a:r>
            <a:endParaRPr sz="2800" b="1" dirty="0">
              <a:solidFill>
                <a:srgbClr val="89B4FA"/>
              </a:solidFill>
              <a:latin typeface="Segoe U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-9000000" y="-9000000"/>
            <a:ext cx="19202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b="0" dirty="0">
                <a:solidFill>
                  <a:schemeClr val="bg1"/>
                </a:solidFill>
                <a:latin typeface="Segoe UI"/>
              </a:rPr>
              <a:t/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-9000000" y="-9000000"/>
            <a:ext cx="2286000" cy="1005840"/>
          </a:xfrm>
          <a:prstGeom prst="roundRect">
            <a:avLst>
              <a:gd name="adj" fmla="val 5000"/>
            </a:avLst>
          </a:prstGeom>
          <a:solidFill>
            <a:srgbClr val="1E1E2E"/>
          </a:solidFill>
          <a:ln w="12700"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-9000000" y="-9000000"/>
            <a:ext cx="1920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32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dirty="0">
                <a:solidFill>
                  <a:srgbClr val="CBA6F7"/>
                </a:solidFill>
                <a:latin typeface="Segoe UI"/>
              </a:rPr>
              <a:t/>
            </a:r>
            <a:endParaRPr sz="2800" b="1" dirty="0">
              <a:solidFill>
                <a:srgbClr val="CBA6F7"/>
              </a:solidFill>
              <a:latin typeface="Segoe U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-9000000" y="-9000000"/>
            <a:ext cx="19202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b="0" dirty="0">
                <a:solidFill>
                  <a:schemeClr val="bg1"/>
                </a:solidFill>
                <a:latin typeface="Segoe UI"/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-9000000" y="-9000000"/>
            <a:ext cx="2286000" cy="1005840"/>
          </a:xfrm>
          <a:prstGeom prst="roundRect">
            <a:avLst>
              <a:gd name="adj" fmla="val 5000"/>
            </a:avLst>
          </a:prstGeom>
          <a:solidFill>
            <a:srgbClr val="1E1E2E"/>
          </a:solidFill>
          <a:ln w="12700"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-9000000" y="-9000000"/>
            <a:ext cx="1920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32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dirty="0">
                <a:solidFill>
                  <a:srgbClr val="F9E2AF"/>
                </a:solidFill>
                <a:latin typeface="Segoe UI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-9000000" y="-9000000"/>
            <a:ext cx="19202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b="0" dirty="0">
                <a:solidFill>
                  <a:schemeClr val="bg1"/>
                </a:solidFill>
                <a:latin typeface="Segoe UI"/>
              </a:rPr>
              <a:t/>
            </a:r>
            <a:endParaRPr sz="1100" b="0" dirty="0">
              <a:solidFill>
                <a:schemeClr val="bg1"/>
              </a:solidFill>
              <a:latin typeface="Segoe U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9749118" y="6629400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F849C"/>
                </a:solidFill>
                <a:latin typeface="Segoe UI"/>
              </a:rPr>
              <a:t>Confidential — For Investor Use Only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77295" y="6492240"/>
            <a:ext cx="731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F849C"/>
                </a:solidFill>
                <a:latin typeface="Segoe UI"/>
              </a:rPr>
              <a:t>1/15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F1A8A962-12C9-7356-E89F-372FA2904C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603055" y="1887294"/>
            <a:ext cx="2606040" cy="7007258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70A1005D-65CF-A8ED-DAC8-03221AC798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000000" y="-5000000"/>
            <a:ext cx="13326035" cy="3654458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8EE4E9B9-DBD8-F328-E3E6-E377762041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8710" y="-120349"/>
            <a:ext cx="2606040" cy="7007258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0DD58A02-0623-905F-DF05-119B9F8FF8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-3654458"/>
            <a:ext cx="13326035" cy="365445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1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41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89B4FA"/>
                </a:solidFill>
                <a:latin typeface="Segoe U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695" y="885475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dirty="0">
                <a:solidFill>
                  <a:schemeClr val="bg1"/>
                </a:solidFill>
                <a:latin typeface="Segoe UI"/>
              </a:rPr>
              <a:t>Embedded systems repeatedly copy and reconstruct large state when only small portions change.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904" y="1280160"/>
            <a:ext cx="10972800" cy="2540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47164" y="1813559"/>
            <a:ext cx="5506569" cy="640080"/>
          </a:xfrm>
          <a:prstGeom prst="rect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937722" y="1984187"/>
            <a:ext cx="367104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13131A"/>
                </a:solidFill>
                <a:latin typeface="Segoe UI"/>
              </a:rPr>
              <a:t>DATA MOVEMENT  60–90%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733" y="1813559"/>
            <a:ext cx="611841" cy="640080"/>
          </a:xfrm>
          <a:prstGeom prst="rect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53733" y="1920239"/>
            <a:ext cx="611841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94248" y="2545079"/>
            <a:ext cx="6468036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dirty="0">
                <a:solidFill>
                  <a:srgbClr val="A6E3A1"/>
                </a:solidFill>
                <a:latin typeface="Segoe UI"/>
              </a:rPr>
              <a:t>Compute (10–40%)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7165" y="2545079"/>
            <a:ext cx="3671046" cy="274320"/>
          </a:xfrm>
          <a:prstGeom prst="rect">
            <a:avLst/>
          </a:prstGeom>
          <a:noFill/>
        </p:spPr>
        <p:txBody>
          <a:bodyPr wrap="square" lIns="0"/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dirty="0">
                <a:solidFill>
                  <a:srgbClr val="F38BA8"/>
                </a:solidFill>
                <a:latin typeface="Segoe UI"/>
              </a:rPr>
              <a:t>Data movement (60–90%)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7165" y="3302449"/>
            <a:ext cx="3108960" cy="1280160"/>
          </a:xfrm>
          <a:prstGeom prst="roundRect">
            <a:avLst>
              <a:gd name="adj" fmla="val 5000"/>
            </a:avLst>
          </a:prstGeom>
          <a:solidFill>
            <a:srgbClr val="1E1E2E"/>
          </a:solidFill>
          <a:ln w="12700"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30045" y="3469850"/>
            <a:ext cx="2743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36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dirty="0">
                <a:solidFill>
                  <a:srgbClr val="F38BA8"/>
                </a:solidFill>
                <a:latin typeface="Segoe UI"/>
              </a:rPr>
              <a:t>1,000×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0045" y="4000202"/>
            <a:ext cx="27432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dirty="0">
                <a:solidFill>
                  <a:schemeClr val="bg1"/>
                </a:solidFill>
                <a:latin typeface="Segoe UI"/>
              </a:rPr>
              <a:t>Energy: off-chip access
vs floating-point op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30445" y="3302449"/>
            <a:ext cx="3108960" cy="1280160"/>
          </a:xfrm>
          <a:prstGeom prst="roundRect">
            <a:avLst>
              <a:gd name="adj" fmla="val 5000"/>
            </a:avLst>
          </a:prstGeom>
          <a:solidFill>
            <a:srgbClr val="1E1E2E"/>
          </a:solidFill>
          <a:ln w="12700"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13325" y="3451623"/>
            <a:ext cx="2743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36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dirty="0">
                <a:solidFill>
                  <a:srgbClr val="A6E3A1"/>
                </a:solidFill>
                <a:latin typeface="Segoe UI"/>
              </a:rPr>
              <a:t>30,740×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3325" y="3981975"/>
            <a:ext cx="27432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dirty="0">
                <a:solidFill>
                  <a:schemeClr val="bg1"/>
                </a:solidFill>
                <a:latin typeface="Segoe UI"/>
              </a:rPr>
              <a:t>Memory traffic reduction
(ATOMiK vs traditional, 64×64 matrix)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-9000000" y="-9000000"/>
            <a:ext cx="3108960" cy="1280160"/>
          </a:xfrm>
          <a:prstGeom prst="roundRect">
            <a:avLst>
              <a:gd name="adj" fmla="val 5000"/>
            </a:avLst>
          </a:prstGeom>
          <a:solidFill>
            <a:srgbClr val="1E1E2E"/>
          </a:solidFill>
          <a:ln w="12700"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-9000000" y="-9000000"/>
            <a:ext cx="2743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36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dirty="0">
                <a:solidFill>
                  <a:srgbClr val="F9E2AF"/>
                </a:solidFill>
                <a:latin typeface="Segoe UI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-9000000" y="-9000000"/>
            <a:ext cx="27432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dirty="0">
                <a:solidFill>
                  <a:schemeClr val="bg1"/>
                </a:solidFill>
                <a:latin typeface="Segoe UI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1695" y="5058125"/>
            <a:ext cx="10515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chemeClr val="bg1"/>
                </a:solidFill>
                <a:latin typeface="Segoe UI"/>
              </a:rPr>
              <a:t>Root cause: full-state memory operations. Every update copies the entire structure.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1695" y="5515325"/>
            <a:ext cx="105156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chemeClr val="bg1"/>
                </a:solidFill>
                <a:latin typeface="Segoe UI"/>
              </a:rPr>
              <a:t>A sensor fusion node tracking 50 inputs moves the entire state buffer every cycle.</a:t>
            </a:r>
          </a:p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chemeClr val="bg1"/>
                </a:solidFill>
                <a:latin typeface="Segoe UI"/>
              </a:rPr>
              <a:t>A 64×64 matrix update moves 32 KB. The cost scales with state size, not change size.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0" y="6583680"/>
            <a:ext cx="7315200" cy="274320"/>
          </a:xfrm>
          <a:prstGeom prst="rect">
            <a:avLst/>
          </a:prstGeom>
          <a:noFill/>
        </p:spPr>
        <p:txBody>
          <a:bodyPr wrap="square" anchor="b"/>
          <a:lstStyle/>
          <a:p>
            <a:pPr algn="l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dirty="0">
                <a:solidFill>
                  <a:srgbClr val="7F849C"/>
                </a:solidFill>
                <a:latin typeface="Segoe UI"/>
              </a:rPr>
              <a:t>Sources: DARPA/JASON, Intel ISSCC, TrendForce, McKinsey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7295" y="6492240"/>
            <a:ext cx="731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F849C"/>
                </a:solidFill>
                <a:latin typeface="Segoe UI"/>
              </a:rPr>
              <a:t>2/15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1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9B4FA"/>
                </a:solidFill>
                <a:latin typeface="Segoe UI"/>
              </a:rP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85475"/>
            <a:ext cx="105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DD6F4"/>
                </a:solidFill>
                <a:latin typeface="Segoe UI"/>
              </a:rPr>
              <a:t>Accumulate deltas, not full state. Reconstruct on demand: current_state = initial_state ⊕ deltas.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904" y="1280160"/>
            <a:ext cx="10972800" cy="2540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500000"/>
            <a:ext cx="3400000" cy="3800000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81520" y="1650000"/>
            <a:ext cx="31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38BA8"/>
                </a:solidFill>
                <a:latin typeface="Segoe UI"/>
              </a:rPr>
              <a:t>Lock Contention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1520" y="2050000"/>
            <a:ext cx="31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CDD6F4"/>
                </a:solidFill>
                <a:latin typeface="Segoe UI"/>
              </a:rPr>
              <a:t>Traditional mutable state requires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CDD6F4"/>
                </a:solidFill>
                <a:latin typeface="Segoe UI"/>
              </a:rPr>
              <a:t>locks for concurrent access.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CDD6F4"/>
                </a:solidFill>
                <a:latin typeface="Segoe UI"/>
              </a:rPr>
              <a:t>Locks serialize execution,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CDD6F4"/>
                </a:solidFill>
                <a:latin typeface="Segoe UI"/>
              </a:rPr>
              <a:t>destroying parallelism.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31520" y="3300000"/>
            <a:ext cx="2800000" cy="200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81520" y="3400000"/>
            <a:ext cx="31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A6E3A1"/>
                </a:solidFill>
                <a:latin typeface="Segoe UI"/>
              </a:rPr>
              <a:t>ATOMiK Answer: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1520" y="3650000"/>
            <a:ext cx="31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89B4FA"/>
                </a:solidFill>
                <a:latin typeface="Segoe UI"/>
              </a:rPr>
              <a:t>XOR commutativity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1520" y="3950000"/>
            <a:ext cx="31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A6E3A1"/>
                </a:solidFill>
                <a:latin typeface="Segoe UI"/>
              </a:rPr>
              <a:t>δ₁ ⊕ δ₂ = δ₂ ⊕ δ₁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1520" y="4350000"/>
            <a:ext cx="31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7F849C"/>
                </a:solidFill>
                <a:latin typeface="Segoe UI"/>
              </a:rPr>
              <a:t>Order is irrelevant.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7F849C"/>
                </a:solidFill>
                <a:latin typeface="Segoe UI"/>
              </a:rPr>
              <a:t>No locks needed.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1520" y="1500000"/>
            <a:ext cx="3400000" cy="3800000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81520" y="1650000"/>
            <a:ext cx="31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9E2AF"/>
                </a:solidFill>
                <a:latin typeface="Segoe UI"/>
              </a:rPr>
              <a:t>No Native Undo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1520" y="2050000"/>
            <a:ext cx="31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CDD6F4"/>
                </a:solidFill>
                <a:latin typeface="Segoe UI"/>
              </a:rPr>
              <a:t>Checkpoint/rollback journals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CDD6F4"/>
                </a:solidFill>
                <a:latin typeface="Segoe UI"/>
              </a:rPr>
              <a:t>add latency, complexity, and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CDD6F4"/>
                </a:solidFill>
                <a:latin typeface="Segoe UI"/>
              </a:rPr>
              <a:t>storage overhead. Financial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CDD6F4"/>
                </a:solidFill>
                <a:latin typeface="Segoe UI"/>
              </a:rPr>
              <a:t>systems spend millions.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1520" y="3300000"/>
            <a:ext cx="2800000" cy="200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81520" y="3400000"/>
            <a:ext cx="31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A6E3A1"/>
                </a:solidFill>
                <a:latin typeface="Segoe UI"/>
              </a:rPr>
              <a:t>ATOMiK Answer: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1520" y="3650000"/>
            <a:ext cx="31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89B4FA"/>
                </a:solidFill>
                <a:latin typeface="Segoe UI"/>
              </a:rPr>
              <a:t>Self-inverse property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81520" y="3950000"/>
            <a:ext cx="31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A6E3A1"/>
                </a:solidFill>
                <a:latin typeface="Segoe UI"/>
              </a:rPr>
              <a:t>δ ⊕ δ = 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1520" y="4350000"/>
            <a:ext cx="31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7F849C"/>
                </a:solidFill>
                <a:latin typeface="Segoe UI"/>
              </a:rPr>
              <a:t>Every operation is its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7F849C"/>
                </a:solidFill>
                <a:latin typeface="Segoe UI"/>
              </a:rPr>
              <a:t>own undo. Zero cost.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31520" y="1500000"/>
            <a:ext cx="3400000" cy="3800000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81520" y="1650000"/>
            <a:ext cx="31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AB387"/>
                </a:solidFill>
                <a:latin typeface="Segoe UI"/>
              </a:rPr>
              <a:t>Scaling Wall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1520" y="2050000"/>
            <a:ext cx="31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CDD6F4"/>
                </a:solidFill>
                <a:latin typeface="Segoe UI"/>
              </a:rPr>
              <a:t>Adding cores yields diminishing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CDD6F4"/>
                </a:solidFill>
                <a:latin typeface="Segoe UI"/>
              </a:rPr>
              <a:t>returns from shared-state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CDD6F4"/>
                </a:solidFill>
                <a:latin typeface="Segoe UI"/>
              </a:rPr>
              <a:t>synchronization overhead.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CDD6F4"/>
                </a:solidFill>
                <a:latin typeface="Segoe UI"/>
              </a:rPr>
              <a:t>Amdahl's Law limits speedup.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31520" y="3300000"/>
            <a:ext cx="2800000" cy="200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81520" y="3400000"/>
            <a:ext cx="31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A6E3A1"/>
                </a:solidFill>
                <a:latin typeface="Segoe UI"/>
              </a:rPr>
              <a:t>ATOMiK Answer: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1520" y="3650000"/>
            <a:ext cx="31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89B4FA"/>
                </a:solidFill>
                <a:latin typeface="Segoe UI"/>
              </a:rPr>
              <a:t>Linear scaling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81520" y="3950000"/>
            <a:ext cx="31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A6E3A1"/>
                </a:solidFill>
                <a:latin typeface="Segoe UI"/>
              </a:rPr>
              <a:t>N banks = N× throughput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81520" y="4350000"/>
            <a:ext cx="31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7F849C"/>
                </a:solidFill>
                <a:latin typeface="Segoe UI"/>
              </a:rPr>
              <a:t>Perfect 16× at N=16.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7F849C"/>
                </a:solidFill>
                <a:latin typeface="Segoe UI"/>
              </a:rPr>
              <a:t>Parallel efficiency: 0.85.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600000"/>
            <a:ext cx="105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7F849C"/>
                </a:solidFill>
                <a:latin typeface="Segoe UI"/>
              </a:rPr>
              <a:t>All three properties formally proven (92 Lean4 theorems, 0 unproven axioms) and hardware-validated on two production SoCs.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77295" y="6492240"/>
            <a:ext cx="7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7F849C"/>
                </a:solidFill>
                <a:latin typeface="Segoe UI"/>
              </a:rPr>
              <a:t>3/15</a:t>
            </a:r>
          </a:p>
        </p:txBody>
      </p:sp>
    </p:spTree>
    <p:extLst>
      <p:ext uri="{BB962C8B-B14F-4D97-AF65-F5344CB8AC3E}">
        <p14:creationId xmlns:p14="http://schemas.microsoft.com/office/powerpoint/2010/main" val="1036917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1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41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89B4FA"/>
                </a:solidFill>
                <a:latin typeface="Segoe UI"/>
              </a:rPr>
              <a:t>Why Now: Three Edge Tailwinds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" y="960120"/>
            <a:ext cx="10972800" cy="2540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381013"/>
            <a:ext cx="2468880" cy="3474720"/>
          </a:xfrm>
          <a:prstGeom prst="roundRect">
            <a:avLst>
              <a:gd name="adj" fmla="val 5000"/>
            </a:avLst>
          </a:prstGeom>
          <a:solidFill>
            <a:srgbClr val="1E1E2E"/>
          </a:solidFill>
          <a:ln w="12700"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1381013"/>
            <a:ext cx="2468880" cy="50800"/>
          </a:xfrm>
          <a:prstGeom prst="rect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645920" y="1741842"/>
            <a:ext cx="640080" cy="640080"/>
          </a:xfrm>
          <a:prstGeom prst="ellipse">
            <a:avLst/>
          </a:prstGeom>
          <a:solidFill>
            <a:srgbClr val="512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1731682"/>
            <a:ext cx="64008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dirty="0">
                <a:solidFill>
                  <a:srgbClr val="F38BA8"/>
                </a:solidFill>
                <a:latin typeface="Segoe UI"/>
              </a:rPr>
              <a:t>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19082"/>
            <a:ext cx="21945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38BA8"/>
                </a:solidFill>
                <a:latin typeface="Segoe UI"/>
              </a:rPr>
              <a:t>Bandwidth</a:t>
            </a:r>
          </a:p>
          <a:p>
            <a:pPr algn="ctr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38BA8"/>
                </a:solidFill>
                <a:latin typeface="Segoe UI"/>
              </a:rPr>
              <a:t>Constrained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164093"/>
            <a:ext cx="2194560" cy="1645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dirty="0">
                <a:solidFill>
                  <a:schemeClr val="bg1"/>
                </a:solidFill>
                <a:latin typeface="Segoe UI"/>
              </a:rPr>
              <a:t>Edge devices move entire state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dirty="0">
                <a:solidFill>
                  <a:schemeClr val="bg1"/>
                </a:solidFill>
                <a:latin typeface="Segoe UI"/>
              </a:rPr>
              <a:t>buffers every cycle. Memory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dirty="0">
                <a:solidFill>
                  <a:schemeClr val="bg1"/>
                </a:solidFill>
                <a:latin typeface="Segoe UI"/>
              </a:rPr>
              <a:t>bandwidth is the bottleneck,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dirty="0">
                <a:solidFill>
                  <a:schemeClr val="bg1"/>
                </a:solidFill>
                <a:latin typeface="Segoe UI"/>
              </a:rPr>
              <a:t>not compute.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1381013"/>
            <a:ext cx="2468880" cy="3474720"/>
          </a:xfrm>
          <a:prstGeom prst="roundRect">
            <a:avLst>
              <a:gd name="adj" fmla="val 5000"/>
            </a:avLst>
          </a:prstGeom>
          <a:solidFill>
            <a:srgbClr val="1E1E2E"/>
          </a:solidFill>
          <a:ln w="12700"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429000" y="1381013"/>
            <a:ext cx="2468880" cy="50800"/>
          </a:xfrm>
          <a:prstGeom prst="rect">
            <a:avLst/>
          </a:prstGeom>
          <a:solidFill>
            <a:srgbClr val="CBA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4343400" y="1741842"/>
            <a:ext cx="640080" cy="640080"/>
          </a:xfrm>
          <a:prstGeom prst="ellipse">
            <a:avLst/>
          </a:prstGeom>
          <a:solidFill>
            <a:srgbClr val="4337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43400" y="1731682"/>
            <a:ext cx="64008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CBA6F7"/>
                </a:solidFill>
                <a:latin typeface="Segoe UI"/>
              </a:rPr>
              <a:t>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519082"/>
            <a:ext cx="21945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BA6F7"/>
                </a:solidFill>
                <a:latin typeface="Segoe UI"/>
              </a:rPr>
              <a:t>Power Budgets</a:t>
            </a:r>
          </a:p>
          <a:p>
            <a:pPr algn="ctr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BA6F7"/>
                </a:solidFill>
                <a:latin typeface="Segoe UI"/>
              </a:rPr>
              <a:t>Tightening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3164093"/>
            <a:ext cx="2194560" cy="1645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dirty="0">
                <a:solidFill>
                  <a:schemeClr val="bg1"/>
                </a:solidFill>
                <a:latin typeface="Segoe UI"/>
              </a:rPr>
              <a:t>Single-watt power envelopes.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dirty="0">
                <a:solidFill>
                  <a:schemeClr val="bg1"/>
                </a:solidFill>
                <a:latin typeface="Segoe UI"/>
              </a:rPr>
              <a:t>Every unnecessary memory op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dirty="0">
                <a:solidFill>
                  <a:schemeClr val="bg1"/>
                </a:solidFill>
                <a:latin typeface="Segoe UI"/>
              </a:rPr>
              <a:t>burns power. 95–100% memory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dirty="0">
                <a:solidFill>
                  <a:schemeClr val="bg1"/>
                </a:solidFill>
                <a:latin typeface="Segoe UI"/>
              </a:rPr>
              <a:t>traffic reduction measured.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1381013"/>
            <a:ext cx="2468880" cy="3474720"/>
          </a:xfrm>
          <a:prstGeom prst="roundRect">
            <a:avLst>
              <a:gd name="adj" fmla="val 5000"/>
            </a:avLst>
          </a:prstGeom>
          <a:solidFill>
            <a:srgbClr val="1E1E2E"/>
          </a:solidFill>
          <a:ln w="12700"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126480" y="1381013"/>
            <a:ext cx="2468880" cy="50800"/>
          </a:xfrm>
          <a:prstGeom prst="rect">
            <a:avLst/>
          </a:prstGeom>
          <a:solidFill>
            <a:srgbClr val="94E2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7040880" y="1741842"/>
            <a:ext cx="640080" cy="640080"/>
          </a:xfrm>
          <a:prstGeom prst="ellipse">
            <a:avLst/>
          </a:prstGeom>
          <a:solidFill>
            <a:srgbClr val="314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040880" y="1731682"/>
            <a:ext cx="64008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94E2D5"/>
                </a:solidFill>
                <a:latin typeface="Segoe UI"/>
              </a:rPr>
              <a:t>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2519082"/>
            <a:ext cx="21945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94E2D5"/>
                </a:solidFill>
                <a:latin typeface="Segoe UI"/>
              </a:rPr>
              <a:t>Deterministic</a:t>
            </a:r>
          </a:p>
          <a:p>
            <a:pPr algn="ctr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94E2D5"/>
                </a:solidFill>
                <a:latin typeface="Segoe UI"/>
              </a:rPr>
              <a:t>Execution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164093"/>
            <a:ext cx="2194560" cy="1645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dirty="0">
                <a:solidFill>
                  <a:schemeClr val="bg1"/>
                </a:solidFill>
                <a:latin typeface="Segoe UI"/>
              </a:rPr>
              <a:t>Safety-critical systems need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dirty="0">
                <a:solidFill>
                  <a:schemeClr val="bg1"/>
                </a:solidFill>
                <a:latin typeface="Segoe UI"/>
              </a:rPr>
              <a:t>guaranteed latency. No caches,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dirty="0">
                <a:solidFill>
                  <a:schemeClr val="bg1"/>
                </a:solidFill>
                <a:latin typeface="Segoe UI"/>
              </a:rPr>
              <a:t>no speculation, no jitter.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dirty="0">
                <a:solidFill>
                  <a:schemeClr val="bg1"/>
                </a:solidFill>
                <a:latin typeface="Segoe UI"/>
              </a:rPr>
              <a:t>ATOMiK: ≤2-cycle deterministic.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-9000000" y="-9000000"/>
            <a:ext cx="2468880" cy="3474720"/>
          </a:xfrm>
          <a:prstGeom prst="roundRect">
            <a:avLst>
              <a:gd name="adj" fmla="val 5000"/>
            </a:avLst>
          </a:prstGeom>
          <a:solidFill>
            <a:srgbClr val="1E1E2E"/>
          </a:solidFill>
          <a:ln w="12700"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-9000000" y="-9000000"/>
            <a:ext cx="2468880" cy="50800"/>
          </a:xfrm>
          <a:prstGeom prst="rect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-9000000" y="-9000000"/>
            <a:ext cx="640080" cy="640080"/>
          </a:xfrm>
          <a:prstGeom prst="ellipse">
            <a:avLst/>
          </a:prstGeom>
          <a:solidFill>
            <a:srgbClr val="534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-5000000" y="-5000000"/>
            <a:ext cx="64008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F9E2AF"/>
                </a:solidFill>
                <a:latin typeface="Segoe UI"/>
              </a:rPr>
              <a:t>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-9000000" y="-9000000"/>
            <a:ext cx="21945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9E2AF"/>
                </a:solidFill>
                <a:latin typeface="Segoe UI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-9000000" y="-9000000"/>
            <a:ext cx="2194560" cy="1645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dirty="0">
                <a:solidFill>
                  <a:schemeClr val="bg1"/>
                </a:solidFill>
                <a:latin typeface="Segoe UI"/>
              </a:rPr>
              <a:t/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-9000000" y="-9000000"/>
            <a:ext cx="10515600" cy="1097280"/>
          </a:xfrm>
          <a:prstGeom prst="roundRect">
            <a:avLst>
              <a:gd name="adj" fmla="val 3000"/>
            </a:avLst>
          </a:prstGeom>
          <a:solidFill>
            <a:srgbClr val="1A1F2E"/>
          </a:solidFill>
          <a:ln w="12700"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-9000000" y="-9000000"/>
            <a:ext cx="99669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6E3A1"/>
                </a:solidFill>
                <a:latin typeface="Segoe UI"/>
              </a:rPr>
              <a:t/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-9000000" y="-9000000"/>
            <a:ext cx="99669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dirty="0">
                <a:solidFill>
                  <a:schemeClr val="bg1"/>
                </a:solidFill>
                <a:latin typeface="Segoe UI"/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7295" y="6492240"/>
            <a:ext cx="731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F849C"/>
                </a:solidFill>
                <a:latin typeface="Segoe UI"/>
              </a:rPr>
              <a:t>4/15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1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41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89B4FA"/>
                </a:solidFill>
                <a:latin typeface="Segoe UI"/>
              </a:rPr>
              <a:t>Commercial Motion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" y="960120"/>
            <a:ext cx="10972800" cy="2540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887133" y="1678184"/>
            <a:ext cx="4206240" cy="4206240"/>
          </a:xfrm>
          <a:prstGeom prst="ellipse">
            <a:avLst/>
          </a:prstGeom>
          <a:solidFill>
            <a:srgbClr val="1E283E"/>
          </a:solidFill>
          <a:ln w="25400">
            <a:solidFill>
              <a:srgbClr val="89B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424803" y="1781054"/>
            <a:ext cx="1130898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89B4FA"/>
                </a:solidFill>
                <a:latin typeface="Segoe UI"/>
              </a:rPr>
              <a:t>Paid Evaluation</a:t>
            </a:r>
          </a:p>
          <a:p>
            <a:pPr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89B4FA"/>
                </a:solidFill>
                <a:latin typeface="Segoe UI"/>
              </a:rPr>
              <a:t>$50K–$200K NRE</a:t>
            </a:r>
          </a:p>
        </p:txBody>
      </p:sp>
      <p:sp>
        <p:nvSpPr>
          <p:cNvPr id="6" name="Oval 5"/>
          <p:cNvSpPr/>
          <p:nvPr/>
        </p:nvSpPr>
        <p:spPr>
          <a:xfrm>
            <a:off x="1618653" y="2409704"/>
            <a:ext cx="2743200" cy="2743200"/>
          </a:xfrm>
          <a:prstGeom prst="ellipse">
            <a:avLst/>
          </a:prstGeom>
          <a:solidFill>
            <a:srgbClr val="1E2E28"/>
          </a:solidFill>
          <a:ln w="25400">
            <a:solidFill>
              <a:srgbClr val="94E2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521622" y="2558294"/>
            <a:ext cx="9372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dirty="0">
                <a:solidFill>
                  <a:srgbClr val="94E2D5"/>
                </a:solidFill>
                <a:latin typeface="Segoe UI"/>
              </a:rPr>
              <a:t>Per-Design License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dirty="0">
                <a:solidFill>
                  <a:srgbClr val="94E2D5"/>
                </a:solidFill>
                <a:latin typeface="Segoe UI"/>
              </a:rPr>
              <a:t>$250K–$2M</a:t>
            </a:r>
          </a:p>
        </p:txBody>
      </p:sp>
      <p:sp>
        <p:nvSpPr>
          <p:cNvPr id="8" name="Oval 7"/>
          <p:cNvSpPr/>
          <p:nvPr/>
        </p:nvSpPr>
        <p:spPr>
          <a:xfrm>
            <a:off x="2395893" y="3141224"/>
            <a:ext cx="1188720" cy="1188720"/>
          </a:xfrm>
          <a:prstGeom prst="ellipse">
            <a:avLst/>
          </a:prstGeom>
          <a:solidFill>
            <a:srgbClr val="2A3A1E"/>
          </a:solidFill>
          <a:ln w="25400">
            <a:solidFill>
              <a:srgbClr val="A6E3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351517" y="3484124"/>
            <a:ext cx="1277471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dirty="0">
                <a:solidFill>
                  <a:srgbClr val="A6E3A1"/>
                </a:solidFill>
                <a:latin typeface="Segoe UI"/>
              </a:rPr>
              <a:t>Target Buyer:</a:t>
            </a:r>
          </a:p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dirty="0">
                <a:solidFill>
                  <a:srgbClr val="A6E3A1"/>
                </a:solidFill>
                <a:latin typeface="Segoe UI"/>
              </a:rPr>
              <a:t>FPGA/SoC Teams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310029"/>
            <a:ext cx="4754880" cy="534117"/>
          </a:xfrm>
          <a:prstGeom prst="rect">
            <a:avLst/>
          </a:prstGeom>
          <a:noFill/>
        </p:spPr>
        <p:txBody>
          <a:bodyPr wrap="square" anchor="b"/>
          <a:lstStyle/>
          <a:p>
            <a:pPr algn="l">
              <a:lnSpc>
                <a:spcPts val="1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dirty="0">
                <a:solidFill>
                  <a:schemeClr val="bg1"/>
                </a:solidFill>
                <a:latin typeface="Segoe UI"/>
              </a:rPr>
              <a:t>Motion: Eval → License → Royalty  |  ACV $300K–$3M (ARM/CEVA comparables)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96000" y="1230390"/>
            <a:ext cx="4923266" cy="141732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 w="12700"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096000" y="1230390"/>
            <a:ext cx="50800" cy="1417320"/>
          </a:xfrm>
          <a:prstGeom prst="rect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78880" y="1303542"/>
            <a:ext cx="23774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F38BA8"/>
                </a:solidFill>
                <a:latin typeface="Segoe UI"/>
              </a:rPr>
              <a:t>Edge Sensor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F38BA8"/>
                </a:solidFill>
                <a:latin typeface="Segoe UI"/>
              </a:rPr>
              <a:t>Fusion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78880" y="1733310"/>
            <a:ext cx="2834640" cy="822960"/>
          </a:xfrm>
          <a:prstGeom prst="rect">
            <a:avLst/>
          </a:prstGeom>
          <a:noFill/>
        </p:spPr>
        <p:txBody>
          <a:bodyPr wrap="square"/>
          <a:lstStyle/>
          <a:p>
            <a:pPr marL="171450" indent="-17145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1000" b="0" dirty="0">
                <a:solidFill>
                  <a:schemeClr val="bg1"/>
                </a:solidFill>
                <a:latin typeface="Segoe UI"/>
              </a:rPr>
              <a:t>1.8 mW, 287 LUT (0.54%)</a:t>
            </a:r>
          </a:p>
          <a:p>
            <a:pPr marL="171450" indent="-17145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1000" b="0" dirty="0">
                <a:solidFill>
                  <a:schemeClr val="bg1"/>
                </a:solidFill>
                <a:latin typeface="Segoe UI"/>
              </a:rPr>
              <a:t>Lock-free multi-stream merge</a:t>
            </a:r>
          </a:p>
          <a:p>
            <a:pPr marL="171450" indent="-17145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1000" b="0" dirty="0">
                <a:solidFill>
                  <a:schemeClr val="bg1"/>
                </a:solidFill>
                <a:latin typeface="Segoe UI"/>
              </a:rPr>
              <a:t>Linear scaling with sensors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61966" y="1300046"/>
            <a:ext cx="12573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dirty="0">
                <a:solidFill>
                  <a:srgbClr val="F38BA8"/>
                </a:solidFill>
                <a:latin typeface="Segoe UI"/>
              </a:rPr>
              <a:t>Primary beachhead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96000" y="3072644"/>
            <a:ext cx="4923266" cy="141732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 w="12700"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096000" y="3072644"/>
            <a:ext cx="50800" cy="1417320"/>
          </a:xfrm>
          <a:prstGeom prst="rect">
            <a:avLst/>
          </a:prstGeom>
          <a:solidFill>
            <a:srgbClr val="94E2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78880" y="3145796"/>
            <a:ext cx="2713616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94E2D5"/>
                </a:solidFill>
                <a:latin typeface="Segoe UI"/>
              </a:rPr>
              <a:t>Industrial /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94E2D5"/>
                </a:solidFill>
                <a:latin typeface="Segoe UI"/>
              </a:rPr>
              <a:t>Defense 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880" y="3575564"/>
            <a:ext cx="2834640" cy="822960"/>
          </a:xfrm>
          <a:prstGeom prst="rect">
            <a:avLst/>
          </a:prstGeom>
          <a:noFill/>
        </p:spPr>
        <p:txBody>
          <a:bodyPr wrap="square"/>
          <a:lstStyle/>
          <a:p>
            <a:pPr marL="171450" indent="-17145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1000" b="0" dirty="0">
                <a:solidFill>
                  <a:schemeClr val="bg1"/>
                </a:solidFill>
                <a:latin typeface="Segoe UI"/>
              </a:rPr>
              <a:t>≤2-cycle jitter, no side channels</a:t>
            </a:r>
          </a:p>
          <a:p>
            <a:pPr marL="171450" indent="-17145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1000" b="0" dirty="0">
                <a:solidFill>
                  <a:schemeClr val="bg1"/>
                </a:solidFill>
                <a:latin typeface="Segoe UI"/>
              </a:rPr>
              <a:t>Formally verified (92 proofs)</a:t>
            </a:r>
          </a:p>
          <a:p>
            <a:pPr marL="171450" indent="-17145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1000" b="0" dirty="0">
                <a:solidFill>
                  <a:schemeClr val="bg1"/>
                </a:solidFill>
                <a:latin typeface="Segoe UI"/>
              </a:rPr>
              <a:t>Safety-critical viable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61966" y="3142300"/>
            <a:ext cx="12573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E2D5"/>
                </a:solidFill>
                <a:latin typeface="Segoe UI"/>
              </a:rPr>
              <a:t>Higher ACV, longer cycles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96000" y="4914899"/>
            <a:ext cx="4923266" cy="141732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 w="12700"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096000" y="4914899"/>
            <a:ext cx="50800" cy="1417320"/>
          </a:xfrm>
          <a:prstGeom prst="rect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278880" y="4988051"/>
            <a:ext cx="2209352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F9E2AF"/>
                </a:solidFill>
                <a:latin typeface="Segoe UI"/>
              </a:rPr>
              <a:t>HFT / Low-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F9E2AF"/>
                </a:solidFill>
                <a:latin typeface="Segoe UI"/>
              </a:rPr>
              <a:t>Latency Infra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0566" y="5513697"/>
            <a:ext cx="2834640" cy="822960"/>
          </a:xfrm>
          <a:prstGeom prst="rect">
            <a:avLst/>
          </a:prstGeom>
          <a:noFill/>
        </p:spPr>
        <p:txBody>
          <a:bodyPr wrap="square"/>
          <a:lstStyle/>
          <a:p>
            <a:pPr marL="171450" indent="-17145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1000" b="0" dirty="0">
                <a:solidFill>
                  <a:schemeClr val="bg1"/>
                </a:solidFill>
                <a:latin typeface="Segoe UI"/>
              </a:rPr>
              <a:t>10.6 ns tick processing</a:t>
            </a:r>
          </a:p>
          <a:p>
            <a:pPr marL="171450" indent="-17145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1000" b="0" dirty="0">
                <a:solidFill>
                  <a:schemeClr val="bg1"/>
                </a:solidFill>
                <a:latin typeface="Segoe UI"/>
              </a:rPr>
              <a:t>Instant trade reversal</a:t>
            </a:r>
          </a:p>
          <a:p>
            <a:pPr marL="171450" indent="-17145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1000" b="0" dirty="0">
                <a:solidFill>
                  <a:schemeClr val="bg1"/>
                </a:solidFill>
                <a:latin typeface="Segoe UI"/>
              </a:rPr>
              <a:t>Lock-free parallel streams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61966" y="4984555"/>
            <a:ext cx="12573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9E2AF"/>
                </a:solidFill>
                <a:latin typeface="Segoe UI"/>
              </a:rPr>
              <a:t>Long-term target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-9000000" y="-9000000"/>
            <a:ext cx="4664186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dirty="0">
                <a:solidFill>
                  <a:schemeClr val="bg1"/>
                </a:solidFill>
                <a:latin typeface="Segoe UI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19266" y="6505014"/>
            <a:ext cx="731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F849C"/>
                </a:solidFill>
                <a:latin typeface="Segoe UI"/>
              </a:rPr>
              <a:t>5/15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1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41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89B4FA"/>
                </a:solidFill>
                <a:latin typeface="Segoe UI"/>
              </a:rPr>
              <a:t>Delta-State XOR Algebra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chemeClr val="bg1"/>
                </a:solidFill>
                <a:latin typeface="Segoe UI"/>
              </a:rPr>
              <a:t>Single-cycle delta accumulation replaces full-state read-modify-write.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904" y="1280160"/>
            <a:ext cx="10972800" cy="2540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029200" cy="1097280"/>
          </a:xfrm>
          <a:prstGeom prst="roundRect">
            <a:avLst>
              <a:gd name="adj" fmla="val 4000"/>
            </a:avLst>
          </a:prstGeom>
          <a:solidFill>
            <a:srgbClr val="2A1A1A"/>
          </a:solidFill>
          <a:ln w="12700">
            <a:solidFill>
              <a:srgbClr val="F38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4663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38BA8"/>
                </a:solidFill>
                <a:latin typeface="Segoe UI"/>
              </a:rPr>
              <a:t>TRADITIONAL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4663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CDD6F4"/>
                </a:solidFill>
                <a:latin typeface="Consolas"/>
              </a:rPr>
              <a:t>State = Load → Lock → Modify → Unlock → Store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86000"/>
            <a:ext cx="4663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chemeClr val="bg1"/>
                </a:solidFill>
                <a:latin typeface="Segoe UI"/>
              </a:rPr>
              <a:t>Full 64-byte copy each time  •  Lock contention  •  No undo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1554480"/>
            <a:ext cx="5029200" cy="1097280"/>
          </a:xfrm>
          <a:prstGeom prst="roundRect">
            <a:avLst>
              <a:gd name="adj" fmla="val 4000"/>
            </a:avLst>
          </a:prstGeom>
          <a:solidFill>
            <a:srgbClr val="1A2A1A"/>
          </a:solidFill>
          <a:ln w="12700">
            <a:solidFill>
              <a:srgbClr val="A6E3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17920" y="1645920"/>
            <a:ext cx="4663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A6E3A1"/>
                </a:solidFill>
                <a:latin typeface="Segoe UI"/>
              </a:rPr>
              <a:t>ATOMiK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1965960"/>
            <a:ext cx="4663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CDD6F4"/>
                </a:solidFill>
                <a:latin typeface="Consolas"/>
              </a:rPr>
              <a:t>State = S₀ ⊕ δ₁ ⊕ δ₂ ⊕ … ⊕ δₙ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286000"/>
            <a:ext cx="4663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chemeClr val="bg1"/>
                </a:solidFill>
                <a:latin typeface="Segoe UI"/>
              </a:rPr>
              <a:t>8-byte delta only  •  Lock-free  •  Self-inverse undo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337560"/>
            <a:ext cx="5486400" cy="365760"/>
          </a:xfrm>
          <a:prstGeom prst="rect">
            <a:avLst/>
          </a:prstGeom>
          <a:noFill/>
        </p:spPr>
        <p:txBody>
          <a:bodyPr wrap="square" lIns="0"/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chemeClr val="bg1"/>
                </a:solidFill>
                <a:latin typeface="Segoe UI"/>
              </a:rPr>
              <a:t>Abelian Group Properties (All Proven in Lean4)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2745692"/>
              </p:ext>
            </p:extLst>
          </p:nvPr>
        </p:nvGraphicFramePr>
        <p:xfrm>
          <a:off x="731520" y="3749040"/>
          <a:ext cx="7329992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916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095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052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89B4FA"/>
                          </a:solidFill>
                          <a:latin typeface="Segoe UI"/>
                        </a:defRPr>
                      </a:pPr>
                      <a:r>
                        <a:rPr dirty="0"/>
                        <a:t>Property</a:t>
                      </a:r>
                    </a:p>
                  </a:txBody>
                  <a:tcPr marL="73152" marR="73152" marT="36576" marB="36576">
                    <a:solidFill>
                      <a:srgbClr val="2525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89B4FA"/>
                          </a:solidFill>
                          <a:latin typeface="Segoe UI"/>
                        </a:defRPr>
                      </a:pPr>
                      <a:r>
                        <a:rPr dirty="0"/>
                        <a:t>Formula</a:t>
                      </a:r>
                    </a:p>
                  </a:txBody>
                  <a:tcPr marL="73152" marR="73152" marT="36576" marB="36576">
                    <a:solidFill>
                      <a:srgbClr val="2525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89B4FA"/>
                          </a:solidFill>
                          <a:latin typeface="Segoe UI"/>
                        </a:defRPr>
                      </a:pPr>
                      <a:r>
                        <a:rPr dirty="0"/>
                        <a:t>Hardware Implication</a:t>
                      </a:r>
                    </a:p>
                  </a:txBody>
                  <a:tcPr marL="73152" marR="73152" marT="36576" marB="36576">
                    <a:solidFill>
                      <a:srgbClr val="2525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 dirty="0">
                          <a:solidFill>
                            <a:schemeClr val="bg1"/>
                          </a:solidFill>
                        </a:rPr>
                        <a:t>Commutativity</a:t>
                      </a:r>
                    </a:p>
                  </a:txBody>
                  <a:tcPr marL="73152" marR="73152" marT="36576" marB="36576" anchor="ctr"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 dirty="0">
                          <a:solidFill>
                            <a:schemeClr val="bg1"/>
                          </a:solidFill>
                        </a:rPr>
                        <a:t>δ₁ ⊕ δ₂ = δ₂ ⊕ δ₁</a:t>
                      </a:r>
                    </a:p>
                  </a:txBody>
                  <a:tcPr marL="73152" marR="73152" marT="36576" marB="36576" anchor="ctr"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 dirty="0">
                          <a:solidFill>
                            <a:schemeClr val="bg1"/>
                          </a:solidFill>
                        </a:rPr>
                        <a:t>Lock-free parallel banks</a:t>
                      </a:r>
                    </a:p>
                  </a:txBody>
                  <a:tcPr marL="73152" marR="73152" marT="36576" marB="36576">
                    <a:solidFill>
                      <a:srgbClr val="1E1E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 dirty="0">
                          <a:solidFill>
                            <a:schemeClr val="bg1"/>
                          </a:solidFill>
                        </a:rPr>
                        <a:t>Associativity</a:t>
                      </a:r>
                    </a:p>
                  </a:txBody>
                  <a:tcPr marL="73152" marR="73152" marT="36576" marB="36576" anchor="ctr">
                    <a:solidFill>
                      <a:srgbClr val="1A1A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 dirty="0">
                          <a:solidFill>
                            <a:schemeClr val="bg1"/>
                          </a:solidFill>
                        </a:rPr>
                        <a:t>(δ₁ ⊕ δ₂) ⊕ δ₃ = δ₁ ⊕ (δ₂ ⊕ δ₃)</a:t>
                      </a:r>
                    </a:p>
                  </a:txBody>
                  <a:tcPr marL="73152" marR="73152" marT="36576" marB="36576" anchor="ctr">
                    <a:solidFill>
                      <a:srgbClr val="1A1A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 dirty="0">
                          <a:solidFill>
                            <a:schemeClr val="bg1"/>
                          </a:solidFill>
                        </a:rPr>
                        <a:t>Pipelined merge reduction</a:t>
                      </a:r>
                    </a:p>
                  </a:txBody>
                  <a:tcPr marL="73152" marR="73152" marT="36576" marB="36576">
                    <a:solidFill>
                      <a:srgbClr val="1A1A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 dirty="0">
                          <a:solidFill>
                            <a:schemeClr val="bg1"/>
                          </a:solidFill>
                        </a:rPr>
                        <a:t>Self-Inverse</a:t>
                      </a:r>
                    </a:p>
                  </a:txBody>
                  <a:tcPr marL="73152" marR="73152" marT="36576" marB="36576" anchor="ctr"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 dirty="0">
                          <a:solidFill>
                            <a:schemeClr val="bg1"/>
                          </a:solidFill>
                        </a:rPr>
                        <a:t>δ ⊕ δ = 0</a:t>
                      </a:r>
                    </a:p>
                  </a:txBody>
                  <a:tcPr marL="73152" marR="73152" marT="36576" marB="36576" anchor="ctr"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 dirty="0">
                          <a:solidFill>
                            <a:schemeClr val="bg1"/>
                          </a:solidFill>
                        </a:rPr>
                        <a:t>Every change is its own undo</a:t>
                      </a:r>
                    </a:p>
                  </a:txBody>
                  <a:tcPr marL="73152" marR="73152" marT="36576" marB="36576">
                    <a:solidFill>
                      <a:srgbClr val="1E1E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 dirty="0">
                          <a:solidFill>
                            <a:schemeClr val="bg1"/>
                          </a:solidFill>
                        </a:rPr>
                        <a:t>Identity</a:t>
                      </a:r>
                    </a:p>
                  </a:txBody>
                  <a:tcPr marL="73152" marR="73152" marT="36576" marB="36576" anchor="ctr">
                    <a:solidFill>
                      <a:srgbClr val="1A1A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 dirty="0">
                          <a:solidFill>
                            <a:schemeClr val="bg1"/>
                          </a:solidFill>
                        </a:rPr>
                        <a:t>δ ⊕ 0 = δ</a:t>
                      </a:r>
                    </a:p>
                  </a:txBody>
                  <a:tcPr marL="73152" marR="73152" marT="36576" marB="36576" anchor="ctr">
                    <a:solidFill>
                      <a:srgbClr val="1A1A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 dirty="0">
                          <a:solidFill>
                            <a:schemeClr val="bg1"/>
                          </a:solidFill>
                        </a:rPr>
                        <a:t>Zero-cost filtering</a:t>
                      </a:r>
                    </a:p>
                  </a:txBody>
                  <a:tcPr marL="73152" marR="73152" marT="36576" marB="36576">
                    <a:solidFill>
                      <a:srgbClr val="1A1A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 dirty="0">
                          <a:solidFill>
                            <a:schemeClr val="bg1"/>
                          </a:solidFill>
                        </a:rPr>
                        <a:t>Closure</a:t>
                      </a:r>
                    </a:p>
                  </a:txBody>
                  <a:tcPr marL="73152" marR="73152" marT="36576" marB="36576" anchor="ctr"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 dirty="0">
                          <a:solidFill>
                            <a:schemeClr val="bg1"/>
                          </a:solidFill>
                        </a:rPr>
                        <a:t>δ₁ ⊕ δ₂ ∈ Δ</a:t>
                      </a:r>
                    </a:p>
                  </a:txBody>
                  <a:tcPr marL="73152" marR="73152" marT="36576" marB="36576" anchor="ctr"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 dirty="0">
                          <a:solidFill>
                            <a:schemeClr val="bg1"/>
                          </a:solidFill>
                        </a:rPr>
                        <a:t>No overflow, no type conversion</a:t>
                      </a:r>
                    </a:p>
                  </a:txBody>
                  <a:tcPr marL="73152" marR="73152" marT="36576" marB="36576">
                    <a:solidFill>
                      <a:srgbClr val="1E1E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8595360" y="2884544"/>
            <a:ext cx="2468880" cy="1097280"/>
          </a:xfrm>
          <a:prstGeom prst="roundRect">
            <a:avLst>
              <a:gd name="adj" fmla="val 5000"/>
            </a:avLst>
          </a:prstGeom>
          <a:solidFill>
            <a:srgbClr val="1E1E2E"/>
          </a:solidFill>
          <a:ln w="12700">
            <a:solidFill>
              <a:srgbClr val="A6E3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8759952" y="3010946"/>
            <a:ext cx="228600" cy="228600"/>
          </a:xfrm>
          <a:prstGeom prst="ellipse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759952" y="3015668"/>
            <a:ext cx="2286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13131A"/>
                </a:solidFill>
                <a:latin typeface="Segoe U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2975984"/>
            <a:ext cx="1920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A6E3A1"/>
                </a:solidFill>
                <a:latin typeface="Segoe UI"/>
              </a:rPr>
              <a:t>Single-Cycle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3478904"/>
            <a:ext cx="192024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chemeClr val="bg1"/>
                </a:solidFill>
                <a:latin typeface="Segoe UI"/>
              </a:rPr>
              <a:t>10.6 ns per op
No carry propagation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95360" y="4210424"/>
            <a:ext cx="2468880" cy="1097280"/>
          </a:xfrm>
          <a:prstGeom prst="roundRect">
            <a:avLst>
              <a:gd name="adj" fmla="val 5000"/>
            </a:avLst>
          </a:prstGeom>
          <a:solidFill>
            <a:srgbClr val="1E1E2E"/>
          </a:solidFill>
          <a:ln w="12700">
            <a:solidFill>
              <a:srgbClr val="89B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8752180" y="4320152"/>
            <a:ext cx="228600" cy="228600"/>
          </a:xfrm>
          <a:prstGeom prst="ellipse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752180" y="4320152"/>
            <a:ext cx="2286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13131A"/>
                </a:solidFill>
                <a:latin typeface="Segoe U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4301864"/>
            <a:ext cx="1828800" cy="457200"/>
          </a:xfrm>
          <a:prstGeom prst="rect">
            <a:avLst/>
          </a:prstGeom>
          <a:noFill/>
        </p:spPr>
        <p:txBody>
          <a:bodyPr wrap="square" lIns="0" rIns="0"/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89B4FA"/>
                </a:solidFill>
                <a:latin typeface="Segoe UI"/>
              </a:rPr>
              <a:t>Lock-Free</a:t>
            </a:r>
            <a:r>
              <a:rPr lang="en-US" sz="1400" b="1" dirty="0">
                <a:solidFill>
                  <a:srgbClr val="89B4FA"/>
                </a:solidFill>
                <a:latin typeface="Segoe UI"/>
              </a:rPr>
              <a:t> </a:t>
            </a:r>
            <a:r>
              <a:rPr sz="1400" b="1" dirty="0">
                <a:solidFill>
                  <a:srgbClr val="89B4FA"/>
                </a:solidFill>
                <a:latin typeface="Segoe UI"/>
              </a:rPr>
              <a:t>Parallel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4877936"/>
            <a:ext cx="192024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dirty="0">
                <a:solidFill>
                  <a:schemeClr val="bg1"/>
                </a:solidFill>
                <a:latin typeface="Segoe UI"/>
              </a:rPr>
              <a:t>N banks = N</a:t>
            </a:r>
            <a:r>
              <a:rPr lang="en-US" sz="1100" b="0" dirty="0">
                <a:solidFill>
                  <a:schemeClr val="bg1"/>
                </a:solidFill>
                <a:latin typeface="Segoe UI"/>
              </a:rPr>
              <a:t> </a:t>
            </a:r>
            <a:r>
              <a:rPr sz="1100" b="0" dirty="0">
                <a:solidFill>
                  <a:schemeClr val="bg1"/>
                </a:solidFill>
                <a:latin typeface="Segoe UI"/>
              </a:rPr>
              <a:t>×</a:t>
            </a:r>
            <a:r>
              <a:rPr lang="en-US" sz="1100" b="0" dirty="0">
                <a:solidFill>
                  <a:schemeClr val="bg1"/>
                </a:solidFill>
                <a:latin typeface="Segoe UI"/>
              </a:rPr>
              <a:t> </a:t>
            </a:r>
            <a:r>
              <a:rPr sz="1100" b="0" dirty="0">
                <a:solidFill>
                  <a:schemeClr val="bg1"/>
                </a:solidFill>
                <a:latin typeface="Segoe UI"/>
              </a:rPr>
              <a:t>throughput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595360" y="5536304"/>
            <a:ext cx="2468880" cy="1097280"/>
          </a:xfrm>
          <a:prstGeom prst="roundRect">
            <a:avLst>
              <a:gd name="adj" fmla="val 5000"/>
            </a:avLst>
          </a:prstGeom>
          <a:solidFill>
            <a:srgbClr val="1E1E2E"/>
          </a:solidFill>
          <a:ln w="12700">
            <a:solidFill>
              <a:srgbClr val="CBA6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8752180" y="5650754"/>
            <a:ext cx="228600" cy="228600"/>
          </a:xfrm>
          <a:prstGeom prst="ellipse">
            <a:avLst/>
          </a:prstGeom>
          <a:solidFill>
            <a:srgbClr val="CBA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752180" y="5646032"/>
            <a:ext cx="228600" cy="1371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13131A"/>
                </a:solidFill>
                <a:latin typeface="Segoe U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2560" y="5627744"/>
            <a:ext cx="19202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BA6F7"/>
                </a:solidFill>
                <a:latin typeface="Segoe UI"/>
              </a:rPr>
              <a:t>Instant Undo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6130664"/>
            <a:ext cx="192024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dirty="0">
                <a:solidFill>
                  <a:schemeClr val="bg1"/>
                </a:solidFill>
                <a:latin typeface="Segoe UI"/>
              </a:rPr>
              <a:t>δ ⊕ δ = 0
Zero-cost reversal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77295" y="6492240"/>
            <a:ext cx="731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F849C"/>
                </a:solidFill>
                <a:latin typeface="Segoe UI"/>
              </a:rPr>
              <a:t>6/15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1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9B4FA"/>
                </a:solidFill>
                <a:latin typeface="Segoe UI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85475"/>
            <a:ext cx="105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DD6F4"/>
                </a:solidFill>
                <a:latin typeface="Segoe UI"/>
              </a:rPr>
              <a:t>From delta to state in one cycle.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904" y="1280160"/>
            <a:ext cx="10972800" cy="2540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600000"/>
            <a:ext cx="1800000" cy="1031493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700000"/>
            <a:ext cx="18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89B4FA"/>
                </a:solidFill>
                <a:latin typeface="Segoe UI"/>
              </a:rPr>
              <a:t>Input Deltas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80000"/>
            <a:ext cx="18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A6E3A1"/>
                </a:solidFill>
                <a:latin typeface="Segoe UI"/>
              </a:rPr>
              <a:t>δ₁, δ₂, δ₃, ... δₙ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0000" y="1800000"/>
            <a:ext cx="4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89B4FA"/>
                </a:solidFill>
                <a:latin typeface="Segoe U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28936" y="1419291"/>
            <a:ext cx="3571064" cy="1689366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100000" y="1420000"/>
            <a:ext cx="36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89B4FA"/>
                </a:solidFill>
                <a:latin typeface="Segoe UI"/>
              </a:rPr>
              <a:t>Round-Robin Distributor → N XOR Banks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59646" y="1913975"/>
            <a:ext cx="580000" cy="467518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59646" y="1963975"/>
            <a:ext cx="58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6E3A1"/>
                </a:solidFill>
                <a:latin typeface="Segoe UI"/>
              </a:rPr>
              <a:t>Bank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50000" y="2355114"/>
            <a:ext cx="58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7F849C"/>
                </a:solidFill>
                <a:latin typeface="Segoe UI"/>
              </a:rPr>
              <a:t>XOR Acc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19646" y="1913975"/>
            <a:ext cx="580000" cy="467518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919646" y="1963975"/>
            <a:ext cx="58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6E3A1"/>
                </a:solidFill>
                <a:latin typeface="Segoe UI"/>
              </a:rPr>
              <a:t>Bank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10000" y="2355114"/>
            <a:ext cx="58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7F849C"/>
                </a:solidFill>
                <a:latin typeface="Segoe UI"/>
              </a:rPr>
              <a:t>XOR Acc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9646" y="1913975"/>
            <a:ext cx="580000" cy="467518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9646" y="1963975"/>
            <a:ext cx="58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6E3A1"/>
                </a:solidFill>
                <a:latin typeface="Segoe UI"/>
              </a:rPr>
              <a:t>Bank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0000" y="2355114"/>
            <a:ext cx="58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7F849C"/>
                </a:solidFill>
                <a:latin typeface="Segoe UI"/>
              </a:rPr>
              <a:t>XOR Acc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239646" y="1913975"/>
            <a:ext cx="580000" cy="467518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239646" y="2002557"/>
            <a:ext cx="58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6E3A1"/>
                </a:solidFill>
                <a:latin typeface="Segoe UI"/>
              </a:rPr>
              <a:t>...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30000" y="1950000"/>
            <a:ext cx="58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5899646" y="1913975"/>
            <a:ext cx="580000" cy="467518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899646" y="1963975"/>
            <a:ext cx="58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6E3A1"/>
                </a:solidFill>
                <a:latin typeface="Segoe UI"/>
              </a:rPr>
              <a:t>Bank 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90000" y="2355114"/>
            <a:ext cx="58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7F849C"/>
                </a:solidFill>
                <a:latin typeface="Segoe UI"/>
              </a:rPr>
              <a:t>XOR Acc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0000" y="2691924"/>
            <a:ext cx="36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7F849C"/>
                </a:solidFill>
                <a:latin typeface="Segoe UI"/>
              </a:rPr>
              <a:t>1 cycle per accumulation  •  Independent banks  •  No inter-bank dependencies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00000" y="1800000"/>
            <a:ext cx="4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89B4FA"/>
                </a:solidFill>
                <a:latin typeface="Segoe UI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00000" y="1600000"/>
            <a:ext cx="1800000" cy="1031493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300000" y="1650000"/>
            <a:ext cx="18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89B4FA"/>
                </a:solidFill>
                <a:latin typeface="Segoe UI"/>
              </a:rPr>
              <a:t>Binary Merge Tree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09646" y="2036456"/>
            <a:ext cx="18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DD6F4"/>
                </a:solidFill>
                <a:latin typeface="Segoe UI"/>
              </a:rPr>
              <a:t>O(log₂ N) depth
Purely combinational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00000" y="1800000"/>
            <a:ext cx="4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89B4FA"/>
                </a:solidFill>
                <a:latin typeface="Segoe UI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700000" y="1600000"/>
            <a:ext cx="1800000" cy="1031493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700000" y="1650000"/>
            <a:ext cx="18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A6E3A1"/>
                </a:solidFill>
                <a:latin typeface="Segoe UI"/>
              </a:rPr>
              <a:t>Current State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00000" y="2075038"/>
            <a:ext cx="18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DD6F4"/>
                </a:solidFill>
                <a:latin typeface="Segoe UI"/>
              </a:rPr>
              <a:t>S₀ ⊕ merged_acc
0-cycle reconstruct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3100000"/>
            <a:ext cx="5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9B4FA"/>
                </a:solidFill>
                <a:latin typeface="Segoe UI"/>
              </a:rPr>
              <a:t>Operation Cycle (All Single-Clock)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3450000"/>
            <a:ext cx="10500000" cy="2000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731520" y="3600000"/>
            <a:ext cx="2500000" cy="989367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31520" y="3630000"/>
            <a:ext cx="23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9B4FA"/>
                </a:solidFill>
                <a:latin typeface="Segoe UI"/>
              </a:rPr>
              <a:t>LOAD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1520" y="3880000"/>
            <a:ext cx="23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DD6F4"/>
                </a:solidFill>
                <a:latin typeface="Segoe UI"/>
              </a:rPr>
              <a:t>Set initial state S₀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1520" y="4291848"/>
            <a:ext cx="23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6E3A1"/>
                </a:solidFill>
                <a:latin typeface="Segoe UI"/>
              </a:rPr>
              <a:t>1 cycle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31520" y="3600000"/>
            <a:ext cx="2500000" cy="989367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531520" y="3630000"/>
            <a:ext cx="23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9B4FA"/>
                </a:solidFill>
                <a:latin typeface="Segoe UI"/>
              </a:rPr>
              <a:t>ACCUMULATE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31520" y="3880000"/>
            <a:ext cx="23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DD6F4"/>
                </a:solidFill>
                <a:latin typeface="Segoe UI"/>
              </a:rPr>
              <a:t>XOR delta into assigned bank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31520" y="4291848"/>
            <a:ext cx="23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6E3A1"/>
                </a:solidFill>
                <a:latin typeface="Segoe UI"/>
              </a:rPr>
              <a:t>1 cycle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131520" y="3600000"/>
            <a:ext cx="2500000" cy="989367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231520" y="3630000"/>
            <a:ext cx="23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9B4FA"/>
                </a:solidFill>
                <a:latin typeface="Segoe UI"/>
              </a:rPr>
              <a:t>READ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31520" y="3880000"/>
            <a:ext cx="23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DD6F4"/>
                </a:solidFill>
                <a:latin typeface="Segoe UI"/>
              </a:rPr>
              <a:t>Compute S₀ ⊕ merged_accumulator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31520" y="4291848"/>
            <a:ext cx="23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6E3A1"/>
                </a:solidFill>
                <a:latin typeface="Segoe UI"/>
              </a:rPr>
              <a:t>1 cycle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831520" y="3600000"/>
            <a:ext cx="2500000" cy="989367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8931520" y="3630000"/>
            <a:ext cx="23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9B4FA"/>
                </a:solidFill>
                <a:latin typeface="Segoe UI"/>
              </a:rPr>
              <a:t>STATUS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31520" y="3880000"/>
            <a:ext cx="23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DD6F4"/>
                </a:solidFill>
                <a:latin typeface="Segoe UI"/>
              </a:rPr>
              <a:t>Check if accumulator is zero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31520" y="4291848"/>
            <a:ext cx="23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6E3A1"/>
                </a:solidFill>
                <a:latin typeface="Segoe UI"/>
              </a:rPr>
              <a:t>1 cycle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" y="4600000"/>
            <a:ext cx="5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9B4FA"/>
                </a:solidFill>
                <a:latin typeface="Segoe UI"/>
              </a:rPr>
              <a:t>Key Design Decisions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31520" y="4950000"/>
            <a:ext cx="10500000" cy="2000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731520" y="5100000"/>
            <a:ext cx="24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6E3A1"/>
                </a:solidFill>
                <a:latin typeface="Segoe UI"/>
              </a:rPr>
              <a:t>Round-robin distribution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92760" y="5485823"/>
            <a:ext cx="28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F849C"/>
                </a:solidFill>
                <a:latin typeface="Segoe UI"/>
              </a:rPr>
              <a:t>Even bank utilization, no load balancer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1748" y="5071063"/>
            <a:ext cx="24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6E3A1"/>
                </a:solidFill>
                <a:latin typeface="Segoe UI"/>
              </a:rPr>
              <a:t>Binary merge tree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15192" y="5456886"/>
            <a:ext cx="28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F849C"/>
                </a:solidFill>
                <a:latin typeface="Segoe UI"/>
              </a:rPr>
              <a:t>O(log₂ N) depth, purely combinational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0457" y="6026177"/>
            <a:ext cx="2400000" cy="29238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l"/>
            <a:r>
              <a:rPr lang="en-US" sz="1300" b="1" dirty="0">
                <a:solidFill>
                  <a:srgbClr val="A6E3A1"/>
                </a:solidFill>
                <a:latin typeface="Segoe UI"/>
              </a:rPr>
              <a:t>"</a:t>
            </a:r>
            <a:r>
              <a:rPr sz="1300" b="1" dirty="0" err="1">
                <a:solidFill>
                  <a:srgbClr val="A6E3A1"/>
                </a:solidFill>
                <a:latin typeface="Segoe UI"/>
              </a:rPr>
              <a:t>syn_keep</a:t>
            </a:r>
            <a:r>
              <a:rPr lang="en-US" sz="1300" b="1" dirty="0">
                <a:solidFill>
                  <a:srgbClr val="A6E3A1"/>
                </a:solidFill>
                <a:latin typeface="Segoe UI"/>
              </a:rPr>
              <a:t>"</a:t>
            </a:r>
            <a:r>
              <a:rPr sz="1300" b="1" dirty="0">
                <a:solidFill>
                  <a:srgbClr val="A6E3A1"/>
                </a:solidFill>
                <a:latin typeface="Segoe UI"/>
              </a:rPr>
              <a:t> attributes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312052" y="6412000"/>
            <a:ext cx="341731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F849C"/>
                </a:solidFill>
                <a:latin typeface="Segoe UI"/>
              </a:rPr>
              <a:t>Prevent carry-chain inference (+42% Fmax)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970685" y="5997240"/>
            <a:ext cx="24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6E3A1"/>
                </a:solidFill>
                <a:latin typeface="Segoe UI"/>
              </a:rPr>
              <a:t>~65 LUT + 64 FF per bank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734483" y="6383063"/>
            <a:ext cx="28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F849C"/>
                </a:solidFill>
                <a:latin typeface="Segoe UI"/>
              </a:rPr>
              <a:t>Sub-linear resource growth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277295" y="6492240"/>
            <a:ext cx="7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7F849C"/>
                </a:solidFill>
                <a:latin typeface="Segoe UI"/>
              </a:rPr>
              <a:t>7/15</a:t>
            </a:r>
          </a:p>
        </p:txBody>
      </p:sp>
    </p:spTree>
    <p:extLst>
      <p:ext uri="{BB962C8B-B14F-4D97-AF65-F5344CB8AC3E}">
        <p14:creationId xmlns:p14="http://schemas.microsoft.com/office/powerpoint/2010/main" val="13699647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1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41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89B4FA"/>
                </a:solidFill>
                <a:latin typeface="Segoe UI"/>
              </a:rPr>
              <a:t>Business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585" y="845895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dirty="0">
                <a:solidFill>
                  <a:schemeClr val="bg1"/>
                </a:solidFill>
                <a:latin typeface="Segoe UI"/>
              </a:rPr>
              <a:t>ARM-style IP licensing at 90%+ gross margin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904" y="1280160"/>
            <a:ext cx="10972800" cy="2540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2468880" cy="256032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 w="12700"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" y="1508760"/>
            <a:ext cx="2468880" cy="5080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645920"/>
            <a:ext cx="21945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89B4FA"/>
                </a:solidFill>
                <a:latin typeface="Segoe UI"/>
              </a:rPr>
              <a:t>RTL IP
Licensing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171700"/>
            <a:ext cx="21945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DD6F4"/>
                </a:solidFill>
                <a:latin typeface="Segoe UI"/>
              </a:rPr>
              <a:t>Per-design fee +
per-unit royalty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17320" y="2868258"/>
            <a:ext cx="1097280" cy="320040"/>
          </a:xfrm>
          <a:prstGeom prst="roundRect">
            <a:avLst>
              <a:gd name="adj" fmla="val 8000"/>
            </a:avLst>
          </a:prstGeom>
          <a:solidFill>
            <a:srgbClr val="222D3E"/>
          </a:solidFill>
          <a:ln w="12700">
            <a:solidFill>
              <a:srgbClr val="89B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417320" y="2868258"/>
            <a:ext cx="10972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89B4FA"/>
                </a:solidFill>
                <a:latin typeface="Segoe UI"/>
              </a:rPr>
              <a:t>90%+ GM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246120"/>
            <a:ext cx="21945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dirty="0">
                <a:solidFill>
                  <a:schemeClr val="bg1"/>
                </a:solidFill>
                <a:latin typeface="Segoe UI"/>
              </a:rPr>
              <a:t>Primary revenue.
ARM Cortex-M comparable.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1508760"/>
            <a:ext cx="2468880" cy="256032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 w="12700"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429000" y="1508760"/>
            <a:ext cx="2468880" cy="50800"/>
          </a:xfrm>
          <a:prstGeom prst="rect">
            <a:avLst/>
          </a:prstGeom>
          <a:solidFill>
            <a:srgbClr val="CBA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66160" y="1645920"/>
            <a:ext cx="21945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CBA6F7"/>
                </a:solidFill>
                <a:latin typeface="Segoe UI"/>
              </a:rPr>
              <a:t>Vertical
Accelerator 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171700"/>
            <a:ext cx="21945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DD6F4"/>
                </a:solidFill>
                <a:latin typeface="Segoe UI"/>
              </a:rPr>
              <a:t>modules (sensor, industrial)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0" y="2868258"/>
            <a:ext cx="1097280" cy="320040"/>
          </a:xfrm>
          <a:prstGeom prst="roundRect">
            <a:avLst>
              <a:gd name="adj" fmla="val 8000"/>
            </a:avLst>
          </a:prstGeom>
          <a:solidFill>
            <a:srgbClr val="32293D"/>
          </a:solidFill>
          <a:ln w="12700">
            <a:solidFill>
              <a:srgbClr val="CBA6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114800" y="2868258"/>
            <a:ext cx="10972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BA6F7"/>
                </a:solidFill>
                <a:latin typeface="Segoe UI"/>
              </a:rPr>
              <a:t>85%+ GM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3246120"/>
            <a:ext cx="21945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dirty="0">
                <a:solidFill>
                  <a:schemeClr val="bg1"/>
                </a:solidFill>
                <a:latin typeface="Segoe UI"/>
              </a:rPr>
              <a:t>Higher value.
Domain-specific RTL.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26480" y="1508760"/>
            <a:ext cx="2468880" cy="256032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 w="12700"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26480" y="1508760"/>
            <a:ext cx="2468880" cy="50800"/>
          </a:xfrm>
          <a:prstGeom prst="rect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263640" y="1645920"/>
            <a:ext cx="21945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A6E3A1"/>
                </a:solidFill>
                <a:latin typeface="Segoe UI"/>
              </a:rPr>
              <a:t>SDK
Platform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2171700"/>
            <a:ext cx="21945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DD6F4"/>
                </a:solidFill>
                <a:latin typeface="Segoe UI"/>
              </a:rPr>
              <a:t>Annual subscription
for codegen + support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12280" y="2868258"/>
            <a:ext cx="1097280" cy="320040"/>
          </a:xfrm>
          <a:prstGeom prst="roundRect">
            <a:avLst>
              <a:gd name="adj" fmla="val 8000"/>
            </a:avLst>
          </a:prstGeom>
          <a:solidFill>
            <a:srgbClr val="293828"/>
          </a:solidFill>
          <a:ln w="12700">
            <a:solidFill>
              <a:srgbClr val="A6E3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812280" y="2868258"/>
            <a:ext cx="10972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A6E3A1"/>
                </a:solidFill>
                <a:latin typeface="Segoe UI"/>
              </a:rPr>
              <a:t>90%+ GM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3246120"/>
            <a:ext cx="21945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dirty="0">
                <a:solidFill>
                  <a:schemeClr val="bg1"/>
                </a:solidFill>
                <a:latin typeface="Segoe UI"/>
              </a:rPr>
              <a:t>Recurring revenue.
Developer lock-in.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23960" y="1508760"/>
            <a:ext cx="2468880" cy="256032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 w="12700"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823960" y="1508760"/>
            <a:ext cx="2468880" cy="50800"/>
          </a:xfrm>
          <a:prstGeom prst="rect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961120" y="1645920"/>
            <a:ext cx="21945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9E2AF"/>
                </a:solidFill>
                <a:latin typeface="Segoe UI"/>
              </a:rPr>
              <a:t>Professional
Services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2171700"/>
            <a:ext cx="21945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DD6F4"/>
                </a:solidFill>
                <a:latin typeface="Segoe UI"/>
              </a:rPr>
              <a:t>Custom integration
engagements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09760" y="2868258"/>
            <a:ext cx="1097280" cy="320040"/>
          </a:xfrm>
          <a:prstGeom prst="roundRect">
            <a:avLst>
              <a:gd name="adj" fmla="val 8000"/>
            </a:avLst>
          </a:prstGeom>
          <a:solidFill>
            <a:srgbClr val="3E382B"/>
          </a:solidFill>
          <a:ln w="12700">
            <a:solidFill>
              <a:srgbClr val="F9E2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509760" y="2868258"/>
            <a:ext cx="10972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9E2AF"/>
                </a:solidFill>
                <a:latin typeface="Segoe UI"/>
              </a:rPr>
              <a:t>50–60% GM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61120" y="3246120"/>
            <a:ext cx="21945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dirty="0">
                <a:solidFill>
                  <a:schemeClr val="bg1"/>
                </a:solidFill>
                <a:latin typeface="Segoe UI"/>
              </a:rPr>
              <a:t>Strategic land.
Learning use cases.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" y="4452303"/>
            <a:ext cx="10515600" cy="1188720"/>
          </a:xfrm>
          <a:prstGeom prst="roundRect">
            <a:avLst>
              <a:gd name="adj" fmla="val 3000"/>
            </a:avLst>
          </a:prstGeom>
          <a:solidFill>
            <a:srgbClr val="1A1F2E"/>
          </a:solidFill>
          <a:ln w="12700"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005840" y="4543743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chemeClr val="bg1"/>
                </a:solidFill>
                <a:latin typeface="Segoe UI"/>
              </a:rPr>
              <a:t>Comparable: ARM Holdings (FY2025)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17320" y="4940282"/>
            <a:ext cx="21945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3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89B4FA"/>
                </a:solidFill>
                <a:latin typeface="Segoe UI"/>
              </a:rPr>
              <a:t>$4.0B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17320" y="5260322"/>
            <a:ext cx="219456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chemeClr val="bg1"/>
                </a:solidFill>
                <a:latin typeface="Segoe UI"/>
              </a:rPr>
              <a:t>Revenue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86200" y="4940282"/>
            <a:ext cx="21945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3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A6E3A1"/>
                </a:solidFill>
                <a:latin typeface="Segoe UI"/>
              </a:rPr>
              <a:t>97%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86200" y="5260322"/>
            <a:ext cx="219456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chemeClr val="bg1"/>
                </a:solidFill>
                <a:latin typeface="Segoe UI"/>
              </a:rPr>
              <a:t>Gross Margin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37960" y="4929823"/>
            <a:ext cx="21945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3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CBA6F7"/>
                </a:solidFill>
                <a:latin typeface="Segoe UI"/>
              </a:rPr>
              <a:t>Pure IP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37960" y="5249863"/>
            <a:ext cx="219456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dirty="0">
                <a:solidFill>
                  <a:schemeClr val="bg1"/>
                </a:solidFill>
                <a:latin typeface="Segoe UI"/>
              </a:rPr>
              <a:t>No Manufacturing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72600" y="4941627"/>
            <a:ext cx="21945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3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F9E2AF"/>
                </a:solidFill>
                <a:latin typeface="Segoe UI"/>
              </a:rPr>
              <a:t>30+ Years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72600" y="5261667"/>
            <a:ext cx="219456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dirty="0">
                <a:solidFill>
                  <a:schemeClr val="bg1"/>
                </a:solidFill>
                <a:latin typeface="Segoe UI"/>
              </a:rPr>
              <a:t>Model Proven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5972137"/>
            <a:ext cx="10515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dirty="0">
                <a:solidFill>
                  <a:schemeClr val="bg1"/>
                </a:solidFill>
                <a:latin typeface="Segoe UI"/>
              </a:rPr>
              <a:t>Blended margin trajectory:  Year 1: ~75%  →  Year 3: ~85%  →  Year 5: ~88%</a:t>
            </a:r>
          </a:p>
          <a:p>
            <a:pPr algn="l"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dirty="0">
                <a:solidFill>
                  <a:schemeClr val="bg1"/>
                </a:solidFill>
                <a:latin typeface="Segoe UI"/>
              </a:rPr>
              <a:t>Improves as services % declines and SDK recurring revenue grows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77295" y="6492240"/>
            <a:ext cx="731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F849C"/>
                </a:solidFill>
                <a:latin typeface="Segoe UI"/>
              </a:rPr>
              <a:t>8/15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1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41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89B4FA"/>
                </a:solidFill>
                <a:latin typeface="Segoe UI"/>
              </a:rPr>
              <a:t>Traction &amp; Engineering Proof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" y="960120"/>
            <a:ext cx="10972800" cy="2540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234440"/>
            <a:ext cx="3291840" cy="105156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 w="12700"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50800" cy="1051560"/>
          </a:xfrm>
          <a:prstGeom prst="rect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325880"/>
            <a:ext cx="301752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A6E3A1"/>
                </a:solidFill>
                <a:latin typeface="Segoe UI"/>
              </a:rPr>
              <a:t>1,056 Mops/s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301752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chemeClr val="bg1"/>
                </a:solidFill>
                <a:latin typeface="Segoe UI"/>
              </a:rPr>
              <a:t>Peak throughput (N=16)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60" y="1234440"/>
            <a:ext cx="3291840" cy="105156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 w="12700"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251960" y="1234440"/>
            <a:ext cx="50800" cy="105156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34840" y="1325880"/>
            <a:ext cx="301752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89B4FA"/>
                </a:solidFill>
                <a:latin typeface="Segoe UI"/>
              </a:rPr>
              <a:t>10.6 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1828800"/>
            <a:ext cx="301752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chemeClr val="bg1"/>
                </a:solidFill>
                <a:latin typeface="Segoe UI"/>
              </a:rPr>
              <a:t>Single-op latency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234440"/>
            <a:ext cx="3291840" cy="105156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 w="12700"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772400" y="1234440"/>
            <a:ext cx="50800" cy="1051560"/>
          </a:xfrm>
          <a:prstGeom prst="rect">
            <a:avLst/>
          </a:prstGeom>
          <a:solidFill>
            <a:srgbClr val="CBA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55280" y="1325880"/>
            <a:ext cx="301752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CBA6F7"/>
                </a:solidFill>
                <a:latin typeface="Segoe UI"/>
              </a:rPr>
              <a:t>92 proofs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80" y="1828800"/>
            <a:ext cx="301752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chemeClr val="bg1"/>
                </a:solidFill>
                <a:latin typeface="Segoe UI"/>
              </a:rPr>
              <a:t>Lean4 verified, 0 sorry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2514600"/>
            <a:ext cx="3291840" cy="105156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 w="12700"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31520" y="2514600"/>
            <a:ext cx="50800" cy="1051560"/>
          </a:xfrm>
          <a:prstGeom prst="rect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2606040"/>
            <a:ext cx="301752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A6E3A1"/>
                </a:solidFill>
                <a:latin typeface="Segoe UI"/>
              </a:rPr>
              <a:t>80/80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108960"/>
            <a:ext cx="301752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chemeClr val="bg1"/>
                </a:solidFill>
                <a:latin typeface="Segoe UI"/>
              </a:rPr>
              <a:t>Hardware tests passing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51960" y="2514600"/>
            <a:ext cx="3291840" cy="105156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 w="12700"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51960" y="2514600"/>
            <a:ext cx="50800" cy="1051560"/>
          </a:xfrm>
          <a:prstGeom prst="rect">
            <a:avLst/>
          </a:prstGeom>
          <a:solidFill>
            <a:srgbClr val="94E2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434840" y="2606040"/>
            <a:ext cx="301752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94E2D5"/>
                </a:solidFill>
                <a:latin typeface="Segoe UI"/>
              </a:rPr>
              <a:t>353 tests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3108960"/>
            <a:ext cx="301752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chemeClr val="bg1"/>
                </a:solidFill>
                <a:latin typeface="Segoe UI"/>
              </a:rPr>
              <a:t>SDK (5 languages)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0" y="2514600"/>
            <a:ext cx="3291840" cy="105156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 w="12700"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772400" y="2514600"/>
            <a:ext cx="50800" cy="1051560"/>
          </a:xfrm>
          <a:prstGeom prst="rect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955280" y="2606040"/>
            <a:ext cx="301752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9E2AF"/>
                </a:solidFill>
                <a:latin typeface="Segoe UI"/>
              </a:rPr>
              <a:t>95–100%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80" y="3108960"/>
            <a:ext cx="301752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chemeClr val="bg1"/>
                </a:solidFill>
                <a:latin typeface="Segoe UI"/>
              </a:rPr>
              <a:t>Memory traffic reduction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3794760"/>
            <a:ext cx="3291840" cy="105156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 w="12700"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31520" y="3794760"/>
            <a:ext cx="50800" cy="1051560"/>
          </a:xfrm>
          <a:prstGeom prst="rect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14400" y="3886200"/>
            <a:ext cx="301752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A6E3A1"/>
                </a:solidFill>
                <a:latin typeface="Segoe UI"/>
              </a:rPr>
              <a:t>+35.7%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4389120"/>
            <a:ext cx="301752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chemeClr val="bg1"/>
                </a:solidFill>
                <a:latin typeface="Segoe UI"/>
              </a:rPr>
              <a:t>XOR vs adder speed (p&lt;.0001)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51960" y="3794760"/>
            <a:ext cx="3291840" cy="105156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 w="12700"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251960" y="3794760"/>
            <a:ext cx="50800" cy="1051560"/>
          </a:xfrm>
          <a:prstGeom prst="rect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434840" y="3886200"/>
            <a:ext cx="301752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A6E3A1"/>
                </a:solidFill>
                <a:latin typeface="Segoe UI"/>
              </a:rPr>
              <a:t>0% overflow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4840" y="4389120"/>
            <a:ext cx="301752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chemeClr val="bg1"/>
                </a:solidFill>
                <a:latin typeface="Segoe UI"/>
              </a:rPr>
              <a:t>XOR risk (vs 150.7% adder)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-9000000" y="-9000000"/>
            <a:ext cx="3291840" cy="105156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 w="12700"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-9000000" y="-9000000"/>
            <a:ext cx="50800" cy="1051560"/>
          </a:xfrm>
          <a:prstGeom prst="rect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-9000000" y="-9000000"/>
            <a:ext cx="301752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9E2AF"/>
                </a:solidFill>
                <a:latin typeface="Segoe UI"/>
              </a:rPr>
              <a:t/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-9000000" y="-9000000"/>
            <a:ext cx="301752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dirty="0">
                <a:solidFill>
                  <a:schemeClr val="bg1"/>
                </a:solidFill>
                <a:latin typeface="Segoe UI"/>
              </a:rPr>
              <a:t/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6176" y="5068197"/>
            <a:ext cx="5486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dirty="0">
                <a:solidFill>
                  <a:schemeClr val="bg1"/>
                </a:solidFill>
                <a:latin typeface="Segoe UI"/>
              </a:rPr>
              <a:t>Parallel Scaling (Verilog-Verified)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6213297"/>
            <a:ext cx="1645920" cy="90011"/>
          </a:xfrm>
          <a:prstGeom prst="rect">
            <a:avLst/>
          </a:prstGeom>
          <a:solidFill>
            <a:srgbClr val="30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11480" y="5932212"/>
            <a:ext cx="16459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>
                <a:solidFill>
                  <a:srgbClr val="A6E3A1"/>
                </a:solidFill>
                <a:latin typeface="Segoe UI"/>
              </a:rPr>
              <a:t>94 Mops/s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" y="6355793"/>
            <a:ext cx="16459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dirty="0">
                <a:solidFill>
                  <a:schemeClr val="bg1"/>
                </a:solidFill>
                <a:latin typeface="Segoe UI"/>
              </a:rPr>
              <a:t>N=1
94.5 MHz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788920" y="5994699"/>
            <a:ext cx="1645920" cy="308610"/>
          </a:xfrm>
          <a:prstGeom prst="rect">
            <a:avLst/>
          </a:prstGeom>
          <a:solidFill>
            <a:srgbClr val="306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2788920" y="5713614"/>
            <a:ext cx="16459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A6E3A1"/>
                </a:solidFill>
                <a:latin typeface="Segoe UI"/>
              </a:rPr>
              <a:t>324 Mops/s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788920" y="6355793"/>
            <a:ext cx="16459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dirty="0">
                <a:solidFill>
                  <a:schemeClr val="bg1"/>
                </a:solidFill>
                <a:latin typeface="Segoe UI"/>
              </a:rPr>
              <a:t>N=4
81 MHz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166360" y="5788959"/>
            <a:ext cx="1645920" cy="514350"/>
          </a:xfrm>
          <a:prstGeom prst="rect">
            <a:avLst/>
          </a:prstGeom>
          <a:solidFill>
            <a:srgbClr val="3082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166360" y="5507874"/>
            <a:ext cx="16459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A6E3A1"/>
                </a:solidFill>
                <a:latin typeface="Segoe UI"/>
              </a:rPr>
              <a:t>540 Mops/s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66360" y="6355793"/>
            <a:ext cx="16459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dirty="0">
                <a:solidFill>
                  <a:schemeClr val="bg1"/>
                </a:solidFill>
                <a:latin typeface="Segoe UI"/>
              </a:rPr>
              <a:t>N=8
67.5 MHz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543800" y="5297469"/>
            <a:ext cx="1645920" cy="1005840"/>
          </a:xfrm>
          <a:prstGeom prst="rect">
            <a:avLst/>
          </a:prstGeom>
          <a:solidFill>
            <a:srgbClr val="30D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7543800" y="5016384"/>
            <a:ext cx="164592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A6E3A1"/>
                </a:solidFill>
                <a:latin typeface="Segoe UI"/>
              </a:rPr>
              <a:t>1056 Mops/s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543800" y="6355793"/>
            <a:ext cx="16459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dirty="0">
                <a:solidFill>
                  <a:schemeClr val="bg1"/>
                </a:solidFill>
                <a:latin typeface="Segoe UI"/>
              </a:rPr>
              <a:t>N=16
66 MHz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95704" y="5412525"/>
            <a:ext cx="1945036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b="1" dirty="0">
                <a:solidFill>
                  <a:srgbClr val="A6E3A1"/>
                </a:solidFill>
                <a:latin typeface="Segoe UI"/>
              </a:rPr>
              <a:t>Linear scaling: 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277295" y="6492240"/>
            <a:ext cx="731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F849C"/>
                </a:solidFill>
                <a:latin typeface="Segoe UI"/>
              </a:rPr>
              <a:t>9/15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4CD9FB4-8EDA-CD65-5A19-F25B2E83691A}"/>
              </a:ext>
            </a:extLst>
          </p:cNvPr>
          <p:cNvSpPr txBox="1"/>
          <p:nvPr/>
        </p:nvSpPr>
        <p:spPr>
          <a:xfrm>
            <a:off x="9495704" y="5710377"/>
            <a:ext cx="2513111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dirty="0">
                <a:solidFill>
                  <a:srgbClr val="A6E3A1"/>
                </a:solidFill>
                <a:latin typeface="Segoe UI"/>
              </a:rPr>
              <a:t>N banks = N</a:t>
            </a:r>
            <a:r>
              <a:rPr lang="en-US" sz="1300" b="1" dirty="0">
                <a:solidFill>
                  <a:srgbClr val="A6E3A1"/>
                </a:solidFill>
                <a:latin typeface="Segoe UI"/>
              </a:rPr>
              <a:t> </a:t>
            </a:r>
            <a:r>
              <a:rPr sz="1300" b="1" dirty="0">
                <a:solidFill>
                  <a:srgbClr val="A6E3A1"/>
                </a:solidFill>
                <a:latin typeface="Segoe UI"/>
              </a:rPr>
              <a:t>×</a:t>
            </a:r>
            <a:r>
              <a:rPr lang="en-US" sz="1300" b="1" dirty="0">
                <a:solidFill>
                  <a:srgbClr val="A6E3A1"/>
                </a:solidFill>
                <a:latin typeface="Segoe UI"/>
              </a:rPr>
              <a:t>T</a:t>
            </a:r>
            <a:r>
              <a:rPr sz="1300" b="1" dirty="0">
                <a:solidFill>
                  <a:srgbClr val="A6E3A1"/>
                </a:solidFill>
                <a:latin typeface="Segoe UI"/>
              </a:rPr>
              <a:t>hroughput</a:t>
            </a:r>
          </a:p>
          <a:p>
            <a:pPr algn="l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dirty="0">
                <a:solidFill>
                  <a:schemeClr val="bg1"/>
                </a:solidFill>
                <a:latin typeface="Segoe UI"/>
              </a:rPr>
              <a:t>No diminishing returns</a:t>
            </a:r>
          </a:p>
        </p:txBody>
      </p:sp>
      <p:sp>
        <p:nvSpPr>
          <p:cNvPr id="63" name="Arc 62">
            <a:extLst>
              <a:ext uri="{FF2B5EF4-FFF2-40B4-BE49-F238E27FC236}">
                <a16:creationId xmlns:a16="http://schemas.microsoft.com/office/drawing/2014/main" id="{022A7E07-DC45-A9B9-6AAE-80499F5910C5}"/>
              </a:ext>
            </a:extLst>
          </p:cNvPr>
          <p:cNvSpPr/>
          <p:nvPr/>
        </p:nvSpPr>
        <p:spPr>
          <a:xfrm rot="10454364">
            <a:off x="-2278946" y="4101241"/>
            <a:ext cx="13492779" cy="1943409"/>
          </a:xfrm>
          <a:prstGeom prst="arc">
            <a:avLst>
              <a:gd name="adj1" fmla="val 11125465"/>
              <a:gd name="adj2" fmla="val 20972744"/>
            </a:avLst>
          </a:prstGeom>
          <a:ln>
            <a:solidFill>
              <a:schemeClr val="bg1"/>
            </a:solidFill>
            <a:head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1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41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89B4FA"/>
                </a:solidFill>
                <a:latin typeface="Segoe UI"/>
              </a:rPr>
              <a:t>How Customers Handle State 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" y="960120"/>
            <a:ext cx="10972800" cy="2540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19" y="1039406"/>
            <a:ext cx="5486400" cy="365760"/>
          </a:xfrm>
          <a:prstGeom prst="rect">
            <a:avLst/>
          </a:prstGeom>
          <a:noFill/>
        </p:spPr>
        <p:txBody>
          <a:bodyPr wrap="square" lIns="0"/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dirty="0">
                <a:solidFill>
                  <a:schemeClr val="bg1"/>
                </a:solidFill>
                <a:latin typeface="Segoe UI"/>
              </a:rPr>
              <a:t>Approach Comparison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2359145"/>
              </p:ext>
            </p:extLst>
          </p:nvPr>
        </p:nvGraphicFramePr>
        <p:xfrm>
          <a:off x="731518" y="1426965"/>
          <a:ext cx="9414284" cy="26604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55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194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55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8302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0902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89B4FA"/>
                          </a:solidFill>
                          <a:latin typeface="Segoe UI"/>
                        </a:defRPr>
                      </a:pPr>
                      <a:r>
                        <a:rPr dirty="0"/>
                        <a:t>Dimension</a:t>
                      </a:r>
                    </a:p>
                  </a:txBody>
                  <a:tcPr marL="73152" marR="73152" marT="36576" marB="36576">
                    <a:solidFill>
                      <a:srgbClr val="2525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89B4FA"/>
                          </a:solidFill>
                          <a:latin typeface="Segoe UI"/>
                        </a:defRPr>
                      </a:pPr>
                      <a:r>
                        <a:t>ATOMiK</a:t>
                      </a:r>
                    </a:p>
                  </a:txBody>
                  <a:tcPr marL="73152" marR="73152" marT="36576" marB="36576">
                    <a:solidFill>
                      <a:srgbClr val="2525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89B4FA"/>
                          </a:solidFill>
                          <a:latin typeface="Segoe UI"/>
                        </a:defRPr>
                      </a:pPr>
                      <a:r>
                        <a:rPr dirty="0"/>
                        <a:t>Conventional Memory + Locks</a:t>
                      </a:r>
                    </a:p>
                  </a:txBody>
                  <a:tcPr marL="73152" marR="73152" marT="36576" marB="36576">
                    <a:solidFill>
                      <a:srgbClr val="2525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89B4FA"/>
                          </a:solidFill>
                          <a:latin typeface="Segoe UI"/>
                        </a:defRPr>
                      </a:pPr>
                      <a:r>
                        <a:t>Checkpoint / Journal</a:t>
                      </a:r>
                    </a:p>
                  </a:txBody>
                  <a:tcPr marL="73152" marR="73152" marT="36576" marB="36576">
                    <a:solidFill>
                      <a:srgbClr val="2525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1906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State Update</a:t>
                      </a:r>
                    </a:p>
                  </a:txBody>
                  <a:tcPr marL="73152" marR="73152" marT="36576" marB="36576"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XOR delta (O(1))</a:t>
                      </a:r>
                    </a:p>
                  </a:txBody>
                  <a:tcPr marL="73152" marR="73152" marT="36576" marB="36576"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Full copy + lock</a:t>
                      </a:r>
                    </a:p>
                  </a:txBody>
                  <a:tcPr marL="73152" marR="73152" marT="36576" marB="36576"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Write-ahead log + replay</a:t>
                      </a:r>
                    </a:p>
                  </a:txBody>
                  <a:tcPr marL="73152" marR="73152" marT="36576" marB="36576">
                    <a:solidFill>
                      <a:srgbClr val="1E1E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1906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Reconstruction</a:t>
                      </a:r>
                    </a:p>
                  </a:txBody>
                  <a:tcPr marL="73152" marR="73152" marT="36576" marB="36576">
                    <a:solidFill>
                      <a:srgbClr val="1A1A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O(1) per cycle</a:t>
                      </a:r>
                    </a:p>
                  </a:txBody>
                  <a:tcPr marL="73152" marR="73152" marT="36576" marB="36576">
                    <a:solidFill>
                      <a:srgbClr val="1A1A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Re-read from memory</a:t>
                      </a:r>
                    </a:p>
                  </a:txBody>
                  <a:tcPr marL="73152" marR="73152" marT="36576" marB="36576">
                    <a:solidFill>
                      <a:srgbClr val="1A1A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O(N) log replay</a:t>
                      </a:r>
                    </a:p>
                  </a:txBody>
                  <a:tcPr marL="73152" marR="73152" marT="36576" marB="36576">
                    <a:solidFill>
                      <a:srgbClr val="1A1A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1906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Parallelism</a:t>
                      </a:r>
                    </a:p>
                  </a:txBody>
                  <a:tcPr marL="73152" marR="73152" marT="36576" marB="36576"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Lock-free (commutative)</a:t>
                      </a:r>
                    </a:p>
                  </a:txBody>
                  <a:tcPr marL="73152" marR="73152" marT="36576" marB="36576"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Mutex / spinlock</a:t>
                      </a:r>
                    </a:p>
                  </a:txBody>
                  <a:tcPr marL="73152" marR="73152" marT="36576" marB="36576"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Sequential writes</a:t>
                      </a:r>
                    </a:p>
                  </a:txBody>
                  <a:tcPr marL="73152" marR="73152" marT="36576" marB="36576">
                    <a:solidFill>
                      <a:srgbClr val="1E1E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1906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Undo / Reversal</a:t>
                      </a:r>
                    </a:p>
                  </a:txBody>
                  <a:tcPr marL="73152" marR="73152" marT="36576" marB="36576">
                    <a:solidFill>
                      <a:srgbClr val="1A1A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Free (self-inverse)</a:t>
                      </a:r>
                    </a:p>
                  </a:txBody>
                  <a:tcPr marL="73152" marR="73152" marT="36576" marB="36576">
                    <a:solidFill>
                      <a:srgbClr val="1A1A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Not supported</a:t>
                      </a:r>
                    </a:p>
                  </a:txBody>
                  <a:tcPr marL="73152" marR="73152" marT="36576" marB="36576">
                    <a:solidFill>
                      <a:srgbClr val="1A1A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Replay from checkpoint</a:t>
                      </a:r>
                    </a:p>
                  </a:txBody>
                  <a:tcPr marL="73152" marR="73152" marT="36576" marB="36576">
                    <a:solidFill>
                      <a:srgbClr val="1A1A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1906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Power (edge)</a:t>
                      </a:r>
                    </a:p>
                  </a:txBody>
                  <a:tcPr marL="73152" marR="73152" marT="36576" marB="36576"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 dirty="0">
                          <a:solidFill>
                            <a:schemeClr val="bg1"/>
                          </a:solidFill>
                        </a:rPr>
                        <a:t>~20 mW</a:t>
                      </a:r>
                    </a:p>
                  </a:txBody>
                  <a:tcPr marL="73152" marR="73152" marT="36576" marB="36576"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CPU-bound</a:t>
                      </a:r>
                    </a:p>
                  </a:txBody>
                  <a:tcPr marL="73152" marR="73152" marT="36576" marB="36576"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CPU + storage I/O</a:t>
                      </a:r>
                    </a:p>
                  </a:txBody>
                  <a:tcPr marL="73152" marR="73152" marT="36576" marB="36576">
                    <a:solidFill>
                      <a:srgbClr val="1E1E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1906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 dirty="0">
                          <a:solidFill>
                            <a:schemeClr val="bg1"/>
                          </a:solidFill>
                        </a:rPr>
                        <a:t>Formal Verification</a:t>
                      </a:r>
                    </a:p>
                  </a:txBody>
                  <a:tcPr marL="73152" marR="73152" marT="36576" marB="36576">
                    <a:solidFill>
                      <a:srgbClr val="1A1A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92 Lean4 proofs</a:t>
                      </a:r>
                    </a:p>
                  </a:txBody>
                  <a:tcPr marL="73152" marR="73152" marT="36576" marB="36576">
                    <a:solidFill>
                      <a:srgbClr val="1A1A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None</a:t>
                      </a:r>
                    </a:p>
                  </a:txBody>
                  <a:tcPr marL="73152" marR="73152" marT="36576" marB="36576">
                    <a:solidFill>
                      <a:srgbClr val="1A1A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None</a:t>
                      </a:r>
                    </a:p>
                  </a:txBody>
                  <a:tcPr marL="73152" marR="73152" marT="36576" marB="36576">
                    <a:solidFill>
                      <a:srgbClr val="1A1A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21874" y="4228424"/>
            <a:ext cx="5486400" cy="365760"/>
          </a:xfrm>
          <a:prstGeom prst="rect">
            <a:avLst/>
          </a:prstGeom>
          <a:noFill/>
        </p:spPr>
        <p:txBody>
          <a:bodyPr wrap="square" lIns="0"/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dirty="0">
                <a:solidFill>
                  <a:schemeClr val="bg1"/>
                </a:solidFill>
                <a:latin typeface="Segoe UI"/>
              </a:rPr>
              <a:t>Market Comparables (licensing model reference)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0730462"/>
              </p:ext>
            </p:extLst>
          </p:nvPr>
        </p:nvGraphicFramePr>
        <p:xfrm>
          <a:off x="721874" y="4615984"/>
          <a:ext cx="10515600" cy="1036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5401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89B4FA"/>
                          </a:solidFill>
                          <a:latin typeface="Segoe UI"/>
                        </a:defRPr>
                      </a:pPr>
                      <a:r>
                        <a:rPr dirty="0"/>
                        <a:t>Company</a:t>
                      </a:r>
                    </a:p>
                  </a:txBody>
                  <a:tcPr marL="73152" marR="73152" marT="36576" marB="36576">
                    <a:solidFill>
                      <a:srgbClr val="2525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89B4FA"/>
                          </a:solidFill>
                          <a:latin typeface="Segoe UI"/>
                        </a:defRPr>
                      </a:pPr>
                      <a:r>
                        <a:rPr dirty="0"/>
                        <a:t>Valuation / Revenue</a:t>
                      </a:r>
                    </a:p>
                  </a:txBody>
                  <a:tcPr marL="73152" marR="73152" marT="36576" marB="36576">
                    <a:solidFill>
                      <a:srgbClr val="2525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89B4FA"/>
                          </a:solidFill>
                          <a:latin typeface="Segoe UI"/>
                        </a:defRPr>
                      </a:pPr>
                      <a:r>
                        <a:rPr dirty="0"/>
                        <a:t>Model</a:t>
                      </a:r>
                    </a:p>
                  </a:txBody>
                  <a:tcPr marL="73152" marR="73152" marT="36576" marB="36576">
                    <a:solidFill>
                      <a:srgbClr val="2525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89B4FA"/>
                          </a:solidFill>
                          <a:latin typeface="Segoe UI"/>
                        </a:defRPr>
                      </a:pPr>
                      <a:r>
                        <a:rPr dirty="0"/>
                        <a:t>Source</a:t>
                      </a:r>
                    </a:p>
                  </a:txBody>
                  <a:tcPr marL="73152" marR="73152" marT="36576" marB="36576">
                    <a:solidFill>
                      <a:srgbClr val="2525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5401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 dirty="0">
                          <a:solidFill>
                            <a:schemeClr val="bg1"/>
                          </a:solidFill>
                        </a:rPr>
                        <a:t>ARM Holdings</a:t>
                      </a:r>
                    </a:p>
                  </a:txBody>
                  <a:tcPr marL="73152" marR="73152" marT="36576" marB="36576"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 dirty="0">
                          <a:solidFill>
                            <a:schemeClr val="bg1"/>
                          </a:solidFill>
                        </a:rPr>
                        <a:t>$4.0B rev, 97% GM</a:t>
                      </a:r>
                    </a:p>
                  </a:txBody>
                  <a:tcPr marL="73152" marR="73152" marT="36576" marB="36576"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 dirty="0">
                          <a:solidFill>
                            <a:schemeClr val="bg1"/>
                          </a:solidFill>
                        </a:rPr>
                        <a:t>IP license + royalty</a:t>
                      </a:r>
                    </a:p>
                  </a:txBody>
                  <a:tcPr marL="73152" marR="73152" marT="36576" marB="36576"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 dirty="0">
                          <a:solidFill>
                            <a:schemeClr val="bg1"/>
                          </a:solidFill>
                        </a:rPr>
                        <a:t>SEC filing, FY2025</a:t>
                      </a:r>
                    </a:p>
                  </a:txBody>
                  <a:tcPr marL="73152" marR="73152" marT="36576" marB="36576">
                    <a:solidFill>
                      <a:srgbClr val="1E1E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5401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 err="1">
                          <a:solidFill>
                            <a:schemeClr val="bg1"/>
                          </a:solidFill>
                        </a:rPr>
                        <a:t>CEVA</a:t>
                      </a:r>
                    </a:p>
                  </a:txBody>
                  <a:tcPr marL="73152" marR="73152" marT="36576" marB="36576"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 dirty="0">
                          <a:solidFill>
                            <a:schemeClr val="bg1"/>
                          </a:solidFill>
                        </a:rPr>
                        <a:t>$118M rev, $2.2B mkt cap</a:t>
                      </a:r>
                    </a:p>
                  </a:txBody>
                  <a:tcPr marL="73152" marR="73152" marT="36576" marB="36576"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 dirty="0">
                          <a:solidFill>
                            <a:schemeClr val="bg1"/>
                          </a:solidFill>
                        </a:rPr>
                        <a:t>IP license + royalty</a:t>
                      </a:r>
                    </a:p>
                  </a:txBody>
                  <a:tcPr marL="73152" marR="73152" marT="36576" marB="36576"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 dirty="0">
                          <a:solidFill>
                            <a:schemeClr val="bg1"/>
                          </a:solidFill>
                        </a:rPr>
                        <a:t>SEC filing, 2025</a:t>
                      </a:r>
                    </a:p>
                  </a:txBody>
                  <a:tcPr marL="73152" marR="73152" marT="36576" marB="36576">
                    <a:solidFill>
                      <a:srgbClr val="1E1E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1277295" y="6492240"/>
            <a:ext cx="731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F849C"/>
                </a:solidFill>
                <a:latin typeface="Segoe UI"/>
              </a:rPr>
              <a:t>10/15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1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41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89B4FA"/>
                </a:solidFill>
                <a:latin typeface="Segoe UI"/>
              </a:rP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dirty="0">
                <a:solidFill>
                  <a:schemeClr val="bg1"/>
                </a:solidFill>
                <a:latin typeface="Segoe UI"/>
              </a:rPr>
              <a:t>From proof-of-concept to production silicon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904" y="1280160"/>
            <a:ext cx="10972800" cy="2540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8640" y="1828800"/>
            <a:ext cx="10515600" cy="381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165860" y="1719072"/>
            <a:ext cx="274320" cy="274320"/>
          </a:xfrm>
          <a:prstGeom prst="ellipse">
            <a:avLst/>
          </a:prstGeom>
          <a:solidFill>
            <a:srgbClr val="CBA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65860" y="1737360"/>
            <a:ext cx="274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13131A"/>
                </a:solidFill>
                <a:latin typeface="Segoe UI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57400"/>
            <a:ext cx="150876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BA6F7"/>
                </a:solidFill>
                <a:latin typeface="Segoe UI"/>
              </a:rPr>
              <a:t>Phase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86000"/>
            <a:ext cx="15087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DD6F4"/>
                </a:solidFill>
                <a:latin typeface="Segoe UI"/>
              </a:rPr>
              <a:t>Math
Formalization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1927" y="2752075"/>
            <a:ext cx="15087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dirty="0">
                <a:solidFill>
                  <a:schemeClr val="bg1"/>
                </a:solidFill>
                <a:latin typeface="Segoe UI"/>
              </a:rPr>
              <a:t>92 Lean4
proofs</a:t>
            </a:r>
          </a:p>
        </p:txBody>
      </p:sp>
      <p:sp>
        <p:nvSpPr>
          <p:cNvPr id="11" name="Oval 10"/>
          <p:cNvSpPr/>
          <p:nvPr/>
        </p:nvSpPr>
        <p:spPr>
          <a:xfrm>
            <a:off x="2857500" y="1719072"/>
            <a:ext cx="274320" cy="274320"/>
          </a:xfrm>
          <a:prstGeom prst="ellipse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857500" y="1729740"/>
            <a:ext cx="274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13131A"/>
                </a:solidFill>
                <a:latin typeface="Segoe U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2057400"/>
            <a:ext cx="150876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89B4FA"/>
                </a:solidFill>
                <a:latin typeface="Segoe UI"/>
              </a:rPr>
              <a:t>Phase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2286000"/>
            <a:ext cx="15087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DD6F4"/>
                </a:solidFill>
                <a:latin typeface="Segoe UI"/>
              </a:rPr>
              <a:t>SCORE
Benchmarks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30269" y="2762250"/>
            <a:ext cx="15087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dirty="0">
                <a:solidFill>
                  <a:schemeClr val="bg1"/>
                </a:solidFill>
                <a:latin typeface="Segoe UI"/>
              </a:rPr>
              <a:t>95–100%
mem reduction</a:t>
            </a:r>
          </a:p>
        </p:txBody>
      </p:sp>
      <p:sp>
        <p:nvSpPr>
          <p:cNvPr id="16" name="Oval 15"/>
          <p:cNvSpPr/>
          <p:nvPr/>
        </p:nvSpPr>
        <p:spPr>
          <a:xfrm>
            <a:off x="4549140" y="1719072"/>
            <a:ext cx="274320" cy="274320"/>
          </a:xfrm>
          <a:prstGeom prst="ellipse">
            <a:avLst/>
          </a:prstGeom>
          <a:solidFill>
            <a:srgbClr val="94E2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49140" y="1738286"/>
            <a:ext cx="274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13131A"/>
                </a:solidFill>
                <a:latin typeface="Segoe U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2057400"/>
            <a:ext cx="150876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94E2D5"/>
                </a:solidFill>
                <a:latin typeface="Segoe UI"/>
              </a:rPr>
              <a:t>Phase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2286000"/>
            <a:ext cx="15087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DD6F4"/>
                </a:solidFill>
                <a:latin typeface="Segoe UI"/>
              </a:rPr>
              <a:t>Hardware
Synthesis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0" y="2767853"/>
            <a:ext cx="15087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dirty="0">
                <a:solidFill>
                  <a:schemeClr val="bg1"/>
                </a:solidFill>
                <a:latin typeface="Segoe UI"/>
              </a:rPr>
              <a:t>94.5 MHz
80/80 tests</a:t>
            </a:r>
          </a:p>
        </p:txBody>
      </p:sp>
      <p:sp>
        <p:nvSpPr>
          <p:cNvPr id="21" name="Oval 20"/>
          <p:cNvSpPr/>
          <p:nvPr/>
        </p:nvSpPr>
        <p:spPr>
          <a:xfrm>
            <a:off x="6240780" y="1719072"/>
            <a:ext cx="274320" cy="274320"/>
          </a:xfrm>
          <a:prstGeom prst="ellipse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240780" y="1738286"/>
            <a:ext cx="274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13131A"/>
                </a:solidFill>
                <a:latin typeface="Segoe U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23560" y="2057400"/>
            <a:ext cx="150876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A6E3A1"/>
                </a:solidFill>
                <a:latin typeface="Segoe UI"/>
              </a:rPr>
              <a:t>Phase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286000"/>
            <a:ext cx="15087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DD6F4"/>
                </a:solidFill>
                <a:latin typeface="Segoe UI"/>
              </a:rPr>
              <a:t>SDK
Generation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23560" y="2788920"/>
            <a:ext cx="15087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chemeClr val="bg1"/>
                </a:solidFill>
                <a:latin typeface="Segoe UI"/>
              </a:rPr>
              <a:t>5 languages
353 tests</a:t>
            </a:r>
          </a:p>
        </p:txBody>
      </p:sp>
      <p:sp>
        <p:nvSpPr>
          <p:cNvPr id="26" name="Oval 25"/>
          <p:cNvSpPr/>
          <p:nvPr/>
        </p:nvSpPr>
        <p:spPr>
          <a:xfrm>
            <a:off x="7932420" y="1719072"/>
            <a:ext cx="274320" cy="274320"/>
          </a:xfrm>
          <a:prstGeom prst="ellipse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932420" y="1738286"/>
            <a:ext cx="274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13131A"/>
                </a:solidFill>
                <a:latin typeface="Segoe U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2057400"/>
            <a:ext cx="150876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9E2AF"/>
                </a:solidFill>
                <a:latin typeface="Segoe UI"/>
              </a:rPr>
              <a:t>Phase 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2286000"/>
            <a:ext cx="15087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DD6F4"/>
                </a:solidFill>
                <a:latin typeface="Segoe UI"/>
              </a:rPr>
              <a:t>3-Node
Demo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2788920"/>
            <a:ext cx="15087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chemeClr val="bg1"/>
                </a:solidFill>
                <a:latin typeface="Segoe UI"/>
              </a:rPr>
              <a:t>Multi-device
merge</a:t>
            </a:r>
          </a:p>
        </p:txBody>
      </p:sp>
      <p:sp>
        <p:nvSpPr>
          <p:cNvPr id="31" name="Oval 30"/>
          <p:cNvSpPr/>
          <p:nvPr/>
        </p:nvSpPr>
        <p:spPr>
          <a:xfrm>
            <a:off x="9624060" y="1719072"/>
            <a:ext cx="274320" cy="274320"/>
          </a:xfrm>
          <a:prstGeom prst="ellipse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624060" y="1738286"/>
            <a:ext cx="274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3131A"/>
                </a:solidFill>
                <a:latin typeface="Segoe U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06840" y="2057400"/>
            <a:ext cx="150876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A6E3A1"/>
                </a:solidFill>
                <a:latin typeface="Segoe UI"/>
              </a:rPr>
              <a:t>Phase 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06840" y="2286000"/>
            <a:ext cx="15087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DD6F4"/>
                </a:solidFill>
                <a:latin typeface="Segoe UI"/>
              </a:rPr>
              <a:t>Parallel
Scaling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06840" y="2809539"/>
            <a:ext cx="15087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dirty="0">
                <a:solidFill>
                  <a:schemeClr val="bg1"/>
                </a:solidFill>
                <a:latin typeface="Segoe UI"/>
              </a:rPr>
              <a:t>1,056 Mops/s
16× linear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673080" y="1911365"/>
            <a:ext cx="25400" cy="137160"/>
          </a:xfrm>
          <a:prstGeom prst="rect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10673080" y="2185685"/>
            <a:ext cx="25400" cy="137160"/>
          </a:xfrm>
          <a:prstGeom prst="rect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10673080" y="2460005"/>
            <a:ext cx="25400" cy="137160"/>
          </a:xfrm>
          <a:prstGeom prst="rect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10673080" y="2734324"/>
            <a:ext cx="25400" cy="137160"/>
          </a:xfrm>
          <a:prstGeom prst="rect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10673080" y="3008645"/>
            <a:ext cx="25400" cy="137160"/>
          </a:xfrm>
          <a:prstGeom prst="rect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10673080" y="3282965"/>
            <a:ext cx="25400" cy="137160"/>
          </a:xfrm>
          <a:prstGeom prst="rect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10673080" y="3557284"/>
            <a:ext cx="25400" cy="137160"/>
          </a:xfrm>
          <a:prstGeom prst="rect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0149840" y="1359349"/>
            <a:ext cx="10972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>
                <a:solidFill>
                  <a:srgbClr val="F9E2AF"/>
                </a:solidFill>
                <a:latin typeface="Segoe UI"/>
              </a:rPr>
              <a:t>SEED ROUND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1520" y="4114800"/>
            <a:ext cx="10332720" cy="381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1783080" y="4005072"/>
            <a:ext cx="274320" cy="274320"/>
          </a:xfrm>
          <a:prstGeom prst="ellipse">
            <a:avLst/>
          </a:prstGeom>
          <a:solidFill>
            <a:srgbClr val="1E1E2E"/>
          </a:solidFill>
          <a:ln w="25400">
            <a:solidFill>
              <a:srgbClr val="89B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783080" y="4015740"/>
            <a:ext cx="274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89B4FA"/>
                </a:solidFill>
                <a:latin typeface="Segoe UI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4343400"/>
            <a:ext cx="23774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9B4FA"/>
                </a:solidFill>
                <a:latin typeface="Segoe UI"/>
              </a:rPr>
              <a:t>Zynq Validation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" y="4800600"/>
            <a:ext cx="23774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dirty="0">
                <a:solidFill>
                  <a:schemeClr val="bg1"/>
                </a:solidFill>
                <a:latin typeface="Segoe UI"/>
              </a:rPr>
              <a:t>Physical Zynq-7020</a:t>
            </a:r>
          </a:p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dirty="0">
                <a:solidFill>
                  <a:schemeClr val="bg1"/>
                </a:solidFill>
                <a:latin typeface="Segoe UI"/>
              </a:rPr>
              <a:t>validation + N=32+</a:t>
            </a:r>
          </a:p>
        </p:txBody>
      </p:sp>
      <p:sp>
        <p:nvSpPr>
          <p:cNvPr id="50" name="Oval 49"/>
          <p:cNvSpPr/>
          <p:nvPr/>
        </p:nvSpPr>
        <p:spPr>
          <a:xfrm>
            <a:off x="4434840" y="4005072"/>
            <a:ext cx="274320" cy="274320"/>
          </a:xfrm>
          <a:prstGeom prst="ellipse">
            <a:avLst/>
          </a:prstGeom>
          <a:solidFill>
            <a:srgbClr val="1E1E2E"/>
          </a:solidFill>
          <a:ln w="25400">
            <a:solidFill>
              <a:srgbClr val="CBA6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434840" y="4023360"/>
            <a:ext cx="274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CBA6F7"/>
                </a:solidFill>
                <a:latin typeface="Segoe UI"/>
              </a:rP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383280" y="4343400"/>
            <a:ext cx="23774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BA6F7"/>
                </a:solidFill>
                <a:latin typeface="Segoe UI"/>
              </a:rPr>
              <a:t>Vertical SDK
Modules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383280" y="4800600"/>
            <a:ext cx="23774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chemeClr val="bg1"/>
                </a:solidFill>
                <a:latin typeface="Segoe UI"/>
              </a:rPr>
              <a:t>Sensor fusion,</a:t>
            </a:r>
          </a:p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chemeClr val="bg1"/>
                </a:solidFill>
                <a:latin typeface="Segoe UI"/>
              </a:rPr>
              <a:t>industrial packages</a:t>
            </a:r>
          </a:p>
        </p:txBody>
      </p:sp>
      <p:sp>
        <p:nvSpPr>
          <p:cNvPr id="54" name="Oval 53"/>
          <p:cNvSpPr/>
          <p:nvPr/>
        </p:nvSpPr>
        <p:spPr>
          <a:xfrm>
            <a:off x="7086600" y="4005072"/>
            <a:ext cx="274320" cy="274320"/>
          </a:xfrm>
          <a:prstGeom prst="ellipse">
            <a:avLst/>
          </a:prstGeom>
          <a:solidFill>
            <a:srgbClr val="1E1E2E"/>
          </a:solidFill>
          <a:ln w="25400">
            <a:solidFill>
              <a:srgbClr val="94E2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7086600" y="4015740"/>
            <a:ext cx="274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94E2D5"/>
                </a:solidFill>
                <a:latin typeface="Segoe UI"/>
              </a:rPr>
              <a:t>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35040" y="4384040"/>
            <a:ext cx="23774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dirty="0">
                <a:solidFill>
                  <a:srgbClr val="94E2D5"/>
                </a:solidFill>
                <a:latin typeface="Segoe UI"/>
              </a:rPr>
              <a:t>ASIC Feasibility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035040" y="4800600"/>
            <a:ext cx="23774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chemeClr val="bg1"/>
                </a:solidFill>
                <a:latin typeface="Segoe UI"/>
              </a:rPr>
              <a:t>$150K–$300K study</a:t>
            </a:r>
          </a:p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chemeClr val="bg1"/>
                </a:solidFill>
                <a:latin typeface="Segoe UI"/>
              </a:rPr>
              <a:t>go/no-go gates</a:t>
            </a:r>
          </a:p>
        </p:txBody>
      </p:sp>
      <p:sp>
        <p:nvSpPr>
          <p:cNvPr id="58" name="Oval 57"/>
          <p:cNvSpPr/>
          <p:nvPr/>
        </p:nvSpPr>
        <p:spPr>
          <a:xfrm>
            <a:off x="9738360" y="4005072"/>
            <a:ext cx="274320" cy="274320"/>
          </a:xfrm>
          <a:prstGeom prst="ellipse">
            <a:avLst/>
          </a:prstGeom>
          <a:solidFill>
            <a:srgbClr val="1E1E2E"/>
          </a:solidFill>
          <a:ln w="25400">
            <a:solidFill>
              <a:srgbClr val="A6E3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9738360" y="4023360"/>
            <a:ext cx="274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A6E3A1"/>
                </a:solidFill>
                <a:latin typeface="Segoe UI"/>
              </a:rPr>
              <a:t>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686800" y="4343400"/>
            <a:ext cx="23774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6E3A1"/>
                </a:solidFill>
                <a:latin typeface="Segoe UI"/>
              </a:rPr>
              <a:t>Paid Pilots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4800600"/>
            <a:ext cx="23774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chemeClr val="bg1"/>
                </a:solidFill>
                <a:latin typeface="Segoe UI"/>
              </a:rPr>
              <a:t>2–3 edge embedded</a:t>
            </a:r>
          </a:p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chemeClr val="bg1"/>
                </a:solidFill>
                <a:latin typeface="Segoe UI"/>
              </a:rPr>
              <a:t>$50K–$200K NRE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3788" y="5402580"/>
            <a:ext cx="10598972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dirty="0">
                <a:solidFill>
                  <a:schemeClr val="bg1"/>
                </a:solidFill>
                <a:latin typeface="Segoe UI"/>
              </a:rPr>
              <a:t>Risk profile:  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303020" y="5407062"/>
            <a:ext cx="8229600" cy="365760"/>
          </a:xfrm>
          <a:prstGeom prst="rect">
            <a:avLst/>
          </a:prstGeom>
          <a:noFill/>
        </p:spPr>
        <p:txBody>
          <a:bodyPr wrap="square" lIns="0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dirty="0">
                <a:solidFill>
                  <a:srgbClr val="A6E3A1"/>
                </a:solidFill>
                <a:latin typeface="Segoe UI"/>
              </a:rPr>
              <a:t>Zynq Validation = Low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786692" y="5421630"/>
            <a:ext cx="1799216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dirty="0">
                <a:solidFill>
                  <a:srgbClr val="A6E3A1"/>
                </a:solidFill>
                <a:latin typeface="Segoe UI"/>
              </a:rPr>
              <a:t>  SDK Modules = Low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55080" y="5443369"/>
            <a:ext cx="17373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dirty="0">
                <a:solidFill>
                  <a:srgbClr val="F9E2AF"/>
                </a:solidFill>
                <a:latin typeface="Segoe UI"/>
              </a:rPr>
              <a:t>ASIC = Medium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879093" y="5440680"/>
            <a:ext cx="1992854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dirty="0">
                <a:solidFill>
                  <a:srgbClr val="F9E2AF"/>
                </a:solidFill>
                <a:latin typeface="Segoe UI"/>
              </a:rPr>
              <a:t>Pilots = Medium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9167" y="5887122"/>
            <a:ext cx="10515600" cy="457200"/>
          </a:xfrm>
          <a:prstGeom prst="rect">
            <a:avLst/>
          </a:prstGeom>
          <a:noFill/>
        </p:spPr>
        <p:txBody>
          <a:bodyPr wrap="square" anchor="b"/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chemeClr val="bg1"/>
                </a:solidFill>
                <a:latin typeface="Segoe UI"/>
              </a:rPr>
              <a:t>6 engineering phases complete with validation at every gate. Seed funds the transition from proof-of-concept to first design wins.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277295" y="6492240"/>
            <a:ext cx="731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F849C"/>
                </a:solidFill>
                <a:latin typeface="Segoe UI"/>
              </a:rPr>
              <a:t>11/15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69DD6251-175D-2795-A40E-3C118E124D93}"/>
              </a:ext>
            </a:extLst>
          </p:cNvPr>
          <p:cNvSpPr/>
          <p:nvPr/>
        </p:nvSpPr>
        <p:spPr>
          <a:xfrm>
            <a:off x="10673080" y="1654049"/>
            <a:ext cx="25400" cy="137160"/>
          </a:xfrm>
          <a:prstGeom prst="rect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ectangle: Rounded Corners 70">
            <a:extLst>
              <a:ext uri="{FF2B5EF4-FFF2-40B4-BE49-F238E27FC236}">
                <a16:creationId xmlns:a16="http://schemas.microsoft.com/office/drawing/2014/main" id="{839FB0E2-DAB6-083A-AA0D-EC231084F07E}"/>
              </a:ext>
            </a:extLst>
          </p:cNvPr>
          <p:cNvSpPr/>
          <p:nvPr/>
        </p:nvSpPr>
        <p:spPr>
          <a:xfrm>
            <a:off x="1075765" y="3766790"/>
            <a:ext cx="9576995" cy="2066992"/>
          </a:xfrm>
          <a:prstGeom prst="roundRect">
            <a:avLst/>
          </a:prstGeom>
          <a:gradFill>
            <a:gsLst>
              <a:gs pos="39000">
                <a:schemeClr val="accent1">
                  <a:tint val="100000"/>
                  <a:shade val="100000"/>
                  <a:satMod val="130000"/>
                  <a:alpha val="0"/>
                </a:schemeClr>
              </a:gs>
              <a:gs pos="100000">
                <a:schemeClr val="accent1">
                  <a:tint val="50000"/>
                  <a:shade val="100000"/>
                  <a:satMod val="350000"/>
                  <a:alpha val="82000"/>
                </a:schemeClr>
              </a:gs>
            </a:gsLst>
          </a:gradFill>
          <a:ln>
            <a:solidFill>
              <a:schemeClr val="accent1">
                <a:shade val="95000"/>
                <a:satMod val="10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: Rounded Corners 71">
            <a:extLst>
              <a:ext uri="{FF2B5EF4-FFF2-40B4-BE49-F238E27FC236}">
                <a16:creationId xmlns:a16="http://schemas.microsoft.com/office/drawing/2014/main" id="{3EA87A69-23E3-BE74-EC31-F3F821846D1A}"/>
              </a:ext>
            </a:extLst>
          </p:cNvPr>
          <p:cNvSpPr/>
          <p:nvPr/>
        </p:nvSpPr>
        <p:spPr>
          <a:xfrm>
            <a:off x="708735" y="1555106"/>
            <a:ext cx="9730665" cy="1745609"/>
          </a:xfrm>
          <a:prstGeom prst="roundRect">
            <a:avLst/>
          </a:prstGeom>
          <a:gradFill>
            <a:gsLst>
              <a:gs pos="39000">
                <a:schemeClr val="accent1">
                  <a:tint val="100000"/>
                  <a:shade val="100000"/>
                  <a:satMod val="130000"/>
                  <a:alpha val="0"/>
                </a:schemeClr>
              </a:gs>
              <a:gs pos="100000">
                <a:schemeClr val="accent1">
                  <a:tint val="50000"/>
                  <a:shade val="100000"/>
                  <a:satMod val="350000"/>
                  <a:alpha val="82000"/>
                </a:schemeClr>
              </a:gs>
            </a:gsLst>
          </a:gradFill>
          <a:ln>
            <a:solidFill>
              <a:schemeClr val="accent1">
                <a:shade val="95000"/>
                <a:satMod val="10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1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9B4FA"/>
                </a:solidFill>
                <a:latin typeface="Segoe UI"/>
              </a:rPr>
              <a:t>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85475"/>
            <a:ext cx="105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DD6F4"/>
                </a:solidFill>
                <a:latin typeface="Segoe UI"/>
              </a:rPr>
              <a:t>Solo founder. AI-augmented R&amp;D compressed the timeline.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904" y="1280160"/>
            <a:ext cx="10972800" cy="2540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500000"/>
            <a:ext cx="5000000" cy="2800000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00000" y="1600000"/>
            <a:ext cx="46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89B4FA"/>
                </a:solidFill>
                <a:latin typeface="Segoe UI"/>
              </a:rPr>
              <a:t>Matthew H. Rockwell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1948228"/>
            <a:ext cx="46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BA6F7"/>
                </a:solidFill>
                <a:latin typeface="Segoe UI"/>
              </a:rPr>
              <a:t>Founder &amp; CEO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00" y="2250000"/>
            <a:ext cx="46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DD6F4"/>
                </a:solidFill>
                <a:latin typeface="Segoe UI"/>
              </a:rPr>
              <a:t>•  Formal mathematics (Lean4 proof engineering)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000" y="2530000"/>
            <a:ext cx="46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DD6F4"/>
                </a:solidFill>
                <a:latin typeface="Segoe UI"/>
              </a:rPr>
              <a:t>•  Digital design (Verilog RTL, FPGA synthesis, timing closure)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0000" y="2810000"/>
            <a:ext cx="46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DD6F4"/>
                </a:solidFill>
                <a:latin typeface="Segoe UI"/>
              </a:rPr>
              <a:t>•  Software engineering (Python SDK, multi-language codegen)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0000" y="3090000"/>
            <a:ext cx="46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DD6F4"/>
                </a:solidFill>
                <a:latin typeface="Segoe UI"/>
              </a:rPr>
              <a:t>•  Hardware validation (UART protocol, physical FPGA testing)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370000"/>
            <a:ext cx="46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DD6F4"/>
                </a:solidFill>
                <a:latin typeface="Segoe UI"/>
              </a:rPr>
              <a:t>•  Business development (patent filing, investor materials)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00000" y="1500000"/>
            <a:ext cx="5400000" cy="2800000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00000" y="1600000"/>
            <a:ext cx="50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A6E3A1"/>
                </a:solidFill>
                <a:latin typeface="Segoe UI"/>
              </a:rPr>
              <a:t>Post-Funding Plan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19291" y="2271848"/>
            <a:ext cx="18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F849C"/>
                </a:solidFill>
                <a:latin typeface="Segoe UI"/>
              </a:rPr>
              <a:t>Founder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19291" y="2271848"/>
            <a:ext cx="32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38BA8"/>
                </a:solidFill>
                <a:latin typeface="Segoe UI"/>
              </a:rPr>
              <a:t>Formal math + hardware + software stack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-5000000" y="-5000000"/>
            <a:ext cx="1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6E3A1"/>
                </a:solidFill>
                <a:latin typeface="Segoe U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19291" y="2771848"/>
            <a:ext cx="18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F849C"/>
                </a:solidFill>
                <a:latin typeface="Segoe UI"/>
              </a:rPr>
              <a:t>First Hires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19291" y="2771848"/>
            <a:ext cx="32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38BA8"/>
                </a:solidFill>
                <a:latin typeface="Segoe UI"/>
              </a:rPr>
              <a:t>FPGA/ASIC engineer + application engineer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-5000000" y="-5000000"/>
            <a:ext cx="1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6E3A1"/>
                </a:solidFill>
                <a:latin typeface="Segoe UI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19291" y="3271848"/>
            <a:ext cx="18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F849C"/>
                </a:solidFill>
                <a:latin typeface="Segoe UI"/>
              </a:rPr>
              <a:t>Advisory Targets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9291" y="3271848"/>
            <a:ext cx="32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38BA8"/>
                </a:solidFill>
                <a:latin typeface="Segoe UI"/>
              </a:rPr>
              <a:t>Semiconductor, IP licensing, domain experts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-5000000" y="-5000000"/>
            <a:ext cx="1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6E3A1"/>
                </a:solidFill>
                <a:latin typeface="Segoe UI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19291" y="3771848"/>
            <a:ext cx="18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F849C"/>
                </a:solidFill>
                <a:latin typeface="Segoe UI"/>
              </a:rPr>
              <a:t>Timeline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291" y="3771848"/>
            <a:ext cx="32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38BA8"/>
                </a:solidFill>
                <a:latin typeface="Segoe UI"/>
              </a:rPr>
              <a:t>Hires month 3–6, advisors within 60 days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-5000000" y="-5000000"/>
            <a:ext cx="1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6E3A1"/>
                </a:solidFill>
                <a:latin typeface="Segoe UI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-5000000" y="-5000000"/>
            <a:ext cx="1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F849C"/>
                </a:solidFill>
                <a:latin typeface="Segoe UI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-5000000" y="-5000000"/>
            <a:ext cx="1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A6E3A1"/>
                </a:solidFill>
                <a:latin typeface="Segoe UI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600000"/>
            <a:ext cx="5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9B4FA"/>
                </a:solidFill>
                <a:latin typeface="Segoe UI"/>
              </a:rPr>
              <a:t>First Two Hires + Advisory Board (60-Day Target)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4950000"/>
            <a:ext cx="10500000" cy="2000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31520" y="5100000"/>
            <a:ext cx="20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DD6F4"/>
                </a:solidFill>
                <a:latin typeface="Segoe UI"/>
              </a:rPr>
              <a:t>FPGA/ASIC Engineer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25419" y="5100000"/>
            <a:ext cx="6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6E3A1"/>
                </a:solidFill>
                <a:latin typeface="Segoe UI"/>
              </a:rPr>
              <a:t>High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31520" y="5100000"/>
            <a:ext cx="25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F849C"/>
                </a:solidFill>
                <a:latin typeface="Segoe UI"/>
              </a:rPr>
              <a:t>$150K–$200K + 1–2% equity (Mo 3–4)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31520" y="5100000"/>
            <a:ext cx="20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DD6F4"/>
                </a:solidFill>
                <a:latin typeface="Segoe UI"/>
              </a:rPr>
              <a:t>Application Engineer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31520" y="5100000"/>
            <a:ext cx="6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6E3A1"/>
                </a:solidFill>
                <a:latin typeface="Segoe UI"/>
              </a:rPr>
              <a:t>High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31520" y="5100000"/>
            <a:ext cx="25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F849C"/>
                </a:solidFill>
                <a:latin typeface="Segoe UI"/>
              </a:rPr>
              <a:t>$130K–$170K + 0.5–1.5% equity (Mo 5–6)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5650000"/>
            <a:ext cx="20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DD6F4"/>
                </a:solidFill>
                <a:latin typeface="Segoe UI"/>
              </a:rPr>
              <a:t>Advisory Board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00027" y="5650000"/>
            <a:ext cx="83149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9E2AF"/>
                </a:solidFill>
                <a:latin typeface="Segoe UI"/>
              </a:rPr>
              <a:t>Medium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31520" y="5650000"/>
            <a:ext cx="25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F849C"/>
                </a:solidFill>
                <a:latin typeface="Segoe UI"/>
              </a:rPr>
              <a:t>Semiconductor, IP licensing, domain (60-day target)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31520" y="5650000"/>
            <a:ext cx="20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DD6F4"/>
                </a:solidFill>
                <a:latin typeface="Segoe UI"/>
              </a:rPr>
              <a:t>Advisory Compensation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96483" y="5650000"/>
            <a:ext cx="8218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9E2AF"/>
                </a:solidFill>
                <a:latin typeface="Segoe UI"/>
              </a:rPr>
              <a:t>Medium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31520" y="5650000"/>
            <a:ext cx="25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F849C"/>
                </a:solidFill>
                <a:latin typeface="Segoe UI"/>
              </a:rPr>
              <a:t>0.25–0.5% equity each, 2yr quarterly vest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" y="6331494"/>
            <a:ext cx="10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BA6F7"/>
                </a:solidFill>
                <a:latin typeface="Segoe UI"/>
              </a:rPr>
              <a:t>AI-augmented workflows compressed the R&amp;D timeline. Post-funding, the first hires and advisory board distribute execution across hardware, software, and commercial.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77295" y="6492240"/>
            <a:ext cx="7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7F849C"/>
                </a:solidFill>
                <a:latin typeface="Segoe UI"/>
              </a:rPr>
              <a:t>12/15</a:t>
            </a:r>
          </a:p>
        </p:txBody>
      </p:sp>
    </p:spTree>
    <p:extLst>
      <p:ext uri="{BB962C8B-B14F-4D97-AF65-F5344CB8AC3E}">
        <p14:creationId xmlns:p14="http://schemas.microsoft.com/office/powerpoint/2010/main" val="14607043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1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9B4FA"/>
                </a:solidFill>
                <a:latin typeface="Segoe UI"/>
              </a:rPr>
              <a:t>Moat &amp; Defensibility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85475"/>
            <a:ext cx="105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DD6F4"/>
                </a:solidFill>
                <a:latin typeface="Segoe UI"/>
              </a:rPr>
              <a:t>Four layers of compounding defense.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904" y="1280160"/>
            <a:ext cx="10972800" cy="2540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500000"/>
            <a:ext cx="5200000" cy="1989367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81520" y="1650000"/>
            <a:ext cx="350000" cy="350000"/>
          </a:xfrm>
          <a:prstGeom prst="ellipse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81520" y="1651418"/>
            <a:ext cx="35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3131A"/>
                </a:solidFill>
                <a:latin typeface="Segoe U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31520" y="1680000"/>
            <a:ext cx="44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9B4FA"/>
                </a:solidFill>
                <a:latin typeface="Segoe UI"/>
              </a:rPr>
              <a:t>Patent Protection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31520" y="2030000"/>
            <a:ext cx="44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DD6F4"/>
                </a:solidFill>
                <a:latin typeface="Segoe UI"/>
              </a:rPr>
              <a:t>•  Architecture and execution model under IP protection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1520" y="2380000"/>
            <a:ext cx="44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DD6F4"/>
                </a:solidFill>
                <a:latin typeface="Segoe UI"/>
              </a:rPr>
              <a:t>•  Covers: XOR accumulation, parallel banks, merge tree, RTL generation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31520" y="2884329"/>
            <a:ext cx="44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DD6F4"/>
                </a:solidFill>
                <a:latin typeface="Segoe UI"/>
              </a:rPr>
              <a:t>•  Continuation patents planned for parallel scaling innovations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1520" y="1500000"/>
            <a:ext cx="5200000" cy="1989367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381520" y="1650000"/>
            <a:ext cx="350000" cy="350000"/>
          </a:xfrm>
          <a:prstGeom prst="ellipse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81520" y="1651418"/>
            <a:ext cx="35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3131A"/>
                </a:solidFill>
                <a:latin typeface="Segoe U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31520" y="1680000"/>
            <a:ext cx="44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A6E3A1"/>
                </a:solidFill>
                <a:latin typeface="Segoe UI"/>
              </a:rPr>
              <a:t>Formal Verification Barrier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31520" y="2030000"/>
            <a:ext cx="44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DD6F4"/>
                </a:solidFill>
                <a:latin typeface="Segoe UI"/>
              </a:rPr>
              <a:t>•  92 Lean4 proofs = multi-month engineering effort to replicate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31520" y="2380000"/>
            <a:ext cx="44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DD6F4"/>
                </a:solidFill>
                <a:latin typeface="Segoe UI"/>
              </a:rPr>
              <a:t>•  Competitors must match proof standard or accept unverified claims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31520" y="2884329"/>
            <a:ext cx="44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DD6F4"/>
                </a:solidFill>
                <a:latin typeface="Segoe UI"/>
              </a:rPr>
              <a:t>•  Proof base grows with each theorem, increasing barrier over time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2229" y="3882278"/>
            <a:ext cx="5200000" cy="1989367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62229" y="4032278"/>
            <a:ext cx="350000" cy="350000"/>
          </a:xfrm>
          <a:prstGeom prst="ellipse">
            <a:avLst/>
          </a:prstGeom>
          <a:solidFill>
            <a:srgbClr val="CBA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2229" y="4033696"/>
            <a:ext cx="35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313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12229" y="4062279"/>
            <a:ext cx="44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CBA6F7"/>
                </a:solidFill>
                <a:latin typeface="Segoe UI"/>
              </a:rPr>
              <a:t>SDK Ecosystem Lock-In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12229" y="4412278"/>
            <a:ext cx="4400000" cy="43088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sz="1100" b="0" dirty="0">
                <a:solidFill>
                  <a:srgbClr val="CDD6F4"/>
                </a:solidFill>
                <a:latin typeface="Segoe UI"/>
              </a:rPr>
              <a:t>•  Schema-driven </a:t>
            </a:r>
            <a:r>
              <a:rPr lang="en-US" sz="1100" dirty="0">
                <a:solidFill>
                  <a:srgbClr val="CDD6F4"/>
                </a:solidFill>
                <a:latin typeface="Segoe UI"/>
              </a:rPr>
              <a:t>code generation</a:t>
            </a:r>
            <a:r>
              <a:rPr sz="1100" b="0" dirty="0">
                <a:solidFill>
                  <a:srgbClr val="CDD6F4"/>
                </a:solidFill>
                <a:latin typeface="Segoe UI"/>
              </a:rPr>
              <a:t> across 5 languages creates switching costs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02583" y="4887670"/>
            <a:ext cx="44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DD6F4"/>
                </a:solidFill>
                <a:latin typeface="Segoe UI"/>
              </a:rPr>
              <a:t>•  Hardware RTL + software coupled through same schema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02583" y="5237670"/>
            <a:ext cx="44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DD6F4"/>
                </a:solidFill>
                <a:latin typeface="Segoe UI"/>
              </a:rPr>
              <a:t>•  353 tests verify algebraic correctness across all targets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2229" y="3882278"/>
            <a:ext cx="5200000" cy="1989367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6362229" y="4032278"/>
            <a:ext cx="350000" cy="350000"/>
          </a:xfrm>
          <a:prstGeom prst="ellipse">
            <a:avLst/>
          </a:prstGeom>
          <a:solidFill>
            <a:srgbClr val="FAB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362229" y="4033696"/>
            <a:ext cx="35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3131A"/>
                </a:solidFill>
                <a:latin typeface="Segoe U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12229" y="4062279"/>
            <a:ext cx="44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AB387"/>
                </a:solidFill>
                <a:latin typeface="Segoe UI"/>
              </a:rPr>
              <a:t>Architectural Lock-In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12229" y="4412278"/>
            <a:ext cx="44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DD6F4"/>
                </a:solidFill>
                <a:latin typeface="Segoe UI"/>
              </a:rPr>
              <a:t>•  RTL IP wired into chip data path = 12-24 month re-design to switch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02583" y="4878025"/>
            <a:ext cx="44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DD6F4"/>
                </a:solidFill>
                <a:latin typeface="Segoe UI"/>
              </a:rPr>
              <a:t>•  Performance advantage compounds: optimizing for delta-state = increasing returns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2229" y="5382354"/>
            <a:ext cx="44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DD6F4"/>
                </a:solidFill>
                <a:latin typeface="Segoe UI"/>
              </a:rPr>
              <a:t>•  Standard-setting potential: if ATOMiK becomes the primitive, switching costs are permanent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3292" y="6095468"/>
            <a:ext cx="105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7F849C"/>
                </a:solidFill>
                <a:latin typeface="Segoe UI"/>
              </a:rPr>
              <a:t>Each layer is independently defensible. Together they create a compounding barrier that grows stronger over time.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77295" y="6492240"/>
            <a:ext cx="7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7F849C"/>
                </a:solidFill>
                <a:latin typeface="Segoe UI"/>
              </a:rPr>
              <a:t>13/15</a:t>
            </a:r>
          </a:p>
        </p:txBody>
      </p:sp>
    </p:spTree>
    <p:extLst>
      <p:ext uri="{BB962C8B-B14F-4D97-AF65-F5344CB8AC3E}">
        <p14:creationId xmlns:p14="http://schemas.microsoft.com/office/powerpoint/2010/main" val="15599567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1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41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89B4FA"/>
                </a:solidFill>
                <a:latin typeface="Segoe UI"/>
              </a:rPr>
              <a:t>The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9928" y="881753"/>
            <a:ext cx="974069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dirty="0">
                <a:solidFill>
                  <a:schemeClr val="bg1"/>
                </a:solidFill>
                <a:latin typeface="Segoe UI"/>
              </a:rPr>
              <a:t>$3M - $4M </a:t>
            </a:r>
            <a:r>
              <a:rPr lang="en-US" sz="1600" dirty="0">
                <a:solidFill>
                  <a:schemeClr val="bg1"/>
                </a:solidFill>
                <a:latin typeface="Segoe UI"/>
              </a:rPr>
              <a:t>s</a:t>
            </a:r>
            <a:r>
              <a:rPr lang="en-US" sz="1600" b="0" dirty="0">
                <a:solidFill>
                  <a:schemeClr val="bg1"/>
                </a:solidFill>
                <a:latin typeface="Segoe UI"/>
              </a:rPr>
              <a:t>eed round for 15% - 25% equity to take ATOMiK from validated silicon to first design wins.</a:t>
            </a:r>
            <a:endParaRPr sz="1600" b="0" dirty="0">
              <a:solidFill>
                <a:schemeClr val="bg1"/>
              </a:solidFill>
              <a:latin typeface="Segoe UI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09904" y="1280160"/>
            <a:ext cx="10972800" cy="2540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6013524" cy="365760"/>
          </a:xfrm>
          <a:prstGeom prst="rect">
            <a:avLst/>
          </a:prstGeom>
          <a:noFill/>
        </p:spPr>
        <p:txBody>
          <a:bodyPr wrap="square" lIns="0"/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chemeClr val="bg1"/>
                </a:solidFill>
                <a:latin typeface="Segoe UI"/>
              </a:rPr>
              <a:t>Use of Funds</a:t>
            </a:r>
            <a:r>
              <a:rPr lang="en-US" sz="1800" b="1" dirty="0">
                <a:solidFill>
                  <a:schemeClr val="bg1"/>
                </a:solidFill>
                <a:latin typeface="Segoe UI"/>
              </a:rPr>
              <a:t>: Buys us 18 – 24 months of runway</a:t>
            </a:r>
            <a:endParaRPr sz="1800" b="1" dirty="0">
              <a:solidFill>
                <a:schemeClr val="bg1"/>
              </a:solidFill>
              <a:latin typeface="Segoe U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731520" y="1874519"/>
            <a:ext cx="6278880" cy="54864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-472440" y="2014547"/>
            <a:ext cx="6278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13131A"/>
                </a:solidFill>
                <a:latin typeface="Segoe UI"/>
              </a:rPr>
              <a:t>40%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1874519"/>
            <a:ext cx="3924300" cy="548640"/>
          </a:xfrm>
          <a:prstGeom prst="rect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870960" y="2001011"/>
            <a:ext cx="39243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13131A"/>
                </a:solidFill>
                <a:latin typeface="Segoe UI"/>
              </a:rPr>
              <a:t>25%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72300" y="1874519"/>
            <a:ext cx="3139440" cy="548640"/>
          </a:xfrm>
          <a:prstGeom prst="rect">
            <a:avLst/>
          </a:prstGeom>
          <a:solidFill>
            <a:srgbClr val="CBA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4610" y="2001011"/>
            <a:ext cx="31394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3131A"/>
                </a:solidFill>
                <a:latin typeface="Segoe UI"/>
              </a:rPr>
              <a:t>20%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92540" y="1874519"/>
            <a:ext cx="2354580" cy="548640"/>
          </a:xfrm>
          <a:prstGeom prst="rect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892540" y="2014832"/>
            <a:ext cx="23545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13131A"/>
                </a:solidFill>
                <a:latin typeface="Segoe UI"/>
              </a:rPr>
              <a:t>15%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606040"/>
            <a:ext cx="2286000" cy="118872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 w="12700"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31520" y="2606040"/>
            <a:ext cx="2286000" cy="3810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2679192"/>
            <a:ext cx="21031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89B4FA"/>
                </a:solidFill>
                <a:latin typeface="Segoe UI"/>
              </a:rPr>
              <a:t>Hardware R&amp;D (40%)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2971800"/>
            <a:ext cx="210312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dirty="0">
                <a:solidFill>
                  <a:schemeClr val="bg1"/>
                </a:solidFill>
                <a:latin typeface="Segoe UI"/>
              </a:rPr>
              <a:t>Larger FPGA port, ASIC feasibility,
dev boards</a:t>
            </a:r>
            <a:endParaRPr lang="en-US" sz="1000" b="0" dirty="0">
              <a:solidFill>
                <a:schemeClr val="bg1"/>
              </a:solidFill>
              <a:latin typeface="Segoe UI"/>
            </a:endParaRPr>
          </a:p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endParaRPr lang="en-US" sz="1000" dirty="0">
              <a:solidFill>
                <a:schemeClr val="bg1"/>
              </a:solidFill>
              <a:latin typeface="Segoe UI"/>
            </a:endParaRPr>
          </a:p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 b="0" dirty="0">
                <a:solidFill>
                  <a:schemeClr val="bg1"/>
                </a:solidFill>
                <a:latin typeface="Segoe UI"/>
              </a:rPr>
              <a:t>$900K - $1.4M</a:t>
            </a:r>
            <a:endParaRPr sz="1000" b="0" dirty="0">
              <a:solidFill>
                <a:schemeClr val="bg1"/>
              </a:solidFill>
              <a:latin typeface="Segoe UI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3441102" y="2606040"/>
            <a:ext cx="2286000" cy="118872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 w="12700"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441102" y="2606040"/>
            <a:ext cx="2286000" cy="38100"/>
          </a:xfrm>
          <a:prstGeom prst="rect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532542" y="2679192"/>
            <a:ext cx="21031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A6E3A1"/>
                </a:solidFill>
                <a:latin typeface="Segoe UI"/>
              </a:rPr>
              <a:t>SDK &amp; Platform (25%)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32542" y="2971800"/>
            <a:ext cx="210312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dirty="0">
                <a:solidFill>
                  <a:schemeClr val="bg1"/>
                </a:solidFill>
                <a:latin typeface="Segoe UI"/>
              </a:rPr>
              <a:t>Production hardening, vertical
modules, docs</a:t>
            </a:r>
            <a:endParaRPr lang="en-US" sz="1000" b="0" dirty="0">
              <a:solidFill>
                <a:schemeClr val="bg1"/>
              </a:solidFill>
              <a:latin typeface="Segoe UI"/>
            </a:endParaRPr>
          </a:p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endParaRPr lang="en-US" sz="1000" dirty="0">
              <a:solidFill>
                <a:schemeClr val="bg1"/>
              </a:solidFill>
              <a:latin typeface="Segoe UI"/>
            </a:endParaRPr>
          </a:p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 b="0" dirty="0">
                <a:solidFill>
                  <a:schemeClr val="bg1"/>
                </a:solidFill>
                <a:latin typeface="Segoe UI"/>
              </a:rPr>
              <a:t>$500K - $900K</a:t>
            </a:r>
            <a:endParaRPr sz="1000" b="0" dirty="0">
              <a:solidFill>
                <a:schemeClr val="bg1"/>
              </a:solidFill>
              <a:latin typeface="Segoe UI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6201111" y="2606040"/>
            <a:ext cx="2286000" cy="118872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 w="12700"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201111" y="2606040"/>
            <a:ext cx="2286000" cy="38100"/>
          </a:xfrm>
          <a:prstGeom prst="rect">
            <a:avLst/>
          </a:prstGeom>
          <a:solidFill>
            <a:srgbClr val="CBA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92551" y="2679192"/>
            <a:ext cx="21031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BA6F7"/>
                </a:solidFill>
                <a:latin typeface="Segoe UI"/>
              </a:rPr>
              <a:t>Business Dev (20%)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92551" y="2971800"/>
            <a:ext cx="210312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dirty="0">
                <a:solidFill>
                  <a:schemeClr val="bg1"/>
                </a:solidFill>
                <a:latin typeface="Segoe UI"/>
              </a:rPr>
              <a:t>Patent prosecution, partnerships,
pilot support</a:t>
            </a:r>
            <a:endParaRPr lang="en-US" sz="1000" b="0" dirty="0">
              <a:solidFill>
                <a:schemeClr val="bg1"/>
              </a:solidFill>
              <a:latin typeface="Segoe UI"/>
            </a:endParaRPr>
          </a:p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endParaRPr lang="en-US" sz="1000" dirty="0">
              <a:solidFill>
                <a:schemeClr val="bg1"/>
              </a:solidFill>
              <a:latin typeface="Segoe UI"/>
            </a:endParaRPr>
          </a:p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 b="0" dirty="0">
                <a:solidFill>
                  <a:schemeClr val="bg1"/>
                </a:solidFill>
                <a:latin typeface="Segoe UI"/>
              </a:rPr>
              <a:t>$400K - $700K</a:t>
            </a:r>
            <a:endParaRPr sz="1000" b="0" dirty="0">
              <a:solidFill>
                <a:schemeClr val="bg1"/>
              </a:solidFill>
              <a:latin typeface="Segoe UI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8961120" y="2606040"/>
            <a:ext cx="2286000" cy="118872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 w="12700"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961120" y="2606040"/>
            <a:ext cx="2286000" cy="38100"/>
          </a:xfrm>
          <a:prstGeom prst="rect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052560" y="2679192"/>
            <a:ext cx="21031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9E2AF"/>
                </a:solidFill>
                <a:latin typeface="Segoe UI"/>
              </a:rPr>
              <a:t>Team (15%)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94687" y="2952509"/>
            <a:ext cx="2276739" cy="750811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>
              <a:lnSpc>
                <a:spcPts val="1300"/>
              </a:lnSpc>
            </a:pPr>
            <a:r>
              <a:rPr sz="1000" b="0" dirty="0">
                <a:solidFill>
                  <a:schemeClr val="bg1"/>
                </a:solidFill>
                <a:latin typeface="Segoe UI"/>
              </a:rPr>
              <a:t>FPGA/ASIC eng ($150K–$200K),</a:t>
            </a:r>
            <a:endParaRPr lang="en-US" sz="1000" b="0" dirty="0">
              <a:solidFill>
                <a:schemeClr val="bg1"/>
              </a:solidFill>
              <a:latin typeface="Segoe UI"/>
            </a:endParaRPr>
          </a:p>
          <a:p>
            <a:pPr>
              <a:lnSpc>
                <a:spcPts val="1300"/>
              </a:lnSpc>
            </a:pPr>
            <a:r>
              <a:rPr sz="1000" b="0" dirty="0">
                <a:solidFill>
                  <a:schemeClr val="bg1"/>
                </a:solidFill>
                <a:latin typeface="Segoe UI"/>
              </a:rPr>
              <a:t>app eng ($130K–$170K), CEO salary</a:t>
            </a:r>
            <a:endParaRPr lang="en-US" sz="1000" b="0" dirty="0">
              <a:solidFill>
                <a:schemeClr val="bg1"/>
              </a:solidFill>
              <a:latin typeface="Segoe UI"/>
            </a:endParaRPr>
          </a:p>
          <a:p>
            <a:pPr>
              <a:lnSpc>
                <a:spcPts val="1300"/>
              </a:lnSpc>
            </a:pPr>
            <a:r>
              <a:rPr sz="1000" b="0" dirty="0">
                <a:solidFill>
                  <a:schemeClr val="bg1"/>
                </a:solidFill>
                <a:latin typeface="Segoe UI"/>
              </a:rPr>
              <a:t/>
            </a:r>
            <a:endParaRPr lang="en-US" sz="1000" b="0" dirty="0">
              <a:solidFill>
                <a:schemeClr val="bg1"/>
              </a:solidFill>
              <a:latin typeface="Segoe UI"/>
            </a:endParaRPr>
          </a:p>
          <a:p>
            <a:pPr>
              <a:lnSpc>
                <a:spcPts val="1300"/>
              </a:lnSpc>
            </a:pPr>
            <a:r>
              <a:rPr sz="1000" b="0" dirty="0">
                <a:solidFill>
                  <a:schemeClr val="bg1"/>
                </a:solidFill>
                <a:latin typeface="Segoe UI"/>
              </a:rPr>
              <a:t>$450K–$600K</a:t>
            </a:r>
            <a:endParaRPr lang="en-US" sz="1000" b="0" dirty="0">
              <a:solidFill>
                <a:schemeClr val="bg1"/>
              </a:solidFill>
              <a:latin typeface="Segoe UI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52182" y="4280508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chemeClr val="bg1"/>
                </a:solidFill>
                <a:latin typeface="Segoe UI"/>
              </a:rPr>
              <a:t>First 90 Days (Post-Funding)</a:t>
            </a:r>
          </a:p>
        </p:txBody>
      </p:sp>
      <p:sp>
        <p:nvSpPr>
          <p:cNvPr id="31" name="Oval 30"/>
          <p:cNvSpPr/>
          <p:nvPr/>
        </p:nvSpPr>
        <p:spPr>
          <a:xfrm>
            <a:off x="835062" y="4719420"/>
            <a:ext cx="164592" cy="164592"/>
          </a:xfrm>
          <a:prstGeom prst="ellipse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35062" y="4701132"/>
            <a:ext cx="164592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3131A"/>
                </a:solidFill>
                <a:latin typeface="Segoe UI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55102" y="4691988"/>
            <a:ext cx="4572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dirty="0">
                <a:solidFill>
                  <a:schemeClr val="bg1"/>
                </a:solidFill>
                <a:latin typeface="Segoe UI"/>
              </a:rPr>
              <a:t>Validate ATOMiK on physical Xilinx Zynq-7020</a:t>
            </a:r>
          </a:p>
        </p:txBody>
      </p:sp>
      <p:sp>
        <p:nvSpPr>
          <p:cNvPr id="34" name="Oval 33"/>
          <p:cNvSpPr/>
          <p:nvPr/>
        </p:nvSpPr>
        <p:spPr>
          <a:xfrm>
            <a:off x="835062" y="5012028"/>
            <a:ext cx="164592" cy="164592"/>
          </a:xfrm>
          <a:prstGeom prst="ellipse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35062" y="4993740"/>
            <a:ext cx="164592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3131A"/>
                </a:solidFill>
                <a:latin typeface="Segoe UI"/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55102" y="4984596"/>
            <a:ext cx="4572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dirty="0">
                <a:solidFill>
                  <a:schemeClr val="bg1"/>
                </a:solidFill>
                <a:latin typeface="Segoe UI"/>
              </a:rPr>
              <a:t>10–15 exploratory conversations with embedded/edge teams</a:t>
            </a:r>
          </a:p>
        </p:txBody>
      </p:sp>
      <p:sp>
        <p:nvSpPr>
          <p:cNvPr id="37" name="Oval 36"/>
          <p:cNvSpPr/>
          <p:nvPr/>
        </p:nvSpPr>
        <p:spPr>
          <a:xfrm>
            <a:off x="835062" y="5304636"/>
            <a:ext cx="164592" cy="164592"/>
          </a:xfrm>
          <a:prstGeom prst="ellipse">
            <a:avLst/>
          </a:prstGeom>
          <a:solidFill>
            <a:srgbClr val="94E2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35062" y="5286348"/>
            <a:ext cx="164592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3131A"/>
                </a:solidFill>
                <a:latin typeface="Segoe UI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55102" y="5277204"/>
            <a:ext cx="4572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chemeClr val="bg1"/>
                </a:solidFill>
                <a:latin typeface="Segoe UI"/>
              </a:rPr>
              <a:t>Identify 2–3 candidates for paid technical evaluation</a:t>
            </a:r>
          </a:p>
        </p:txBody>
      </p:sp>
      <p:sp>
        <p:nvSpPr>
          <p:cNvPr id="40" name="Oval 39"/>
          <p:cNvSpPr/>
          <p:nvPr/>
        </p:nvSpPr>
        <p:spPr>
          <a:xfrm>
            <a:off x="835062" y="5597244"/>
            <a:ext cx="164592" cy="164592"/>
          </a:xfrm>
          <a:prstGeom prst="ellipse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35062" y="5578956"/>
            <a:ext cx="164592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3131A"/>
                </a:solidFill>
                <a:latin typeface="Segoe UI"/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55102" y="5569812"/>
            <a:ext cx="4572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chemeClr val="bg1"/>
                </a:solidFill>
                <a:latin typeface="Segoe UI"/>
              </a:rPr>
              <a:t>Recruit first FPGA/ASIC engineer (month 3–4)</a:t>
            </a:r>
          </a:p>
        </p:txBody>
      </p:sp>
      <p:sp>
        <p:nvSpPr>
          <p:cNvPr id="43" name="Oval 42"/>
          <p:cNvSpPr/>
          <p:nvPr/>
        </p:nvSpPr>
        <p:spPr>
          <a:xfrm>
            <a:off x="835062" y="5889852"/>
            <a:ext cx="164592" cy="164592"/>
          </a:xfrm>
          <a:prstGeom prst="ellipse">
            <a:avLst/>
          </a:prstGeom>
          <a:solidFill>
            <a:srgbClr val="CBA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35062" y="5871564"/>
            <a:ext cx="164592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3131A"/>
                </a:solidFill>
                <a:latin typeface="Segoe UI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5102" y="5862420"/>
            <a:ext cx="4572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dirty="0">
                <a:solidFill>
                  <a:schemeClr val="bg1"/>
                </a:solidFill>
                <a:latin typeface="Segoe UI"/>
              </a:rPr>
              <a:t>ASIC feasibility study scoped ($150K–$300K, go/no-go gates)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095999" y="4008511"/>
            <a:ext cx="5181295" cy="2501419"/>
          </a:xfrm>
          <a:prstGeom prst="roundRect">
            <a:avLst>
              <a:gd name="adj" fmla="val 3000"/>
            </a:avLst>
          </a:prstGeom>
          <a:solidFill>
            <a:srgbClr val="1A2A1A"/>
          </a:solidFill>
          <a:ln w="12700">
            <a:solidFill>
              <a:srgbClr val="A6E3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217920" y="4071570"/>
            <a:ext cx="46634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dirty="0">
                <a:solidFill>
                  <a:schemeClr val="bg1"/>
                </a:solidFill>
                <a:latin typeface="Segoe UI"/>
              </a:rPr>
              <a:t>Why This Is Fundable Now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16444" y="4389120"/>
            <a:ext cx="466344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dirty="0">
                <a:solidFill>
                  <a:srgbClr val="A6E3A1"/>
                </a:solidFill>
                <a:latin typeface="Segoe UI"/>
              </a:rPr>
              <a:t>✓  Technical risk retired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45044" y="4590288"/>
            <a:ext cx="448056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dirty="0">
                <a:solidFill>
                  <a:schemeClr val="bg1"/>
                </a:solidFill>
                <a:latin typeface="Segoe UI"/>
              </a:rPr>
              <a:t>92 proofs + working silicon</a:t>
            </a:r>
            <a:r>
              <a:rPr lang="en-US" sz="1000" b="0" dirty="0">
                <a:solidFill>
                  <a:schemeClr val="bg1"/>
                </a:solidFill>
                <a:latin typeface="Segoe UI"/>
              </a:rPr>
              <a:t> (Tang Nano 9K – FPGA)</a:t>
            </a:r>
            <a:r>
              <a:rPr sz="1000" b="0" dirty="0">
                <a:solidFill>
                  <a:schemeClr val="bg1"/>
                </a:solidFill>
                <a:latin typeface="Segoe UI"/>
              </a:rPr>
              <a:t> + 353 </a:t>
            </a:r>
            <a:r>
              <a:rPr lang="en-US" sz="1000" b="0" dirty="0">
                <a:solidFill>
                  <a:schemeClr val="bg1"/>
                </a:solidFill>
                <a:latin typeface="Segoe UI"/>
              </a:rPr>
              <a:t>validation </a:t>
            </a:r>
            <a:r>
              <a:rPr sz="1000" b="0" dirty="0">
                <a:solidFill>
                  <a:schemeClr val="bg1"/>
                </a:solidFill>
                <a:latin typeface="Segoe UI"/>
              </a:rPr>
              <a:t>tests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16444" y="4828032"/>
            <a:ext cx="466344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dirty="0">
                <a:solidFill>
                  <a:srgbClr val="A6E3A1"/>
                </a:solidFill>
                <a:latin typeface="Segoe UI"/>
              </a:rPr>
              <a:t>✓  Market timing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45044" y="5029200"/>
            <a:ext cx="448056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dirty="0">
                <a:solidFill>
                  <a:schemeClr val="bg1"/>
                </a:solidFill>
                <a:latin typeface="Segoe UI"/>
              </a:rPr>
              <a:t>Edge embedded growing 25%+ CAGR; memory bandwidth is the binding constraint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16444" y="5260400"/>
            <a:ext cx="466344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dirty="0">
                <a:solidFill>
                  <a:srgbClr val="A6E3A1"/>
                </a:solidFill>
                <a:latin typeface="Segoe UI"/>
              </a:rPr>
              <a:t>✓  Proven efficiency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45044" y="5461568"/>
            <a:ext cx="448056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dirty="0">
                <a:solidFill>
                  <a:schemeClr val="bg1"/>
                </a:solidFill>
                <a:latin typeface="Segoe UI"/>
              </a:rPr>
              <a:t>Full stack built with AI-augmented development — hardware, proofs, SDK, firmware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16444" y="5690168"/>
            <a:ext cx="466344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dirty="0">
                <a:solidFill>
                  <a:srgbClr val="A6E3A1"/>
                </a:solidFill>
                <a:latin typeface="Segoe UI"/>
              </a:rPr>
              <a:t>✓  Clear IP moat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45044" y="5891336"/>
            <a:ext cx="448056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 b="0" dirty="0">
                <a:solidFill>
                  <a:schemeClr val="bg1"/>
                </a:solidFill>
                <a:latin typeface="Segoe UI"/>
              </a:rPr>
              <a:t>Provisional patent pending + formal verification barrier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0852" y="6298692"/>
            <a:ext cx="5486400" cy="457200"/>
          </a:xfrm>
          <a:prstGeom prst="rect">
            <a:avLst/>
          </a:prstGeom>
          <a:noFill/>
        </p:spPr>
        <p:txBody>
          <a:bodyPr wrap="square" anchor="b"/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dirty="0">
                <a:solidFill>
                  <a:schemeClr val="bg1"/>
                </a:solidFill>
                <a:latin typeface="Segoe UI"/>
              </a:rPr>
              <a:t>ATOMiK — Delta-State Computing in Silicon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96000" y="6132520"/>
            <a:ext cx="5029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chemeClr val="bg1"/>
                </a:solidFill>
                <a:latin typeface="Segoe UI"/>
              </a:rPr>
              <a:t>Validated architecture. Defined milestones. Ready for funded execution.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277295" y="6492240"/>
            <a:ext cx="731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F849C"/>
                </a:solidFill>
                <a:latin typeface="Segoe UI"/>
              </a:rPr>
              <a:t>14/15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1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500000"/>
            <a:ext cx="105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89B4FA"/>
                </a:solidFill>
                <a:latin typeface="Segoe UI"/>
              </a:rPr>
              <a:t>Why ATOMiK Is Fundable Now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" y="1100000"/>
            <a:ext cx="10972800" cy="2540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00000" y="1400000"/>
            <a:ext cx="3200000" cy="2612202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00000" y="1550000"/>
            <a:ext cx="3200000" cy="5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A6E3A1"/>
                </a:solidFill>
                <a:latin typeface="Segoe UI"/>
              </a:rPr>
              <a:t>Formally</a:t>
            </a:r>
          </a:p>
          <a:p>
            <a:pPr algn="ctr"/>
            <a:r>
              <a:rPr sz="2200" b="1">
                <a:solidFill>
                  <a:srgbClr val="A6E3A1"/>
                </a:solidFill>
                <a:latin typeface="Segoe UI"/>
              </a:rPr>
              <a:t>Verified</a:t>
            </a:r>
          </a:p>
        </p:txBody>
      </p:sp>
      <p:sp>
        <p:nvSpPr>
          <p:cNvPr id="6" name="Rectangle 5"/>
          <p:cNvSpPr/>
          <p:nvPr/>
        </p:nvSpPr>
        <p:spPr>
          <a:xfrm>
            <a:off x="1290354" y="2283266"/>
            <a:ext cx="2400000" cy="200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90354" y="2383266"/>
            <a:ext cx="280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CDD6F4"/>
                </a:solidFill>
                <a:latin typeface="Segoe UI"/>
              </a:rPr>
              <a:t>92 Lean4 proofs establish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CDD6F4"/>
                </a:solidFill>
                <a:latin typeface="Segoe UI"/>
              </a:rPr>
              <a:t>that delta-state XOR algebra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CDD6F4"/>
                </a:solidFill>
                <a:latin typeface="Segoe UI"/>
              </a:rPr>
              <a:t>forms a complete Abelian group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CDD6F4"/>
                </a:solidFill>
                <a:latin typeface="Segoe UI"/>
              </a:rPr>
              <a:t>for parallel state accumulation.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0354" y="3483266"/>
            <a:ext cx="32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A6E3A1"/>
                </a:solidFill>
                <a:latin typeface="Segoe UI"/>
              </a:rPr>
              <a:t>92 proofs, 0 sorry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00000" y="1400000"/>
            <a:ext cx="3200000" cy="2612202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00000" y="1550000"/>
            <a:ext cx="3200000" cy="5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89B4FA"/>
                </a:solidFill>
                <a:latin typeface="Segoe UI"/>
              </a:rPr>
              <a:t>Hardware
Validated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90354" y="2283266"/>
            <a:ext cx="2400000" cy="200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90354" y="2383266"/>
            <a:ext cx="280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CDD6F4"/>
                </a:solidFill>
                <a:latin typeface="Segoe UI"/>
              </a:rPr>
              <a:t>Two production SoCs validated.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CDD6F4"/>
                </a:solidFill>
                <a:latin typeface="Segoe UI"/>
              </a:rPr>
              <a:t>80/80 parallel tests passing.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CDD6F4"/>
                </a:solidFill>
                <a:latin typeface="Segoe UI"/>
              </a:rPr>
              <a:t>95–100% memory traffic reduction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CDD6F4"/>
                </a:solidFill>
                <a:latin typeface="Segoe UI"/>
              </a:rPr>
              <a:t>across benchmarked workloads.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354" y="3483266"/>
            <a:ext cx="32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89B4FA"/>
                </a:solidFill>
                <a:latin typeface="Segoe UI"/>
              </a:rPr>
              <a:t>Working silicon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0000" y="1400000"/>
            <a:ext cx="3200000" cy="2612202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00000" y="1550000"/>
            <a:ext cx="3200000" cy="5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CBA6F7"/>
                </a:solidFill>
                <a:latin typeface="Segoe UI"/>
              </a:rPr>
              <a:t>Clear Path to</a:t>
            </a:r>
          </a:p>
          <a:p>
            <a:pPr algn="ctr"/>
            <a:r>
              <a:rPr sz="2200" b="1">
                <a:solidFill>
                  <a:srgbClr val="CBA6F7"/>
                </a:solidFill>
                <a:latin typeface="Segoe UI"/>
              </a:rPr>
              <a:t>First Design Wins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90354" y="2283266"/>
            <a:ext cx="2400000" cy="200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90354" y="2383266"/>
            <a:ext cx="280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CDD6F4"/>
                </a:solidFill>
                <a:latin typeface="Segoe UI"/>
              </a:rPr>
              <a:t>Validated architecture.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CDD6F4"/>
                </a:solidFill>
                <a:latin typeface="Segoe UI"/>
              </a:rPr>
              <a:t>Defined beachhead.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CDD6F4"/>
                </a:solidFill>
                <a:latin typeface="Segoe UI"/>
              </a:rPr>
              <a:t>Clear licensing motion.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CDD6F4"/>
                </a:solidFill>
                <a:latin typeface="Segoe UI"/>
              </a:rPr>
              <a:t>Seed capital unlocks first customers.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0354" y="3483266"/>
            <a:ext cx="32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CBA6F7"/>
                </a:solidFill>
                <a:latin typeface="Segoe UI"/>
              </a:rPr>
              <a:t>First design wins in sight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0811" y="4441139"/>
            <a:ext cx="105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89B4FA"/>
                </a:solidFill>
                <a:latin typeface="Segoe UI"/>
              </a:rPr>
              <a:t>The Investment Case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9291" y="4841139"/>
            <a:ext cx="80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CDD6F4"/>
                </a:solidFill>
                <a:latin typeface="Segoe UI"/>
              </a:rPr>
              <a:t>✓  Validated architecture — 92 machine-verified proofs, working silicon, 353 tests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9291" y="5161139"/>
            <a:ext cx="80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CDD6F4"/>
                </a:solidFill>
                <a:latin typeface="Segoe UI"/>
              </a:rPr>
              <a:t>✓  Defined beachhead — edge embedded, eval → license → royalty motion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9291" y="5481139"/>
            <a:ext cx="80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CDD6F4"/>
                </a:solidFill>
                <a:latin typeface="Segoe UI"/>
              </a:rPr>
              <a:t>✓  Clear near-term milestones — Zynq validation, first paid evals, team buildout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0811" y="5941139"/>
            <a:ext cx="105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89B4FA"/>
                </a:solidFill>
                <a:latin typeface="Segoe UI"/>
              </a:rPr>
              <a:t>ATOMiK — Delta-State Execution for Real-Time Embedded Systems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0811" y="6291139"/>
            <a:ext cx="10500000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sz="1400" b="0" dirty="0">
                <a:solidFill>
                  <a:srgbClr val="7F849C"/>
                </a:solidFill>
                <a:latin typeface="Segoe UI"/>
              </a:rPr>
              <a:t>Patent Pending  •  </a:t>
            </a:r>
            <a:r>
              <a:rPr lang="en-US" sz="1400" dirty="0">
                <a:solidFill>
                  <a:srgbClr val="7F849C"/>
                </a:solidFill>
                <a:latin typeface="Segoe UI"/>
              </a:rPr>
              <a:t>matthew.h.rockwell@gmail.com</a:t>
            </a:r>
            <a:endParaRPr lang="en-US" sz="1400" b="0" dirty="0">
              <a:solidFill>
                <a:srgbClr val="7F849C"/>
              </a:solidFill>
              <a:latin typeface="Segoe UI"/>
              <a:cs typeface="Segoe UI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1277295" y="6492240"/>
            <a:ext cx="7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7F849C"/>
                </a:solidFill>
                <a:latin typeface="Segoe UI"/>
              </a:rPr>
              <a:t>15/15</a:t>
            </a:r>
          </a:p>
        </p:txBody>
      </p:sp>
    </p:spTree>
    <p:extLst>
      <p:ext uri="{BB962C8B-B14F-4D97-AF65-F5344CB8AC3E}">
        <p14:creationId xmlns:p14="http://schemas.microsoft.com/office/powerpoint/2010/main" val="38584142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</TotalTime>
  <Words>1713</Words>
  <Application>Microsoft Office PowerPoint</Application>
  <PresentationFormat>Widescreen</PresentationFormat>
  <Paragraphs>365</Paragraphs>
  <Slides>15</Slides>
  <Notes>15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6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Matthew Rockwell</cp:lastModifiedBy>
  <cp:revision>91</cp:revision>
  <dcterms:created xsi:type="dcterms:W3CDTF">2013-01-27T09:14:16Z</dcterms:created>
  <dcterms:modified xsi:type="dcterms:W3CDTF">2026-03-11T22:47:47Z</dcterms:modified>
  <cp:category/>
</cp:coreProperties>
</file>