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1D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50392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PRE-SEED  ·  $2.0M TARGET  ·  PLANNED SAFE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33856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4F8FF"/>
                </a:solidFill>
                <a:latin typeface="Aptos"/>
              </a:rPr>
              <a:t>Make change the unit of compute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901952"/>
            <a:ext cx="53035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0">
                <a:solidFill>
                  <a:srgbClr val="9FB1C7"/>
                </a:solidFill>
                <a:latin typeface="Aptos"/>
              </a:rPr>
              <a:t>For edge and embedded teams whose battery, heat, bandwidth, latency, or footprint is constrained by repeated state 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615184"/>
            <a:ext cx="2331720" cy="310896"/>
          </a:xfrm>
          <a:prstGeom prst="roundRect">
            <a:avLst>
              <a:gd name="adj" fmla="val 8000"/>
            </a:avLst>
          </a:prstGeom>
          <a:solidFill>
            <a:srgbClr val="101A29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688336"/>
            <a:ext cx="21122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22C55E"/>
                </a:solidFill>
                <a:latin typeface="Aptos"/>
              </a:rPr>
              <a:t>Zynq UI proof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18688" y="2615184"/>
            <a:ext cx="2606040" cy="310896"/>
          </a:xfrm>
          <a:prstGeom prst="roundRect">
            <a:avLst>
              <a:gd name="adj" fmla="val 8000"/>
            </a:avLst>
          </a:prstGeom>
          <a:solidFill>
            <a:srgbClr val="101A29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28416" y="2688336"/>
            <a:ext cx="23865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22D3EE"/>
                </a:solidFill>
                <a:latin typeface="Aptos"/>
              </a:rPr>
              <a:t>Linux-to-FPGA path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16752" y="2615184"/>
            <a:ext cx="2697480" cy="310896"/>
          </a:xfrm>
          <a:prstGeom prst="roundRect">
            <a:avLst>
              <a:gd name="adj" fmla="val 8000"/>
            </a:avLst>
          </a:prstGeom>
          <a:solidFill>
            <a:srgbClr val="101A29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2688336"/>
            <a:ext cx="24780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A78BFA"/>
                </a:solidFill>
                <a:latin typeface="Aptos"/>
              </a:rPr>
              <a:t>16/16 property checks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108960"/>
            <a:ext cx="45720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9FB1C7"/>
                </a:solidFill>
                <a:latin typeface="Aptos"/>
              </a:rPr>
              <a:t>Bring one workload. Measure wasted state movement. Decide fit with evidence.</a:t>
            </a:r>
          </a:p>
        </p:txBody>
      </p:sp>
      <p:pic>
        <p:nvPicPr>
          <p:cNvPr id="16" name="Picture 15" descr="09-current-live-atomik-desk-v039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4084" y="3035808"/>
            <a:ext cx="2308352" cy="129844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85800" y="4480560"/>
            <a:ext cx="3520440" cy="128016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0392" y="4626864"/>
            <a:ext cx="566928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4809744"/>
            <a:ext cx="3191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IP 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" y="5184648"/>
            <a:ext cx="31912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B1C7"/>
                </a:solidFill>
                <a:latin typeface="Aptos"/>
              </a:rPr>
              <a:t>Architecture + proof + IP packet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2272" y="4480560"/>
            <a:ext cx="3520440" cy="128016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26864" y="4626864"/>
            <a:ext cx="566928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6864" y="4809744"/>
            <a:ext cx="31912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Live proof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5184648"/>
            <a:ext cx="31912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B1C7"/>
                </a:solidFill>
                <a:latin typeface="Aptos"/>
              </a:rPr>
              <a:t>v0.39-K running on Zynq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38744" y="4480560"/>
            <a:ext cx="3383280" cy="128016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03336" y="4626864"/>
            <a:ext cx="566928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03336" y="4809744"/>
            <a:ext cx="3054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18-month gate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03336" y="5184648"/>
            <a:ext cx="30540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B1C7"/>
                </a:solidFill>
                <a:latin typeface="Aptos"/>
              </a:rPr>
              <a:t>measured workload proof + IP diligence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1D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50392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33856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4F8FF"/>
                </a:solidFill>
                <a:latin typeface="Aptos"/>
              </a:rPr>
              <a:t>The hidden tax is repeated state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594360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550">
                <a:solidFill>
                  <a:srgbClr val="F59E0B"/>
                </a:solidFill>
                <a:latin typeface="Aptos"/>
              </a:rPr>
              <a:t>- </a:t>
            </a:r>
            <a:r>
              <a:rPr sz="1550">
                <a:solidFill>
                  <a:srgbClr val="9FB1C7"/>
                </a:solidFill>
                <a:latin typeface="Aptos"/>
              </a:rPr>
              <a:t>Battery, heat, link budget, latency, and reliability pressure.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F59E0B"/>
                </a:solidFill>
                <a:latin typeface="Aptos"/>
              </a:rPr>
              <a:t>- </a:t>
            </a:r>
            <a:r>
              <a:rPr sz="1550">
                <a:solidFill>
                  <a:srgbClr val="9FB1C7"/>
                </a:solidFill>
                <a:latin typeface="Aptos"/>
              </a:rPr>
              <a:t>AI/context and remote systems make state movement expensive.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F59E0B"/>
                </a:solidFill>
                <a:latin typeface="Aptos"/>
              </a:rPr>
              <a:t>- </a:t>
            </a:r>
            <a:r>
              <a:rPr sz="1550">
                <a:solidFill>
                  <a:srgbClr val="9FB1C7"/>
                </a:solidFill>
                <a:latin typeface="Aptos"/>
              </a:rPr>
              <a:t>Market energy and water data explain urgency, not ATOMiK savings.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F59E0B"/>
                </a:solidFill>
                <a:latin typeface="Aptos"/>
              </a:rPr>
              <a:t>- </a:t>
            </a:r>
            <a:r>
              <a:rPr sz="1550">
                <a:solidFill>
                  <a:srgbClr val="9FB1C7"/>
                </a:solidFill>
                <a:latin typeface="Aptos"/>
              </a:rPr>
              <a:t>Common pattern: full-state work when only a compact change matters.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1828800"/>
            <a:ext cx="4251960" cy="105156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14032" y="1975104"/>
            <a:ext cx="566928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14032" y="2157984"/>
            <a:ext cx="39227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Battery / heat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4032" y="2532888"/>
            <a:ext cx="39227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Power and thermal pressure.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3063240"/>
            <a:ext cx="4251960" cy="105156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14032" y="3209544"/>
            <a:ext cx="566928" cy="38100"/>
          </a:xfrm>
          <a:prstGeom prst="rect">
            <a:avLst/>
          </a:prstGeom>
          <a:solidFill>
            <a:srgbClr val="4F8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4032" y="3392424"/>
            <a:ext cx="39227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Bandwidth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3767328"/>
            <a:ext cx="39227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Link budget pressure.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9440" y="4297680"/>
            <a:ext cx="4251960" cy="105156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14032" y="4443984"/>
            <a:ext cx="566928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14032" y="4626864"/>
            <a:ext cx="39227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Latency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2" y="5001768"/>
            <a:ext cx="39227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Local-response delay.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5508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F8097"/>
                </a:solidFill>
                <a:latin typeface="Aptos"/>
              </a:rPr>
              <a:t>IEA Energy and AI (2024); LBNL 2024 US Data Center Report. Market framing only — not an ATOMiK savings claim.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1D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50392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END-GAME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33856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4F8FF"/>
                </a:solidFill>
                <a:latin typeface="Aptos"/>
              </a:rPr>
              <a:t>Customers do not buy delta-state algebra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74519"/>
            <a:ext cx="3291840" cy="1170432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1832" y="2020823"/>
            <a:ext cx="566928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203703"/>
            <a:ext cx="29626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Bytes avoided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578607"/>
            <a:ext cx="296265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Less state movement against the current baseline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26279" y="1874519"/>
            <a:ext cx="3291840" cy="1170432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90871" y="2020823"/>
            <a:ext cx="566928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1" y="2203703"/>
            <a:ext cx="29626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Update latency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1" y="2578607"/>
            <a:ext cx="296265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Faster local state paths where the workload fits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19" y="1874519"/>
            <a:ext cx="3291840" cy="1170432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39911" y="2020823"/>
            <a:ext cx="566928" cy="38100"/>
          </a:xfrm>
          <a:prstGeom prst="rect">
            <a:avLst/>
          </a:prstGeom>
          <a:solidFill>
            <a:srgbClr val="4F8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1" y="2203703"/>
            <a:ext cx="29626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Bandwidth pressure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1" y="2578607"/>
            <a:ext cx="296265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Fewer full-state transfers when measured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474720"/>
            <a:ext cx="3291840" cy="1170432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1832" y="3621024"/>
            <a:ext cx="566928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3803904"/>
            <a:ext cx="29626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Operations coalesced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" y="4178808"/>
            <a:ext cx="296265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Less repeated work in change-heavy paths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26279" y="3474720"/>
            <a:ext cx="3291840" cy="1170432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90871" y="3621024"/>
            <a:ext cx="566928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90871" y="3803904"/>
            <a:ext cx="29626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Power/thermal proxy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4178808"/>
            <a:ext cx="296265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Follow-on measurement when instrumentation exists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5166360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F4F8FF"/>
                </a:solidFill>
                <a:latin typeface="Aptos"/>
              </a:rPr>
              <a:t>Battery, cooling, water, and footprint remain evaluation targets until measured.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1D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50392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THE PRIMITIVE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33856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4F8FF"/>
                </a:solidFill>
                <a:latin typeface="Aptos"/>
              </a:rPr>
              <a:t>Make change the unit of compute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2011680"/>
            <a:ext cx="10149840" cy="960120"/>
          </a:xfrm>
          <a:prstGeom prst="roundRect">
            <a:avLst>
              <a:gd name="adj" fmla="val 8000"/>
            </a:avLst>
          </a:prstGeom>
          <a:solidFill>
            <a:srgbClr val="101A29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98448" y="2313432"/>
            <a:ext cx="9509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22D3EE"/>
                </a:solidFill>
                <a:latin typeface="Aptos"/>
              </a:rPr>
              <a:t>state = reference_state XOR accumulated_delta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657600"/>
            <a:ext cx="2423160" cy="123444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1832" y="3803904"/>
            <a:ext cx="566928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3986784"/>
            <a:ext cx="20939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4361688"/>
            <a:ext cx="20939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Start from a known reference state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30168" y="3657600"/>
            <a:ext cx="2423160" cy="123444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94760" y="3803904"/>
            <a:ext cx="566928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94760" y="3986784"/>
            <a:ext cx="20939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ACCUM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361688"/>
            <a:ext cx="20939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Accumulate compact deltas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83096" y="3657600"/>
            <a:ext cx="2423160" cy="123444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47688" y="3803904"/>
            <a:ext cx="566928" cy="38100"/>
          </a:xfrm>
          <a:prstGeom prst="rect">
            <a:avLst/>
          </a:prstGeom>
          <a:solidFill>
            <a:srgbClr val="4F8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7688" y="3986784"/>
            <a:ext cx="20939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READ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7688" y="4361688"/>
            <a:ext cx="20939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Reconstruct only when needed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6024" y="3657600"/>
            <a:ext cx="2423160" cy="123444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500616" y="3803904"/>
            <a:ext cx="566928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0616" y="3986784"/>
            <a:ext cx="20939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SWAP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0616" y="4361688"/>
            <a:ext cx="20939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Commit clean epoch boundaries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1D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50392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33856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4F8FF"/>
                </a:solidFill>
                <a:latin typeface="Aptos"/>
              </a:rPr>
              <a:t>ATOMiK has a wedge, not a universal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51206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700">
                <a:solidFill>
                  <a:srgbClr val="22C55E"/>
                </a:solidFill>
                <a:latin typeface="Aptos"/>
              </a:rPr>
              <a:t>- </a:t>
            </a:r>
            <a:r>
              <a:rPr sz="1700">
                <a:solidFill>
                  <a:srgbClr val="9FB1C7"/>
                </a:solidFill>
                <a:latin typeface="Aptos"/>
              </a:rPr>
              <a:t>writes or updates dominate reads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22C55E"/>
                </a:solidFill>
                <a:latin typeface="Aptos"/>
              </a:rPr>
              <a:t>- </a:t>
            </a:r>
            <a:r>
              <a:rPr sz="1700">
                <a:solidFill>
                  <a:srgbClr val="9FB1C7"/>
                </a:solidFill>
                <a:latin typeface="Aptos"/>
              </a:rPr>
              <a:t>state changes are sparse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22C55E"/>
                </a:solidFill>
                <a:latin typeface="Aptos"/>
              </a:rPr>
              <a:t>- </a:t>
            </a:r>
            <a:r>
              <a:rPr sz="1700">
                <a:solidFill>
                  <a:srgbClr val="9FB1C7"/>
                </a:solidFill>
                <a:latin typeface="Aptos"/>
              </a:rPr>
              <a:t>bandwidth is expensive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22C55E"/>
                </a:solidFill>
                <a:latin typeface="Aptos"/>
              </a:rPr>
              <a:t>- </a:t>
            </a:r>
            <a:r>
              <a:rPr sz="1700">
                <a:solidFill>
                  <a:srgbClr val="9FB1C7"/>
                </a:solidFill>
                <a:latin typeface="Aptos"/>
              </a:rPr>
              <a:t>latency and power budgets are tight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22C55E"/>
                </a:solidFill>
                <a:latin typeface="Aptos"/>
              </a:rPr>
              <a:t>- </a:t>
            </a:r>
            <a:r>
              <a:rPr sz="1700">
                <a:solidFill>
                  <a:srgbClr val="9FB1C7"/>
                </a:solidFill>
                <a:latin typeface="Aptos"/>
              </a:rPr>
              <a:t>rollback, sync, or context retention create overhead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965960"/>
            <a:ext cx="4389120" cy="2286000"/>
          </a:xfrm>
          <a:prstGeom prst="roundRect">
            <a:avLst>
              <a:gd name="adj" fmla="val 8000"/>
            </a:avLst>
          </a:prstGeom>
          <a:solidFill>
            <a:srgbClr val="101A29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24028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59E0B"/>
                </a:solidFill>
                <a:latin typeface="Aptos"/>
              </a:rPr>
              <a:t>Not the pitch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743200"/>
            <a:ext cx="3749039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F59E0B"/>
                </a:solidFill>
                <a:latin typeface="Aptos"/>
              </a:rPr>
              <a:t>- </a:t>
            </a:r>
            <a:r>
              <a:rPr sz="1300">
                <a:solidFill>
                  <a:srgbClr val="9FB1C7"/>
                </a:solidFill>
                <a:latin typeface="Aptos"/>
              </a:rPr>
              <a:t>a general-purpose CPU replacement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59E0B"/>
                </a:solidFill>
                <a:latin typeface="Aptos"/>
              </a:rPr>
              <a:t>- </a:t>
            </a:r>
            <a:r>
              <a:rPr sz="1300">
                <a:solidFill>
                  <a:srgbClr val="9FB1C7"/>
                </a:solidFill>
                <a:latin typeface="Aptos"/>
              </a:rPr>
              <a:t>a claimed thermal result before measurement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59E0B"/>
                </a:solidFill>
                <a:latin typeface="Aptos"/>
              </a:rPr>
              <a:t>- </a:t>
            </a:r>
            <a:r>
              <a:rPr sz="1300">
                <a:solidFill>
                  <a:srgbClr val="9FB1C7"/>
                </a:solidFill>
                <a:latin typeface="Aptos"/>
              </a:rPr>
              <a:t>a commercial desktop product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1D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50392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USE CASES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33856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4F8FF"/>
                </a:solidFill>
                <a:latin typeface="Aptos"/>
              </a:rPr>
              <a:t>Different industries feel the same waste in different budgets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40280"/>
            <a:ext cx="4983480" cy="1170432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1832" y="2386584"/>
            <a:ext cx="658368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569464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4F8FF"/>
                </a:solidFill>
                <a:latin typeface="Aptos"/>
              </a:rPr>
              <a:t>Edge / embedded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92608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FB1C7"/>
                </a:solidFill>
                <a:latin typeface="Aptos"/>
              </a:rPr>
              <a:t>Pain: battery, enclosure heat, intermittent links, reliability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320040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F8097"/>
                </a:solidFill>
                <a:latin typeface="Aptos"/>
              </a:rPr>
              <a:t>Target: measure bytes moved, latency, bandwidth, power proxy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2240280"/>
            <a:ext cx="4983480" cy="1170432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3951" y="2386584"/>
            <a:ext cx="658368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1" y="2569464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4F8FF"/>
                </a:solidFill>
                <a:latin typeface="Aptos"/>
              </a:rPr>
              <a:t>AI at the edge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1" y="292608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FB1C7"/>
                </a:solidFill>
                <a:latin typeface="Aptos"/>
              </a:rPr>
              <a:t>Pain: context/state movement, memory pressure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1" y="320040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F8097"/>
                </a:solidFill>
                <a:latin typeface="Aptos"/>
              </a:rPr>
              <a:t>Target: measure context retained and transfer avoided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749039"/>
            <a:ext cx="4983480" cy="1170432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1832" y="3895343"/>
            <a:ext cx="658368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4078223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4F8FF"/>
                </a:solidFill>
                <a:latin typeface="Aptos"/>
              </a:rPr>
              <a:t>Remote / industrial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4434839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FB1C7"/>
                </a:solidFill>
                <a:latin typeface="Aptos"/>
              </a:rPr>
              <a:t>Pain: weight, wattage, packet budget, field runtime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" y="4709159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F8097"/>
                </a:solidFill>
                <a:latin typeface="Aptos"/>
              </a:rPr>
              <a:t>Target: measure runtime proxy and update cost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3749039"/>
            <a:ext cx="4983480" cy="1170432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73951" y="3895343"/>
            <a:ext cx="658368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1" y="4078223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4F8FF"/>
                </a:solidFill>
                <a:latin typeface="Aptos"/>
              </a:rPr>
              <a:t>Data center / infrastructure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1" y="4434839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FB1C7"/>
                </a:solidFill>
                <a:latin typeface="Aptos"/>
              </a:rPr>
              <a:t>Pain: power bill, cooling, water pressure, density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1" y="4709159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F8097"/>
                </a:solidFill>
                <a:latin typeface="Aptos"/>
              </a:rPr>
              <a:t>Target: measure bytes moved and power/thermal path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1D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50392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LIVE PROOF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33856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4F8FF"/>
                </a:solidFill>
                <a:latin typeface="Aptos"/>
              </a:rPr>
              <a:t>Current demo surface running on Zynq hardware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48840"/>
            <a:ext cx="10835640" cy="3566160"/>
          </a:xfrm>
          <a:prstGeom prst="roundRect">
            <a:avLst>
              <a:gd name="adj" fmla="val 8000"/>
            </a:avLst>
          </a:prstGeom>
          <a:solidFill>
            <a:srgbClr val="101A29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9-current-live-atomik-desk-v039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6808" y="2304288"/>
            <a:ext cx="5364480" cy="3017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5422392"/>
            <a:ext cx="10149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9FB1C7"/>
                </a:solidFill>
                <a:latin typeface="Aptos"/>
              </a:rPr>
              <a:t>HARDWARE_VALIDATED: ATOMiK Desk v0.39-K prototype UI running on live Zynq hardware. Not commercial product maturity or performance proof.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1D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50392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PROOF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33856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4F8FF"/>
                </a:solidFill>
                <a:latin typeface="Aptos"/>
              </a:rPr>
              <a:t>Compelling, but evidence-bounded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783080"/>
            <a:ext cx="10561320" cy="50292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11096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F4F8FF"/>
                </a:solidFill>
                <a:latin typeface="Aptos"/>
              </a:rPr>
              <a:t>Zynq Desk v0.39-K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86200" y="1911096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30" b="1">
                <a:solidFill>
                  <a:srgbClr val="22C55E"/>
                </a:solidFill>
                <a:latin typeface="Aptos"/>
              </a:rPr>
              <a:t>HARDWARE_VALIDATED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911096"/>
            <a:ext cx="4800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0">
                <a:solidFill>
                  <a:srgbClr val="9FB1C7"/>
                </a:solidFill>
                <a:latin typeface="Aptos"/>
              </a:rPr>
              <a:t>current public proof image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496312"/>
            <a:ext cx="10561320" cy="50292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624328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F4F8FF"/>
                </a:solidFill>
                <a:latin typeface="Aptos"/>
              </a:rPr>
              <a:t>Linux userspace to FPGA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624328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30" b="1">
                <a:solidFill>
                  <a:srgbClr val="22D3EE"/>
                </a:solidFill>
                <a:latin typeface="Aptos"/>
              </a:rPr>
              <a:t>HARDWARE_VALIDATED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624328"/>
            <a:ext cx="4800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0">
                <a:solidFill>
                  <a:srgbClr val="9FB1C7"/>
                </a:solidFill>
                <a:latin typeface="Aptos"/>
              </a:rPr>
              <a:t>documented OS-to-bus path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209544"/>
            <a:ext cx="10561320" cy="50292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337560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F4F8FF"/>
                </a:solidFill>
                <a:latin typeface="Aptos"/>
              </a:rPr>
              <a:t>AX7020 board run matrix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6200" y="3337560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30" b="1">
                <a:solidFill>
                  <a:srgbClr val="4F8FFF"/>
                </a:solidFill>
                <a:latin typeface="Aptos"/>
              </a:rPr>
              <a:t>LIVE_MEASURED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337560"/>
            <a:ext cx="4800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0">
                <a:solidFill>
                  <a:srgbClr val="9FB1C7"/>
                </a:solidFill>
                <a:latin typeface="Aptos"/>
              </a:rPr>
              <a:t>raw artifact with caveats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922776"/>
            <a:ext cx="10561320" cy="50292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50792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F4F8FF"/>
                </a:solidFill>
                <a:latin typeface="Aptos"/>
              </a:rPr>
              <a:t>Formal algebra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6200" y="4050792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30" b="1">
                <a:solidFill>
                  <a:srgbClr val="A78BFA"/>
                </a:solidFill>
                <a:latin typeface="Aptos"/>
              </a:rPr>
              <a:t>FORMAL_PROOF*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050792"/>
            <a:ext cx="4800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0">
                <a:solidFill>
                  <a:srgbClr val="9FB1C7"/>
                </a:solidFill>
                <a:latin typeface="Aptos"/>
              </a:rPr>
              <a:t>audited properties only; counts withheld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4636008"/>
            <a:ext cx="10561320" cy="50292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764024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F4F8FF"/>
                </a:solidFill>
                <a:latin typeface="Aptos"/>
              </a:rPr>
              <a:t>Standalone boot artifacts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4764024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30" b="1">
                <a:solidFill>
                  <a:srgbClr val="F59E0B"/>
                </a:solidFill>
                <a:latin typeface="Aptos"/>
              </a:rPr>
              <a:t>BUILD_ARTIFACT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4764024"/>
            <a:ext cx="4800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0">
                <a:solidFill>
                  <a:srgbClr val="9FB1C7"/>
                </a:solidFill>
                <a:latin typeface="Aptos"/>
              </a:rPr>
              <a:t>local build output exists; public power-on artifact gated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1D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50392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COMMERCIAL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33856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4F8FF"/>
                </a:solidFill>
                <a:latin typeface="Aptos"/>
              </a:rPr>
              <a:t>Start with paid evaluation, then earn strategic options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40280"/>
            <a:ext cx="2468880" cy="2331720"/>
          </a:xfrm>
          <a:prstGeom prst="roundRect">
            <a:avLst>
              <a:gd name="adj" fmla="val 8000"/>
            </a:avLst>
          </a:prstGeom>
          <a:solidFill>
            <a:srgbClr val="101A29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50392" y="2386584"/>
            <a:ext cx="196596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2615184"/>
            <a:ext cx="21031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1">
                <a:solidFill>
                  <a:srgbClr val="F4F8FF"/>
                </a:solidFill>
                <a:latin typeface="Aptos"/>
              </a:rPr>
              <a:t>Proof review
0-30 days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182112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B1C7"/>
                </a:solidFill>
                <a:latin typeface="Aptos"/>
              </a:rPr>
              <a:t>Artifact review + fit question.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2240280"/>
            <a:ext cx="2468880" cy="2331720"/>
          </a:xfrm>
          <a:prstGeom prst="roundRect">
            <a:avLst>
              <a:gd name="adj" fmla="val 8000"/>
            </a:avLst>
          </a:prstGeom>
          <a:solidFill>
            <a:srgbClr val="101A29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85032" y="2386584"/>
            <a:ext cx="1965960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85032" y="2615184"/>
            <a:ext cx="21031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1">
                <a:solidFill>
                  <a:srgbClr val="F4F8FF"/>
                </a:solidFill>
                <a:latin typeface="Aptos"/>
              </a:rPr>
              <a:t>Technical eval
30-90 days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3182112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B1C7"/>
                </a:solidFill>
                <a:latin typeface="Aptos"/>
              </a:rPr>
              <a:t>Workload + baseline + metric.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240280"/>
            <a:ext cx="2468880" cy="2331720"/>
          </a:xfrm>
          <a:prstGeom prst="roundRect">
            <a:avLst>
              <a:gd name="adj" fmla="val 8000"/>
            </a:avLst>
          </a:prstGeom>
          <a:solidFill>
            <a:srgbClr val="101A29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19672" y="2386584"/>
            <a:ext cx="1965960" cy="38100"/>
          </a:xfrm>
          <a:prstGeom prst="rect">
            <a:avLst/>
          </a:prstGeom>
          <a:solidFill>
            <a:srgbClr val="4F8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2615184"/>
            <a:ext cx="21031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1">
                <a:solidFill>
                  <a:srgbClr val="F4F8FF"/>
                </a:solidFill>
                <a:latin typeface="Aptos"/>
              </a:rPr>
              <a:t>Design partner
3-12 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3182112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B1C7"/>
                </a:solidFill>
                <a:latin typeface="Aptos"/>
              </a:rPr>
              <a:t>Measured artifact + integration learning.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2240280"/>
            <a:ext cx="2468880" cy="2331720"/>
          </a:xfrm>
          <a:prstGeom prst="roundRect">
            <a:avLst>
              <a:gd name="adj" fmla="val 8000"/>
            </a:avLst>
          </a:prstGeom>
          <a:solidFill>
            <a:srgbClr val="101A29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54312" y="2386584"/>
            <a:ext cx="1965960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4312" y="2615184"/>
            <a:ext cx="21031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1">
                <a:solidFill>
                  <a:srgbClr val="F4F8FF"/>
                </a:solidFill>
                <a:latin typeface="Aptos"/>
              </a:rPr>
              <a:t>Licensing diligence
12-24 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54312" y="3182112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FB1C7"/>
                </a:solidFill>
                <a:latin typeface="Aptos"/>
              </a:rPr>
              <a:t>Partner review only if proof holds.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83480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6F8097"/>
                </a:solidFill>
                <a:latin typeface="Aptos"/>
              </a:rPr>
              <a:t>Capital buys the evidence path: proof review, measured workload artifact, IP packet, ASIC feasibility.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5508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F8097"/>
                </a:solidFill>
                <a:latin typeface="Aptos"/>
              </a:rPr>
              <a:t>No acquisition, valuation, or return multiple is guaranteed or implied.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1D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50392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USE OF FUNDS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33856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4F8FF"/>
                </a:solidFill>
                <a:latin typeface="Aptos"/>
              </a:rPr>
              <a:t>$2.0M target pre-seed | 18 months to measured proof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40280"/>
            <a:ext cx="3337560" cy="932688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1832" y="2386584"/>
            <a:ext cx="566928" cy="38100"/>
          </a:xfrm>
          <a:prstGeom prst="rect">
            <a:avLst/>
          </a:prstGeom>
          <a:solidFill>
            <a:srgbClr val="4F8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569464"/>
            <a:ext cx="30083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944368"/>
            <a:ext cx="30083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40" b="0">
                <a:solidFill>
                  <a:srgbClr val="9FB1C7"/>
                </a:solidFill>
                <a:latin typeface="Aptos"/>
              </a:rPr>
              <a:t>$600K | Zynq hardening, measurement tooling, first technical capacity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26279" y="2240280"/>
            <a:ext cx="3337560" cy="932688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90871" y="2386584"/>
            <a:ext cx="566928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1" y="2569464"/>
            <a:ext cx="30083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Customer proof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1" y="2944368"/>
            <a:ext cx="30083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40" b="0">
                <a:solidFill>
                  <a:srgbClr val="9FB1C7"/>
                </a:solidFill>
                <a:latin typeface="Aptos"/>
              </a:rPr>
              <a:t>$400K | workload baselines, evaluation SOWs, measured artifacts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19" y="2240280"/>
            <a:ext cx="3337560" cy="932688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39911" y="2386584"/>
            <a:ext cx="566928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1" y="2569464"/>
            <a:ext cx="30083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IP / legal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1" y="2944368"/>
            <a:ext cx="30083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40" b="0">
                <a:solidFill>
                  <a:srgbClr val="9FB1C7"/>
                </a:solidFill>
                <a:latin typeface="Aptos"/>
              </a:rPr>
              <a:t>$300K | patent conversion, prior-art review, diligence packet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502152"/>
            <a:ext cx="3337560" cy="932688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1832" y="3648456"/>
            <a:ext cx="566928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3831336"/>
            <a:ext cx="30083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ASIC feasibility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" y="4206240"/>
            <a:ext cx="30083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40" b="0">
                <a:solidFill>
                  <a:srgbClr val="9FB1C7"/>
                </a:solidFill>
                <a:latin typeface="Aptos"/>
              </a:rPr>
              <a:t>$300K | mentor review, feasibility study, quoted path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26279" y="3502152"/>
            <a:ext cx="3337560" cy="932688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90871" y="3648456"/>
            <a:ext cx="566928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90871" y="3831336"/>
            <a:ext cx="30083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Finance / GTM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4206240"/>
            <a:ext cx="30083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40" b="0">
                <a:solidFill>
                  <a:srgbClr val="9FB1C7"/>
                </a:solidFill>
                <a:latin typeface="Aptos"/>
              </a:rPr>
              <a:t>$250K | CFO, investor reporting, design-partner outreach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75319" y="3502152"/>
            <a:ext cx="3337560" cy="932688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39911" y="3648456"/>
            <a:ext cx="566928" cy="38100"/>
          </a:xfrm>
          <a:prstGeom prst="rect">
            <a:avLst/>
          </a:prstGeom>
          <a:solidFill>
            <a:srgbClr val="6F80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9911" y="3831336"/>
            <a:ext cx="30083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Reserve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9911" y="4206240"/>
            <a:ext cx="30083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40" b="0">
                <a:solidFill>
                  <a:srgbClr val="9FB1C7"/>
                </a:solidFill>
                <a:latin typeface="Aptos"/>
              </a:rPr>
              <a:t>$150K | runway buffer and unforeseen proof costs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074920"/>
            <a:ext cx="104698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6F8097"/>
                </a:solidFill>
                <a:latin typeface="Aptos"/>
              </a:rPr>
              <a:t>Minimum close $1.25M. Stretch plan $2.75M. Final SAFE terms require CFO/counsel approval. No tape-out funding.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1D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50392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RISKS AND GATES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33856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4F8FF"/>
                </a:solidFill>
                <a:latin typeface="Aptos"/>
              </a:rPr>
              <a:t>Trust comes from saying exactly what is still unproven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240280"/>
            <a:ext cx="4892040" cy="987552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87552" y="2386584"/>
            <a:ext cx="566928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569464"/>
            <a:ext cx="4562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Battery / power / thermal outcomes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944368"/>
            <a:ext cx="456285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FB1C7"/>
                </a:solidFill>
                <a:latin typeface="Aptos"/>
              </a:rPr>
              <a:t>Evaluation targets until measured end to end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240280"/>
            <a:ext cx="4892040" cy="987552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82512" y="2386584"/>
            <a:ext cx="566928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2569464"/>
            <a:ext cx="4562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Customer 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944368"/>
            <a:ext cx="456285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FB1C7"/>
                </a:solidFill>
                <a:latin typeface="Aptos"/>
              </a:rPr>
              <a:t>Pending; paid evaluations and design partners are the wedge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538728"/>
            <a:ext cx="4892040" cy="987552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87552" y="3685032"/>
            <a:ext cx="566928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867912"/>
            <a:ext cx="4562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ASIC economics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4242816"/>
            <a:ext cx="456285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FB1C7"/>
                </a:solidFill>
                <a:latin typeface="Aptos"/>
              </a:rPr>
              <a:t>Fund feasibility review before tape-out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538728"/>
            <a:ext cx="4892040" cy="987552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82512" y="3685032"/>
            <a:ext cx="566928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2512" y="3867912"/>
            <a:ext cx="4562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Incumbent response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2512" y="4242816"/>
            <a:ext cx="456285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FB1C7"/>
                </a:solidFill>
                <a:latin typeface="Aptos"/>
              </a:rPr>
              <a:t>Protect IP, build proof, pursue strategic conversations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193792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4F8FF"/>
                </a:solidFill>
                <a:latin typeface="Aptos"/>
              </a:rPr>
              <a:t>The pitch is ambitious, but every public claim has a proof boundary.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03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Aptos"/>
              </a:rPr>
              <a:t>ATOMiK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64208" y="219456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Investor deck | May 2026 | matthew.h.rockwell@gmail.com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219456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F8097"/>
                </a:solidFill>
                <a:latin typeface="Aptos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548640"/>
            <a:ext cx="11423599" cy="38100"/>
          </a:xfrm>
          <a:prstGeom prst="rect">
            <a:avLst/>
          </a:prstGeom>
          <a:solidFill>
            <a:srgbClr val="1D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50392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D3EE"/>
                </a:solidFill>
                <a:latin typeface="Aptos"/>
              </a:rPr>
              <a:t>THE 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33856"/>
            <a:ext cx="9875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4F8FF"/>
                </a:solidFill>
                <a:latin typeface="Aptos"/>
              </a:rPr>
              <a:t>$2.0M target to reach measured workload proof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0408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22C55E"/>
                </a:solidFill>
                <a:latin typeface="Aptos"/>
              </a:rPr>
              <a:t>- </a:t>
            </a:r>
            <a:r>
              <a:rPr sz="1600">
                <a:solidFill>
                  <a:srgbClr val="9FB1C7"/>
                </a:solidFill>
                <a:latin typeface="Aptos"/>
              </a:rPr>
              <a:t>$2.0M target  ·  $1.25M minimum  ·  $2.75M stretch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22C55E"/>
                </a:solidFill>
                <a:latin typeface="Aptos"/>
              </a:rPr>
              <a:t>- </a:t>
            </a:r>
            <a:r>
              <a:rPr sz="1600">
                <a:solidFill>
                  <a:srgbClr val="9FB1C7"/>
                </a:solidFill>
                <a:latin typeface="Aptos"/>
              </a:rPr>
              <a:t>Planned SAFE; final terms counsel/CFO pending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22C55E"/>
                </a:solidFill>
                <a:latin typeface="Aptos"/>
              </a:rPr>
              <a:t>- </a:t>
            </a:r>
            <a:r>
              <a:rPr sz="1600">
                <a:solidFill>
                  <a:srgbClr val="9FB1C7"/>
                </a:solidFill>
                <a:latin typeface="Aptos"/>
              </a:rPr>
              <a:t>18 months to workload proof, IP packet, ASIC feasibility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22C55E"/>
                </a:solidFill>
                <a:latin typeface="Aptos"/>
              </a:rPr>
              <a:t>- </a:t>
            </a:r>
            <a:r>
              <a:rPr sz="1600">
                <a:solidFill>
                  <a:srgbClr val="9FB1C7"/>
                </a:solidFill>
                <a:latin typeface="Aptos"/>
              </a:rPr>
              <a:t>Need: capital, workload access, design-partner intros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920240"/>
            <a:ext cx="3246120" cy="2560320"/>
          </a:xfrm>
          <a:prstGeom prst="roundRect">
            <a:avLst>
              <a:gd name="adj" fmla="val 8000"/>
            </a:avLst>
          </a:prstGeom>
          <a:solidFill>
            <a:srgbClr val="101A29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176272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2D3EE"/>
                </a:solidFill>
                <a:latin typeface="Aptos"/>
              </a:rPr>
              <a:t>Why invest now?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2578608"/>
            <a:ext cx="29260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F4F8FF"/>
                </a:solidFill>
                <a:latin typeface="Aptos"/>
              </a:rPr>
              <a:t>Next risk: prove customer workload value before tape-out.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315968"/>
            <a:ext cx="3429000" cy="86868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87552" y="4462272"/>
            <a:ext cx="566928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645152"/>
            <a:ext cx="30998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Money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5020056"/>
            <a:ext cx="3099816" cy="4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FB1C7"/>
                </a:solidFill>
                <a:latin typeface="Aptos"/>
              </a:rPr>
              <a:t>$2.0M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4315968"/>
            <a:ext cx="3429000" cy="86868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99432" y="4462272"/>
            <a:ext cx="566928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9432" y="4645152"/>
            <a:ext cx="30998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18-month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9432" y="5020056"/>
            <a:ext cx="3099816" cy="4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proof + IP + ASIC feasibility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4315968"/>
            <a:ext cx="3200400" cy="868680"/>
          </a:xfrm>
          <a:prstGeom prst="roundRect">
            <a:avLst>
              <a:gd name="adj" fmla="val 8000"/>
            </a:avLst>
          </a:prstGeom>
          <a:solidFill>
            <a:srgbClr val="0D1420"/>
          </a:solidFill>
          <a:ln w="9525">
            <a:solidFill>
              <a:srgbClr val="1D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11312" y="4462272"/>
            <a:ext cx="566928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11312" y="4645152"/>
            <a:ext cx="2871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F8FF"/>
                </a:solidFill>
                <a:latin typeface="Aptos"/>
              </a:rPr>
              <a:t>Strategic upside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5020056"/>
            <a:ext cx="2871216" cy="4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1C7"/>
                </a:solidFill>
                <a:latin typeface="Aptos"/>
              </a:rPr>
              <a:t>options if proof holds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376672"/>
            <a:ext cx="10287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F8097"/>
                </a:solidFill>
                <a:latin typeface="Aptos"/>
              </a:rPr>
              <a:t>matthew.h.rockwell@gmail.com  ·  First round still open  ·  Aggie Angel Network pitch  ·  May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