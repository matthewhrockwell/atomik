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PRE-SEED · $5M TARGET · PLANNED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Make change the unit of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9875520" cy="3840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5B4C5"/>
                </a:solidFill>
                <a:latin typeface="Aptos"/>
              </a:rPr>
              <a:t>For edge and embedded teams whose battery, heat, bandwidth, latency, or footprint is constrained by repeated state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21122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1568"/>
            <a:ext cx="21122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0752"/>
            <a:ext cx="211226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Start with one constrained state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5603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788920"/>
            <a:ext cx="21122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401568"/>
            <a:ext cx="21122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730752"/>
            <a:ext cx="211226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Measure against the current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788920"/>
            <a:ext cx="21122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401568"/>
            <a:ext cx="21122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constraint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730752"/>
            <a:ext cx="211226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Battery, heat, latency, bandwidth, footprint, or hardware limit.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56032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2788920"/>
            <a:ext cx="18379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ptos"/>
              </a:rPr>
              <a:t>$5M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3401568"/>
            <a:ext cx="18379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3730752"/>
            <a:ext cx="1837944" cy="-274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18-24 month proof round. No tape-out funding.</a:t>
            </a:r>
          </a:p>
        </p:txBody>
      </p:sp>
      <p:pic>
        <p:nvPicPr>
          <p:cNvPr id="25" name="Picture 24" descr="09-current-live-atomik-desk-v039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420" y="4315968"/>
            <a:ext cx="2438400" cy="1371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246120" y="5705856"/>
            <a:ext cx="5715000" cy="2194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74869C"/>
                </a:solidFill>
                <a:latin typeface="Aptos"/>
              </a:rPr>
              <a:t>Current Zynq UI proof image - caption-bound, not a customer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Public proof image is a hardware-validated UI artifact, not customer workload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Customers already know the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617720" cy="2651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Batteries die too quickly.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Hardware is maxed out.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Systems run hot.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Devices are too big or too heavy.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Costs keep increasing.</a:t>
            </a:r>
          </a:p>
          <a:p>
            <a:pPr>
              <a:spcAft>
                <a:spcPts val="500"/>
              </a:spcAft>
            </a:pPr>
            <a:r>
              <a:rPr sz="1320">
                <a:solidFill>
                  <a:srgbClr val="F59E0B"/>
                </a:solidFill>
                <a:latin typeface="Aptos"/>
              </a:rPr>
              <a:t>- </a:t>
            </a:r>
            <a:r>
              <a:rPr sz="1320">
                <a:solidFill>
                  <a:srgbClr val="F5F8FF"/>
                </a:solidFill>
                <a:latin typeface="Aptos"/>
              </a:rPr>
              <a:t>More performance is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82880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4617720" cy="3840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Before they spend more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697480"/>
            <a:ext cx="4389120" cy="8686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300"/>
              </a:spcAft>
            </a:pPr>
            <a:r>
              <a:rPr sz="1120">
                <a:solidFill>
                  <a:srgbClr val="22D3EE"/>
                </a:solidFill>
                <a:latin typeface="Aptos"/>
              </a:rPr>
              <a:t>- </a:t>
            </a:r>
            <a:r>
              <a:rPr sz="1120">
                <a:solidFill>
                  <a:srgbClr val="A5B4C5"/>
                </a:solidFill>
                <a:latin typeface="Aptos"/>
              </a:rPr>
              <a:t>bigger hardware</a:t>
            </a:r>
          </a:p>
          <a:p>
            <a:pPr>
              <a:spcAft>
                <a:spcPts val="300"/>
              </a:spcAft>
            </a:pPr>
            <a:r>
              <a:rPr sz="1120">
                <a:solidFill>
                  <a:srgbClr val="22D3EE"/>
                </a:solidFill>
                <a:latin typeface="Aptos"/>
              </a:rPr>
              <a:t>- </a:t>
            </a:r>
            <a:r>
              <a:rPr sz="1120">
                <a:solidFill>
                  <a:srgbClr val="A5B4C5"/>
                </a:solidFill>
                <a:latin typeface="Aptos"/>
              </a:rPr>
              <a:t>larger batteries or cooling</a:t>
            </a:r>
          </a:p>
          <a:p>
            <a:pPr>
              <a:spcAft>
                <a:spcPts val="300"/>
              </a:spcAft>
            </a:pPr>
            <a:r>
              <a:rPr sz="1120">
                <a:solidFill>
                  <a:srgbClr val="22D3EE"/>
                </a:solidFill>
                <a:latin typeface="Aptos"/>
              </a:rPr>
              <a:t>- </a:t>
            </a:r>
            <a:r>
              <a:rPr sz="1120">
                <a:solidFill>
                  <a:srgbClr val="A5B4C5"/>
                </a:solidFill>
                <a:latin typeface="Aptos"/>
              </a:rPr>
              <a:t>more bandwidth or a redesign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206240"/>
            <a:ext cx="4617720" cy="42062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F"/>
                </a:solidFill>
                <a:latin typeface="Aptos"/>
              </a:rPr>
              <a:t>ATOMiK checks whether a constrained state path can get more out of the system they already have.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Customer-language pain framing. Outcomes remain workload-specific until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END-GAME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Customers do not buy delta-state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avoided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less state movement against the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reduced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faster local state paths where fit exists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coalesced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less repeated work in change-heavy paths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148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377440"/>
            <a:ext cx="206654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ptos"/>
              </a:rPr>
              <a:t>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990088"/>
            <a:ext cx="206654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proxied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3319272"/>
            <a:ext cx="2066544" cy="4754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follow-on measurement when instrumentation 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Customer ROI is measured after the workload shows reduced state movement while preserving correctness.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Battery, heat, cooling, water, footprint, and power-bill outcomes remain evaluation targets until measured end to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5F8FF"/>
                </a:solidFill>
                <a:latin typeface="Aptos"/>
              </a:rPr>
              <a:t>Large pressure pool, focused wedge, strategic optionality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30266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$1T+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52928"/>
            <a:ext cx="30266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TAM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82112"/>
            <a:ext cx="3026664" cy="7040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2026 semiconductor revenue context. Backdrop only; ATOMiK does not address all semiconductor spend.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240280"/>
            <a:ext cx="30266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$112B-$169B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852928"/>
            <a:ext cx="30266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SAM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182112"/>
            <a:ext cx="3026664" cy="7040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Embedded systems market range from 2024 estimate to 2030 forecast; edge AI adds adjacent pressure.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0116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240280"/>
            <a:ext cx="302666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$10M-$40M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852928"/>
            <a:ext cx="302666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entry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82112"/>
            <a:ext cx="3026664" cy="7040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early annual revenue path from evaluations, design partners, and licensing; not a ceiling.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10561320" cy="6583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Venture logic: proof-backed IP can support licensing and strategic optionality if workload evidence and partner diligence 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Sources: SIA/WSTS, Gartner, Grand View Research, MarketsandMarkets. Semiconductor IP: $8.14B 2025 to $11.2B 2029. Planning targets are not forecasts.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FOCUS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Growth pressure meets constrained state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2377440"/>
            <a:ext cx="46542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Edge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59" y="2551176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A78BFA"/>
                </a:solidFill>
                <a:latin typeface="Aptos"/>
              </a:rPr>
              <a:t>$24.9B 2025 -&gt; $118.7B 2033
21.7%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953512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NVIDIA Jetson ecosystem, Qualcomm, Ambarella, Hailo, Advantech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240280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3951" y="2377440"/>
            <a:ext cx="46542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2569464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Robotics / industrial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8" y="2551176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22D3EE"/>
                </a:solidFill>
                <a:latin typeface="Aptos"/>
              </a:rPr>
              <a:t>$33.8B 2024 -&gt; $131.5B 2030
26.5%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953512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Rockwell Automation, Siemens, ABB, FANUC, Universal Robots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85032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" y="3822192"/>
            <a:ext cx="465429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014216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Drones / remote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59" y="3995928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F59E0B"/>
                </a:solidFill>
                <a:latin typeface="Aptos"/>
              </a:rPr>
              <a:t>$30.0B 2024 -&gt; $54.6B 2030
10.6% 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398264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Skydio, AeroVironment, Anduril, Shield AI, Teledyne FLIR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685032"/>
            <a:ext cx="4983480" cy="107899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73951" y="3822192"/>
            <a:ext cx="46542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4014216"/>
            <a:ext cx="1627632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>
                <a:solidFill>
                  <a:srgbClr val="F5F8FF"/>
                </a:solidFill>
                <a:latin typeface="Aptos"/>
              </a:rPr>
              <a:t>Smallsat / remote sensing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8" y="3995928"/>
            <a:ext cx="1508760" cy="40233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22C55E"/>
                </a:solidFill>
                <a:latin typeface="Aptos"/>
              </a:rPr>
              <a:t>$4.0B 2024 -&gt; $14.0B 2030
22.8% CAGR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4398264"/>
            <a:ext cx="45720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A5B4C5"/>
                </a:solidFill>
                <a:latin typeface="Aptos"/>
              </a:rPr>
              <a:t>Target examples: Planet, Spire, BlackSky, Maxar, Rocket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Sources: Grand View Research segment reports. Target examples are account hypotheses only; no relationship or endorsement implied.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Alternatives are real; proof-bound IP is the wedge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246120" cy="166420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2377440"/>
            <a:ext cx="291693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60320"/>
            <a:ext cx="29169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F5F8FF"/>
                </a:solidFill>
                <a:latin typeface="Aptos"/>
              </a:rPr>
              <a:t>More silicon / accelerators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53512"/>
            <a:ext cx="2916936" cy="8412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5B4C5"/>
                </a:solidFill>
                <a:latin typeface="Aptos"/>
              </a:rPr>
              <a:t>NVIDIA Jetson, Qualcomm, Ambarella, Hailo, Google Coral; FPGA upgrades from AMD/Xilinx, Intel/Altera, Lattice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240280"/>
            <a:ext cx="3246120" cy="166420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72584" y="2377440"/>
            <a:ext cx="291693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560320"/>
            <a:ext cx="29169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F5F8FF"/>
                </a:solidFill>
                <a:latin typeface="Aptos"/>
              </a:rPr>
              <a:t>Processor and IP incumbents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953512"/>
            <a:ext cx="2916936" cy="8412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5B4C5"/>
                </a:solidFill>
                <a:latin typeface="Aptos"/>
              </a:rPr>
              <a:t>Arm, Synopsys ARC, Cadence Tensilica, CEVA, Andes/RISC-V ecosystem, Imagination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2240280"/>
            <a:ext cx="3246120" cy="166420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03336" y="2377440"/>
            <a:ext cx="291693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560320"/>
            <a:ext cx="29169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F5F8FF"/>
                </a:solidFill>
                <a:latin typeface="Aptos"/>
              </a:rPr>
              <a:t>Software/status quo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53512"/>
            <a:ext cx="2916936" cy="8412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A5B4C5"/>
                </a:solidFill>
                <a:latin typeface="Aptos"/>
              </a:rPr>
              <a:t>compression, caching, dedup, delta sync, CRDT/event sourcing, hand optimization, bigger batteries, more cooling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07408"/>
            <a:ext cx="10469880" cy="786384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590288"/>
            <a:ext cx="2743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22D3EE"/>
                </a:solidFill>
                <a:latin typeface="Aptos"/>
              </a:rPr>
              <a:t>Defensibility wedge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53712"/>
            <a:ext cx="7315200" cy="31089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F5F8FF"/>
                </a:solidFill>
                <a:latin typeface="Aptos"/>
              </a:rPr>
              <a:t>Lean4-checked formal algebra + FPGA hardware validation + IP/proof registry. Exact formal claims stay tied to audited properties.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Competitor names are buyer alternatives/status quo references, not partnership, customer, or displacement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PRIMITIVE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Make change the unit of compute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965960"/>
            <a:ext cx="10058400" cy="804672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12848"/>
            <a:ext cx="96012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Aptos"/>
              </a:rPr>
              <a:t>state = reference_state XOR accumulated_delta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272" y="3794760"/>
            <a:ext cx="200253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set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22192" y="3794760"/>
            <a:ext cx="200253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ACCUM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add deltas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11112" y="3794760"/>
            <a:ext cx="200253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reconstruct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39" y="365760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00031" y="3794760"/>
            <a:ext cx="200253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1" y="3977640"/>
            <a:ext cx="20025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SWAP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1" y="4370832"/>
            <a:ext cx="2002536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5B4C5"/>
                </a:solidFill>
                <a:latin typeface="Aptos"/>
              </a:rPr>
              <a:t>commit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Plain English: track meaningful change and reconstruct only when the system needs full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ATOMiK has a wedge, not a universal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212080" cy="3017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updates dominate reads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state changes are sparse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bandwidth or latency is expensive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power budget or hardware margin is tight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sync, replay, rollback, or context retention creates 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057400"/>
            <a:ext cx="4389120" cy="20574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331720"/>
            <a:ext cx="3840480" cy="2743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Aptos"/>
              </a:rPr>
              <a:t>Not the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788920"/>
            <a:ext cx="3749039" cy="9601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F59E0B"/>
                </a:solidFill>
                <a:latin typeface="Aptos"/>
              </a:rPr>
              <a:t>- </a:t>
            </a:r>
            <a:r>
              <a:rPr sz="1200">
                <a:solidFill>
                  <a:srgbClr val="A5B4C5"/>
                </a:solidFill>
                <a:latin typeface="Aptos"/>
              </a:rPr>
              <a:t>CPU/GPU/NPU replacement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59E0B"/>
                </a:solidFill>
                <a:latin typeface="Aptos"/>
              </a:rPr>
              <a:t>- </a:t>
            </a:r>
            <a:r>
              <a:rPr sz="1200">
                <a:solidFill>
                  <a:srgbClr val="A5B4C5"/>
                </a:solidFill>
                <a:latin typeface="Aptos"/>
              </a:rPr>
              <a:t>universal speedup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59E0B"/>
                </a:solidFill>
                <a:latin typeface="Aptos"/>
              </a:rPr>
              <a:t>- </a:t>
            </a:r>
            <a:r>
              <a:rPr sz="1200">
                <a:solidFill>
                  <a:srgbClr val="A5B4C5"/>
                </a:solidFill>
                <a:latin typeface="Aptos"/>
              </a:rPr>
              <a:t>thermal or battery result before measurement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Same waste, different customer budgets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2468880"/>
            <a:ext cx="451713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51760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Robotics / industrial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44952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heat, latency, reliability, control-state churn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2468880"/>
            <a:ext cx="451713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651760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AI at 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044952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context movement, memory pressure, local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93591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730751"/>
            <a:ext cx="451713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913631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Remote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306823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drones, satellites, field runtime, packet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93591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3730751"/>
            <a:ext cx="451713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13631"/>
            <a:ext cx="451713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Defense-adjacent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06823"/>
            <a:ext cx="4517136" cy="731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constrained hardware, power, rugged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ICP is defined by constraint and measurable state path, not by industry label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LIVE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Current Zynq UI artifact with caption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84831"/>
            <a:ext cx="6995160" cy="33832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current-live-atomik-desk-v039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80" y="2286000"/>
            <a:ext cx="5283200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09560" y="2148840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4152" y="2286000"/>
            <a:ext cx="300837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2468880"/>
            <a:ext cx="300837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What it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862072"/>
            <a:ext cx="3008376" cy="182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B4C5"/>
                </a:solidFill>
                <a:latin typeface="Aptos"/>
              </a:rPr>
              <a:t>current Zynq hardware UI/demo surface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191256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3328416"/>
            <a:ext cx="300837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3511296"/>
            <a:ext cx="300837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What to quote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3904488"/>
            <a:ext cx="3008376" cy="182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B4C5"/>
                </a:solidFill>
                <a:latin typeface="Aptos"/>
              </a:rPr>
              <a:t>caption-bound hardware-validated UI 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4233672"/>
            <a:ext cx="3337560" cy="841248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4370832"/>
            <a:ext cx="300837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4553712"/>
            <a:ext cx="300837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What not to quote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4946904"/>
            <a:ext cx="3008376" cy="182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B4C5"/>
                </a:solidFill>
                <a:latin typeface="Aptos"/>
              </a:rPr>
              <a:t>on-screen telemetry as customer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HARDWARE_VALIDATED UI ARTIFACT - not a customer workload benchmark or production-readiness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PROOF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Real, specific, evidence-bounded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47088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56816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Zynq Desk v0.39-K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56816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2C55E"/>
                </a:solidFill>
                <a:latin typeface="Aptos"/>
              </a:rPr>
              <a:t>HARDWARE_VALIDATED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56816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current UI proof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05456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15184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Linux userspace to FPGA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15184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2D3EE"/>
                </a:solidFill>
                <a:latin typeface="Aptos"/>
              </a:rPr>
              <a:t>HARDWARE_VALIDATED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15184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documented OS-to-bus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63824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73552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AX7020 board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273552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60A5FA"/>
                </a:solidFill>
                <a:latin typeface="Aptos"/>
              </a:rPr>
              <a:t>LIVE_MEASURED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73552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wins and losses with caveats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22191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931919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Formal algebra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931919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A78BFA"/>
                </a:solidFill>
                <a:latin typeface="Aptos"/>
              </a:rPr>
              <a:t>FORMAL_PROOF*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19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Lean4-checked algebra; exact audited properties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80560"/>
            <a:ext cx="10561320" cy="45720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590288"/>
            <a:ext cx="274320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5F8FF"/>
                </a:solidFill>
                <a:latin typeface="Aptos"/>
              </a:rPr>
              <a:t>Standalone 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590288"/>
            <a:ext cx="21945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59E0B"/>
                </a:solidFill>
                <a:latin typeface="Aptos"/>
              </a:rPr>
              <a:t>BUILD_ARTIFACT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90288"/>
            <a:ext cx="4709160" cy="14630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not promoted until run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*FORMAL_PROOF applies only to specifically audited formal properties; it does not imply workload or customer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COMMERCIAL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A customer can understand the first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2258568"/>
            <a:ext cx="21396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1. Show us the problem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the part causing battery, heat, hardware, latency, size, weight, or cost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76472" y="2258568"/>
            <a:ext cx="21396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2. We evaluate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measure whether ATOMiK can reduce state work against the current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11112" y="2258568"/>
            <a:ext cx="213969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3. We show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where the opportunity is, what was measured, and the potential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121408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45752" y="2258568"/>
            <a:ext cx="21396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441448"/>
            <a:ext cx="21396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F5F8FF"/>
                </a:solidFill>
                <a:latin typeface="Aptos"/>
              </a:rPr>
              <a:t>4. Or call no-fit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834640"/>
            <a:ext cx="2139696" cy="7315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B4C5"/>
                </a:solidFill>
                <a:latin typeface="Aptos"/>
              </a:rPr>
              <a:t>if ATOMiK does not help, say so and stop before wasting customer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10287000" cy="53035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5F8FF"/>
                </a:solidFill>
                <a:latin typeface="Aptos"/>
              </a:rPr>
              <a:t>Design-partner work and licensing diligence come only after measured proof supports the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FINANCIAL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$5M funds proof, partners, and licensing diligence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11680"/>
            <a:ext cx="9875520" cy="38404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5B4C5"/>
                </a:solidFill>
                <a:latin typeface="Aptos"/>
              </a:rPr>
              <a:t>Founder-prepared planning scenario, not a forecast.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ptos"/>
              </a:rPr>
              <a:t>$0-$150K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0-6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qualified proof reviews / technical evals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2C55E"/>
                </a:solidFill>
                <a:latin typeface="Aptos"/>
              </a:rPr>
              <a:t>$250K-$750K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6-12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paid evaluation or design-partner SOWs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0A5FA"/>
                </a:solidFill>
                <a:latin typeface="Aptos"/>
              </a:rPr>
              <a:t>$1M-$3M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12-24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potential contracted value if proof converts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4584" y="2487168"/>
            <a:ext cx="2542032" cy="160020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715768"/>
            <a:ext cx="2139696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78BFA"/>
                </a:solidFill>
                <a:latin typeface="Aptos"/>
              </a:rPr>
              <a:t>$3M-$8M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328416"/>
            <a:ext cx="2139696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24-36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3657600"/>
            <a:ext cx="2139696" cy="2468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annualized potential if proof and economics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53712"/>
            <a:ext cx="1051560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5F8FF"/>
                </a:solidFill>
                <a:latin typeface="Aptos"/>
              </a:rPr>
              <a:t>Use of funds: $1.5M engineering | $1.0M customer proof | $750K IP/legal | $750K ASIC feasibility | $1.0M finance/GTM/ops + reserve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Do not present ranges as booked revenue, committed pipeline, forecast, or guaranteed ROI. Material revenue requires signed SOWs or licensing terms.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RISKS AND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93268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5F8FF"/>
                </a:solidFill>
                <a:latin typeface="Aptos"/>
              </a:rPr>
              <a:t>Trust comes from saying what is still unproven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2286000"/>
            <a:ext cx="456285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688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Customer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620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pending; design partners are the wedge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3952" y="2286000"/>
            <a:ext cx="45628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688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Downstream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8620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battery/heat/water/ROI need end-to-end measurement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204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657600"/>
            <a:ext cx="456285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8404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ASIC 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2336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external feasibility review before tape-out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20440"/>
            <a:ext cx="4892040" cy="960120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3657600"/>
            <a:ext cx="456285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840480"/>
            <a:ext cx="456285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8FF"/>
                </a:solidFill>
                <a:latin typeface="Aptos"/>
              </a:rPr>
              <a:t>Incumbents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233672"/>
            <a:ext cx="4562856" cy="13716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5B4C5"/>
                </a:solidFill>
                <a:latin typeface="Aptos"/>
              </a:rPr>
              <a:t>differentiate by proof, IP, and workload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287000" cy="31089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The risks are exactly why this is a proof round, not a tape-out round.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Founder-led proof with commercial translation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084832"/>
            <a:ext cx="46177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52144" y="2395728"/>
            <a:ext cx="1444752" cy="144475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tthew-rockwell-head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32304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88920" y="2450592"/>
            <a:ext cx="2743200" cy="29260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Matthew H. Rockwell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52928"/>
            <a:ext cx="2743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Aptos"/>
              </a:rPr>
              <a:t>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182112"/>
            <a:ext cx="2743200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5B4C5"/>
                </a:solidFill>
                <a:latin typeface="Aptos"/>
              </a:rPr>
              <a:t>Architecture, live proof, product direction, financial model, ask, and technical Q&amp;A.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20240"/>
            <a:ext cx="4983480" cy="20116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084832"/>
            <a:ext cx="46177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84264" y="2395728"/>
            <a:ext cx="1444752" cy="144475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llison_rossi_head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432304"/>
            <a:ext cx="137160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50592"/>
            <a:ext cx="2743200" cy="29260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Allison Rossi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52928"/>
            <a:ext cx="2743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C55E"/>
                </a:solidFill>
                <a:latin typeface="Aptos"/>
              </a:rPr>
              <a:t>CMO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82112"/>
            <a:ext cx="2743200" cy="50292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5B4C5"/>
                </a:solidFill>
                <a:latin typeface="Aptos"/>
              </a:rPr>
              <a:t>Messaging, positioning, buyer-language, commercialization, and go-to-market support.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370832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1874519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D3EE"/>
                </a:solidFill>
                <a:latin typeface="Aptos"/>
              </a:rPr>
              <a:t>Advisor priorities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4526280"/>
            <a:ext cx="8092440" cy="29260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ASIC/EDA feasibility reviewer | formal-methods reviewer | semiconductor IP/licensing counsel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No advisors are represented as signed until documented. These are priority asks for the round and AAN network.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128016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ATOMiK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219456"/>
            <a:ext cx="621792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Investor deck | May 2026 | matthew.h.rockwell@gmail.com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219456"/>
            <a:ext cx="457200" cy="2286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4869C"/>
                </a:solidFill>
                <a:latin typeface="Aptos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48640"/>
            <a:ext cx="11423599" cy="38100"/>
          </a:xfrm>
          <a:prstGeom prst="rect">
            <a:avLst/>
          </a:prstGeom>
          <a:solidFill>
            <a:srgbClr val="2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5303520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Aptos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332720" cy="676656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5F8FF"/>
                </a:solidFill>
                <a:latin typeface="Aptos"/>
              </a:rPr>
              <a:t>$5M target to reach measured workload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6035040" cy="19202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$5M target pre-seed; final SAFE terms CFO/counsel pending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18-24 months to measured workload proof, IP packet, ASIC feasibility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2C55E"/>
                </a:solidFill>
                <a:latin typeface="Aptos"/>
              </a:rPr>
              <a:t>- </a:t>
            </a:r>
            <a:r>
              <a:rPr sz="1500">
                <a:solidFill>
                  <a:srgbClr val="A5B4C5"/>
                </a:solidFill>
                <a:latin typeface="Aptos"/>
              </a:rPr>
              <a:t>Need: capital, qualified workloads, design-partner introductions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74519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111B2A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2103119"/>
            <a:ext cx="2843784" cy="457200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Aptos"/>
              </a:rPr>
              <a:t>Priority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715767"/>
            <a:ext cx="2843784" cy="237744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5F8FF"/>
                </a:solidFill>
                <a:latin typeface="Aptos"/>
              </a:rPr>
              <a:t>not just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3044951"/>
            <a:ext cx="2843784" cy="6583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5B4C5"/>
                </a:solidFill>
                <a:latin typeface="Aptos"/>
              </a:rPr>
              <a:t>design-partner introductions plus investor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80560"/>
            <a:ext cx="3154680" cy="71323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272" y="4617720"/>
            <a:ext cx="282549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00600"/>
            <a:ext cx="28254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Money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193792"/>
            <a:ext cx="2825496" cy="-10972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$5M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480560"/>
            <a:ext cx="3154680" cy="71323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0872" y="4617720"/>
            <a:ext cx="2825496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4800600"/>
            <a:ext cx="28254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5193792"/>
            <a:ext cx="2825496" cy="-10972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proof + IP + feasibility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480560"/>
            <a:ext cx="3154680" cy="713232"/>
          </a:xfrm>
          <a:prstGeom prst="roundRect">
            <a:avLst>
              <a:gd name="adj" fmla="val 8000"/>
            </a:avLst>
          </a:prstGeom>
          <a:solidFill>
            <a:srgbClr val="0C1420"/>
          </a:solidFill>
          <a:ln w="9525">
            <a:solidFill>
              <a:srgbClr val="24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48471" y="4617720"/>
            <a:ext cx="2825496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4800600"/>
            <a:ext cx="2825496" cy="256032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8FF"/>
                </a:solidFill>
                <a:latin typeface="Aptos"/>
              </a:rPr>
              <a:t>Upside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5193792"/>
            <a:ext cx="2825496" cy="-10972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5B4C5"/>
                </a:solidFill>
                <a:latin typeface="Aptos"/>
              </a:rPr>
              <a:t>licensing path if proof holds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10881360" cy="201168"/>
          </a:xfrm>
          <a:prstGeom prst="rect">
            <a:avLst/>
          </a:prstGeom>
          <a:noFill/>
        </p:spPr>
        <p:txBody>
          <a:bodyPr wrap="square" lIns="12700" rIns="12700" tIns="127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74869C"/>
                </a:solidFill>
                <a:latin typeface="Aptos"/>
              </a:rPr>
              <a:t>Final SAFE mechanics CFO/counsel pending. No signed traction, revenue, or customer-savings claim without supporting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