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B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210312"/>
            <a:ext cx="1280160" cy="22860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22D3EE"/>
                </a:solidFill>
                <a:latin typeface="Aptos"/>
              </a:rPr>
              <a:t>ATOMiK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64208" y="219456"/>
            <a:ext cx="6217920" cy="22860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74869C"/>
                </a:solidFill>
                <a:latin typeface="Aptos"/>
              </a:rPr>
              <a:t>Investor deck | May 2026 | matthew.h.rockwell@gmail.com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68735" y="219456"/>
            <a:ext cx="457200" cy="22860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74869C"/>
                </a:solidFill>
                <a:latin typeface="Aptos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384048" y="548640"/>
            <a:ext cx="11423599" cy="38100"/>
          </a:xfrm>
          <a:prstGeom prst="rect">
            <a:avLst/>
          </a:prstGeom>
          <a:solidFill>
            <a:srgbClr val="2436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822960"/>
            <a:ext cx="5303520" cy="256032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22D3EE"/>
                </a:solidFill>
                <a:latin typeface="Aptos"/>
              </a:rPr>
              <a:t>PRE-SEED · $5M TARGET · PLANNED SAFE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097280"/>
            <a:ext cx="10332720" cy="676656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F5F8FF"/>
                </a:solidFill>
                <a:latin typeface="Aptos"/>
              </a:rPr>
              <a:t>Make change the unit of compute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1828800"/>
            <a:ext cx="9875520" cy="384048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A5B4C5"/>
                </a:solidFill>
                <a:latin typeface="Aptos"/>
              </a:rPr>
              <a:t>For edge and embedded teams whose battery, heat, bandwidth, latency, or footprint is constrained by repeated state work.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560320"/>
            <a:ext cx="2514600" cy="1325880"/>
          </a:xfrm>
          <a:prstGeom prst="roundRect">
            <a:avLst>
              <a:gd name="adj" fmla="val 8000"/>
            </a:avLst>
          </a:prstGeom>
          <a:solidFill>
            <a:srgbClr val="111B2A"/>
          </a:solidFill>
          <a:ln w="9525">
            <a:solidFill>
              <a:srgbClr val="2436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2788920"/>
            <a:ext cx="2112264" cy="45720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22D3EE"/>
                </a:solidFill>
                <a:latin typeface="Aptos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3401568"/>
            <a:ext cx="2112264" cy="237744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5F8FF"/>
                </a:solidFill>
                <a:latin typeface="Aptos"/>
              </a:rPr>
              <a:t>workload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3730752"/>
            <a:ext cx="2112264" cy="-27432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0">
                <a:solidFill>
                  <a:srgbClr val="A5B4C5"/>
                </a:solidFill>
                <a:latin typeface="Aptos"/>
              </a:rPr>
              <a:t>Start with one constrained state path.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66160" y="2560320"/>
            <a:ext cx="2514600" cy="1325880"/>
          </a:xfrm>
          <a:prstGeom prst="roundRect">
            <a:avLst>
              <a:gd name="adj" fmla="val 8000"/>
            </a:avLst>
          </a:prstGeom>
          <a:solidFill>
            <a:srgbClr val="111B2A"/>
          </a:solidFill>
          <a:ln w="9525">
            <a:solidFill>
              <a:srgbClr val="2436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67328" y="2788920"/>
            <a:ext cx="2112264" cy="45720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22C55E"/>
                </a:solidFill>
                <a:latin typeface="Aptos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67328" y="3401568"/>
            <a:ext cx="2112264" cy="237744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5F8FF"/>
                </a:solidFill>
                <a:latin typeface="Aptos"/>
              </a:rPr>
              <a:t>baseline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67328" y="3730752"/>
            <a:ext cx="2112264" cy="-27432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0">
                <a:solidFill>
                  <a:srgbClr val="A5B4C5"/>
                </a:solidFill>
                <a:latin typeface="Aptos"/>
              </a:rPr>
              <a:t>Measure against the current system.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0" y="2560320"/>
            <a:ext cx="2514600" cy="1325880"/>
          </a:xfrm>
          <a:prstGeom prst="roundRect">
            <a:avLst>
              <a:gd name="adj" fmla="val 8000"/>
            </a:avLst>
          </a:prstGeom>
          <a:solidFill>
            <a:srgbClr val="111B2A"/>
          </a:solidFill>
          <a:ln w="9525">
            <a:solidFill>
              <a:srgbClr val="2436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01968" y="2788920"/>
            <a:ext cx="2112264" cy="45720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A78BFA"/>
                </a:solidFill>
                <a:latin typeface="Aptos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01968" y="3401568"/>
            <a:ext cx="2112264" cy="237744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5F8FF"/>
                </a:solidFill>
                <a:latin typeface="Aptos"/>
              </a:rPr>
              <a:t>constraint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1968" y="3730752"/>
            <a:ext cx="2112264" cy="-27432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0">
                <a:solidFill>
                  <a:srgbClr val="A5B4C5"/>
                </a:solidFill>
                <a:latin typeface="Aptos"/>
              </a:rPr>
              <a:t>Battery, heat, latency, bandwidth, footprint, or hardware limit.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235440" y="2560320"/>
            <a:ext cx="2240280" cy="1325880"/>
          </a:xfrm>
          <a:prstGeom prst="roundRect">
            <a:avLst>
              <a:gd name="adj" fmla="val 8000"/>
            </a:avLst>
          </a:prstGeom>
          <a:solidFill>
            <a:srgbClr val="111B2A"/>
          </a:solidFill>
          <a:ln w="9525">
            <a:solidFill>
              <a:srgbClr val="2436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36608" y="2788920"/>
            <a:ext cx="1837944" cy="45720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F59E0B"/>
                </a:solidFill>
                <a:latin typeface="Aptos"/>
              </a:rPr>
              <a:t>$5M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36608" y="3401568"/>
            <a:ext cx="1837944" cy="237744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5F8FF"/>
                </a:solidFill>
                <a:latin typeface="Aptos"/>
              </a:rPr>
              <a:t>ask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36608" y="3730752"/>
            <a:ext cx="1837944" cy="-27432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0">
                <a:solidFill>
                  <a:srgbClr val="A5B4C5"/>
                </a:solidFill>
                <a:latin typeface="Aptos"/>
              </a:rPr>
              <a:t>18-24 month proof round. No tape-out funding.</a:t>
            </a:r>
          </a:p>
        </p:txBody>
      </p:sp>
      <p:pic>
        <p:nvPicPr>
          <p:cNvPr id="25" name="Picture 24" descr="09-current-live-atomik-desk-v039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4420" y="4315968"/>
            <a:ext cx="2438400" cy="13716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3246120" y="5705856"/>
            <a:ext cx="5715000" cy="219456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60" b="0">
                <a:solidFill>
                  <a:srgbClr val="74869C"/>
                </a:solidFill>
                <a:latin typeface="Aptos"/>
              </a:rPr>
              <a:t>Current Zynq UI proof image - caption-bound, not a customer benchmark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6419088"/>
            <a:ext cx="10881360" cy="201168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30" b="0">
                <a:solidFill>
                  <a:srgbClr val="74869C"/>
                </a:solidFill>
                <a:latin typeface="Aptos"/>
              </a:rPr>
              <a:t>Public proof image is a hardware-validated UI artifact, not customer workload proof.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B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210312"/>
            <a:ext cx="1280160" cy="22860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22D3EE"/>
                </a:solidFill>
                <a:latin typeface="Aptos"/>
              </a:rPr>
              <a:t>ATOMiK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64208" y="219456"/>
            <a:ext cx="6217920" cy="22860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74869C"/>
                </a:solidFill>
                <a:latin typeface="Aptos"/>
              </a:rPr>
              <a:t>Investor deck | May 2026 | matthew.h.rockwell@gmail.com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68735" y="219456"/>
            <a:ext cx="457200" cy="22860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74869C"/>
                </a:solidFill>
                <a:latin typeface="Aptos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384048" y="548640"/>
            <a:ext cx="11423599" cy="38100"/>
          </a:xfrm>
          <a:prstGeom prst="rect">
            <a:avLst/>
          </a:prstGeom>
          <a:solidFill>
            <a:srgbClr val="2436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822960"/>
            <a:ext cx="5303520" cy="256032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22D3EE"/>
                </a:solidFill>
                <a:latin typeface="Aptos"/>
              </a:rPr>
              <a:t>PROBLEM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097280"/>
            <a:ext cx="10332720" cy="676656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F5F8FF"/>
                </a:solidFill>
                <a:latin typeface="Aptos"/>
              </a:rPr>
              <a:t>Customers already know the pain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783080"/>
            <a:ext cx="4617720" cy="265176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>
              <a:spcAft>
                <a:spcPts val="500"/>
              </a:spcAft>
            </a:pPr>
            <a:r>
              <a:rPr sz="1320">
                <a:solidFill>
                  <a:srgbClr val="F59E0B"/>
                </a:solidFill>
                <a:latin typeface="Aptos"/>
              </a:rPr>
              <a:t>- </a:t>
            </a:r>
            <a:r>
              <a:rPr sz="1320">
                <a:solidFill>
                  <a:srgbClr val="F5F8FF"/>
                </a:solidFill>
                <a:latin typeface="Aptos"/>
              </a:rPr>
              <a:t>Batteries die too quickly.</a:t>
            </a:r>
          </a:p>
          <a:p>
            <a:pPr>
              <a:spcAft>
                <a:spcPts val="500"/>
              </a:spcAft>
            </a:pPr>
            <a:r>
              <a:rPr sz="1320">
                <a:solidFill>
                  <a:srgbClr val="F59E0B"/>
                </a:solidFill>
                <a:latin typeface="Aptos"/>
              </a:rPr>
              <a:t>- </a:t>
            </a:r>
            <a:r>
              <a:rPr sz="1320">
                <a:solidFill>
                  <a:srgbClr val="F5F8FF"/>
                </a:solidFill>
                <a:latin typeface="Aptos"/>
              </a:rPr>
              <a:t>Hardware is maxed out.</a:t>
            </a:r>
          </a:p>
          <a:p>
            <a:pPr>
              <a:spcAft>
                <a:spcPts val="500"/>
              </a:spcAft>
            </a:pPr>
            <a:r>
              <a:rPr sz="1320">
                <a:solidFill>
                  <a:srgbClr val="F59E0B"/>
                </a:solidFill>
                <a:latin typeface="Aptos"/>
              </a:rPr>
              <a:t>- </a:t>
            </a:r>
            <a:r>
              <a:rPr sz="1320">
                <a:solidFill>
                  <a:srgbClr val="F5F8FF"/>
                </a:solidFill>
                <a:latin typeface="Aptos"/>
              </a:rPr>
              <a:t>Systems run hot.</a:t>
            </a:r>
          </a:p>
          <a:p>
            <a:pPr>
              <a:spcAft>
                <a:spcPts val="500"/>
              </a:spcAft>
            </a:pPr>
            <a:r>
              <a:rPr sz="1320">
                <a:solidFill>
                  <a:srgbClr val="F59E0B"/>
                </a:solidFill>
                <a:latin typeface="Aptos"/>
              </a:rPr>
              <a:t>- </a:t>
            </a:r>
            <a:r>
              <a:rPr sz="1320">
                <a:solidFill>
                  <a:srgbClr val="F5F8FF"/>
                </a:solidFill>
                <a:latin typeface="Aptos"/>
              </a:rPr>
              <a:t>Devices are too big or too heavy.</a:t>
            </a:r>
          </a:p>
          <a:p>
            <a:pPr>
              <a:spcAft>
                <a:spcPts val="500"/>
              </a:spcAft>
            </a:pPr>
            <a:r>
              <a:rPr sz="1320">
                <a:solidFill>
                  <a:srgbClr val="F59E0B"/>
                </a:solidFill>
                <a:latin typeface="Aptos"/>
              </a:rPr>
              <a:t>- </a:t>
            </a:r>
            <a:r>
              <a:rPr sz="1320">
                <a:solidFill>
                  <a:srgbClr val="F5F8FF"/>
                </a:solidFill>
                <a:latin typeface="Aptos"/>
              </a:rPr>
              <a:t>Costs keep increasing.</a:t>
            </a:r>
          </a:p>
          <a:p>
            <a:pPr>
              <a:spcAft>
                <a:spcPts val="500"/>
              </a:spcAft>
            </a:pPr>
            <a:r>
              <a:rPr sz="1320">
                <a:solidFill>
                  <a:srgbClr val="F59E0B"/>
                </a:solidFill>
                <a:latin typeface="Aptos"/>
              </a:rPr>
              <a:t>- </a:t>
            </a:r>
            <a:r>
              <a:rPr sz="1320">
                <a:solidFill>
                  <a:srgbClr val="F5F8FF"/>
                </a:solidFill>
                <a:latin typeface="Aptos"/>
              </a:rPr>
              <a:t>More performance is needed.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97880" y="1828800"/>
            <a:ext cx="5257800" cy="2148840"/>
          </a:xfrm>
          <a:prstGeom prst="roundRect">
            <a:avLst>
              <a:gd name="adj" fmla="val 8000"/>
            </a:avLst>
          </a:prstGeom>
          <a:solidFill>
            <a:srgbClr val="111B2A"/>
          </a:solidFill>
          <a:ln w="9525">
            <a:solidFill>
              <a:srgbClr val="2436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0" y="2148840"/>
            <a:ext cx="4617720" cy="384048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5F8FF"/>
                </a:solidFill>
                <a:latin typeface="Aptos"/>
              </a:rPr>
              <a:t>Before they spend more money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2697480"/>
            <a:ext cx="4389120" cy="8686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>
              <a:spcAft>
                <a:spcPts val="300"/>
              </a:spcAft>
            </a:pPr>
            <a:r>
              <a:rPr sz="1120">
                <a:solidFill>
                  <a:srgbClr val="22D3EE"/>
                </a:solidFill>
                <a:latin typeface="Aptos"/>
              </a:rPr>
              <a:t>- </a:t>
            </a:r>
            <a:r>
              <a:rPr sz="1120">
                <a:solidFill>
                  <a:srgbClr val="A5B4C5"/>
                </a:solidFill>
                <a:latin typeface="Aptos"/>
              </a:rPr>
              <a:t>bigger hardware</a:t>
            </a:r>
          </a:p>
          <a:p>
            <a:pPr>
              <a:spcAft>
                <a:spcPts val="300"/>
              </a:spcAft>
            </a:pPr>
            <a:r>
              <a:rPr sz="1120">
                <a:solidFill>
                  <a:srgbClr val="22D3EE"/>
                </a:solidFill>
                <a:latin typeface="Aptos"/>
              </a:rPr>
              <a:t>- </a:t>
            </a:r>
            <a:r>
              <a:rPr sz="1120">
                <a:solidFill>
                  <a:srgbClr val="A5B4C5"/>
                </a:solidFill>
                <a:latin typeface="Aptos"/>
              </a:rPr>
              <a:t>larger batteries or cooling</a:t>
            </a:r>
          </a:p>
          <a:p>
            <a:pPr>
              <a:spcAft>
                <a:spcPts val="300"/>
              </a:spcAft>
            </a:pPr>
            <a:r>
              <a:rPr sz="1120">
                <a:solidFill>
                  <a:srgbClr val="22D3EE"/>
                </a:solidFill>
                <a:latin typeface="Aptos"/>
              </a:rPr>
              <a:t>- </a:t>
            </a:r>
            <a:r>
              <a:rPr sz="1120">
                <a:solidFill>
                  <a:srgbClr val="A5B4C5"/>
                </a:solidFill>
                <a:latin typeface="Aptos"/>
              </a:rPr>
              <a:t>more bandwidth or a redesign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72200" y="4206240"/>
            <a:ext cx="4617720" cy="420624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5F8FF"/>
                </a:solidFill>
                <a:latin typeface="Aptos"/>
              </a:rPr>
              <a:t>ATOMiK checks whether a constrained state path can get more out of the system they already have.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6419088"/>
            <a:ext cx="10881360" cy="201168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30" b="0">
                <a:solidFill>
                  <a:srgbClr val="74869C"/>
                </a:solidFill>
                <a:latin typeface="Aptos"/>
              </a:rPr>
              <a:t>Customer-language pain framing. Outcomes remain workload-specific until measured.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B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210312"/>
            <a:ext cx="1280160" cy="22860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22D3EE"/>
                </a:solidFill>
                <a:latin typeface="Aptos"/>
              </a:rPr>
              <a:t>ATOMiK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64208" y="219456"/>
            <a:ext cx="6217920" cy="22860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74869C"/>
                </a:solidFill>
                <a:latin typeface="Aptos"/>
              </a:rPr>
              <a:t>Investor deck | May 2026 | matthew.h.rockwell@gmail.com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68735" y="219456"/>
            <a:ext cx="457200" cy="22860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74869C"/>
                </a:solidFill>
                <a:latin typeface="Aptos"/>
              </a:rPr>
              <a:t>03</a:t>
            </a:r>
          </a:p>
        </p:txBody>
      </p:sp>
      <p:sp>
        <p:nvSpPr>
          <p:cNvPr id="5" name="Rectangle 4"/>
          <p:cNvSpPr/>
          <p:nvPr/>
        </p:nvSpPr>
        <p:spPr>
          <a:xfrm>
            <a:off x="384048" y="548640"/>
            <a:ext cx="11423599" cy="38100"/>
          </a:xfrm>
          <a:prstGeom prst="rect">
            <a:avLst/>
          </a:prstGeom>
          <a:solidFill>
            <a:srgbClr val="2436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822960"/>
            <a:ext cx="5303520" cy="256032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22D3EE"/>
                </a:solidFill>
                <a:latin typeface="Aptos"/>
              </a:rPr>
              <a:t>END-GAME VALUE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097280"/>
            <a:ext cx="10332720" cy="676656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F5F8FF"/>
                </a:solidFill>
                <a:latin typeface="Aptos"/>
              </a:rPr>
              <a:t>Customers do not buy delta-state algebra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148840"/>
            <a:ext cx="2468880" cy="1828800"/>
          </a:xfrm>
          <a:prstGeom prst="roundRect">
            <a:avLst>
              <a:gd name="adj" fmla="val 8000"/>
            </a:avLst>
          </a:prstGeom>
          <a:solidFill>
            <a:srgbClr val="111B2A"/>
          </a:solidFill>
          <a:ln w="9525">
            <a:solidFill>
              <a:srgbClr val="2436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377440"/>
            <a:ext cx="2066544" cy="45720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22C55E"/>
                </a:solidFill>
                <a:latin typeface="Aptos"/>
              </a:rPr>
              <a:t>Bytes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8408" y="2990088"/>
            <a:ext cx="2066544" cy="237744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5F8FF"/>
                </a:solidFill>
                <a:latin typeface="Aptos"/>
              </a:rPr>
              <a:t>avoided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3319272"/>
            <a:ext cx="2066544" cy="475488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0">
                <a:solidFill>
                  <a:srgbClr val="A5B4C5"/>
                </a:solidFill>
                <a:latin typeface="Aptos"/>
              </a:rPr>
              <a:t>less state movement against the baseline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11880" y="2148840"/>
            <a:ext cx="2468880" cy="1828800"/>
          </a:xfrm>
          <a:prstGeom prst="roundRect">
            <a:avLst>
              <a:gd name="adj" fmla="val 8000"/>
            </a:avLst>
          </a:prstGeom>
          <a:solidFill>
            <a:srgbClr val="111B2A"/>
          </a:solidFill>
          <a:ln w="9525">
            <a:solidFill>
              <a:srgbClr val="2436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13048" y="2377440"/>
            <a:ext cx="2066544" cy="45720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22D3EE"/>
                </a:solidFill>
                <a:latin typeface="Aptos"/>
              </a:rPr>
              <a:t>Latency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13048" y="2990088"/>
            <a:ext cx="2066544" cy="237744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5F8FF"/>
                </a:solidFill>
                <a:latin typeface="Aptos"/>
              </a:rPr>
              <a:t>reduced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13048" y="3319272"/>
            <a:ext cx="2066544" cy="475488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0">
                <a:solidFill>
                  <a:srgbClr val="A5B4C5"/>
                </a:solidFill>
                <a:latin typeface="Aptos"/>
              </a:rPr>
              <a:t>faster local state paths where fit exists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46520" y="2148840"/>
            <a:ext cx="2468880" cy="1828800"/>
          </a:xfrm>
          <a:prstGeom prst="roundRect">
            <a:avLst>
              <a:gd name="adj" fmla="val 8000"/>
            </a:avLst>
          </a:prstGeom>
          <a:solidFill>
            <a:srgbClr val="111B2A"/>
          </a:solidFill>
          <a:ln w="9525">
            <a:solidFill>
              <a:srgbClr val="2436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47688" y="2377440"/>
            <a:ext cx="2066544" cy="45720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A78BFA"/>
                </a:solidFill>
                <a:latin typeface="Aptos"/>
              </a:rPr>
              <a:t>Ops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47688" y="2990088"/>
            <a:ext cx="2066544" cy="237744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5F8FF"/>
                </a:solidFill>
                <a:latin typeface="Aptos"/>
              </a:rPr>
              <a:t>coalesced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47688" y="3319272"/>
            <a:ext cx="2066544" cy="475488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0">
                <a:solidFill>
                  <a:srgbClr val="A5B4C5"/>
                </a:solidFill>
                <a:latin typeface="Aptos"/>
              </a:rPr>
              <a:t>less repeated work in change-heavy paths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281160" y="2148840"/>
            <a:ext cx="2468880" cy="1828800"/>
          </a:xfrm>
          <a:prstGeom prst="roundRect">
            <a:avLst>
              <a:gd name="adj" fmla="val 8000"/>
            </a:avLst>
          </a:prstGeom>
          <a:solidFill>
            <a:srgbClr val="111B2A"/>
          </a:solidFill>
          <a:ln w="9525">
            <a:solidFill>
              <a:srgbClr val="2436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82328" y="2377440"/>
            <a:ext cx="2066544" cy="45720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F59E0B"/>
                </a:solidFill>
                <a:latin typeface="Aptos"/>
              </a:rPr>
              <a:t>Power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82328" y="2990088"/>
            <a:ext cx="2066544" cy="237744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5F8FF"/>
                </a:solidFill>
                <a:latin typeface="Aptos"/>
              </a:rPr>
              <a:t>proxied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82328" y="3319272"/>
            <a:ext cx="2066544" cy="475488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0">
                <a:solidFill>
                  <a:srgbClr val="A5B4C5"/>
                </a:solidFill>
                <a:latin typeface="Aptos"/>
              </a:rPr>
              <a:t>follow-on measurement when instrumentation exists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4709160"/>
            <a:ext cx="10332720" cy="45720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5F8FF"/>
                </a:solidFill>
                <a:latin typeface="Aptos"/>
              </a:rPr>
              <a:t>Customer ROI is measured after the workload shows reduced state movement while preserving correctness.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6419088"/>
            <a:ext cx="10881360" cy="201168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30" b="0">
                <a:solidFill>
                  <a:srgbClr val="74869C"/>
                </a:solidFill>
                <a:latin typeface="Aptos"/>
              </a:rPr>
              <a:t>Battery, heat, cooling, water, footprint, and power-bill outcomes remain evaluation targets until measured end to end.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B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210312"/>
            <a:ext cx="1280160" cy="22860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22D3EE"/>
                </a:solidFill>
                <a:latin typeface="Aptos"/>
              </a:rPr>
              <a:t>ATOMiK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64208" y="219456"/>
            <a:ext cx="6217920" cy="22860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74869C"/>
                </a:solidFill>
                <a:latin typeface="Aptos"/>
              </a:rPr>
              <a:t>Investor deck | May 2026 | matthew.h.rockwell@gmail.com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68735" y="219456"/>
            <a:ext cx="457200" cy="22860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74869C"/>
                </a:solidFill>
                <a:latin typeface="Aptos"/>
              </a:rPr>
              <a:t>04</a:t>
            </a:r>
          </a:p>
        </p:txBody>
      </p:sp>
      <p:sp>
        <p:nvSpPr>
          <p:cNvPr id="5" name="Rectangle 4"/>
          <p:cNvSpPr/>
          <p:nvPr/>
        </p:nvSpPr>
        <p:spPr>
          <a:xfrm>
            <a:off x="384048" y="548640"/>
            <a:ext cx="11423599" cy="38100"/>
          </a:xfrm>
          <a:prstGeom prst="rect">
            <a:avLst/>
          </a:prstGeom>
          <a:solidFill>
            <a:srgbClr val="2436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822960"/>
            <a:ext cx="5303520" cy="256032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22D3EE"/>
                </a:solidFill>
                <a:latin typeface="Aptos"/>
              </a:rPr>
              <a:t>MARKET OPPORTUNITY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097280"/>
            <a:ext cx="10332720" cy="932688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F5F8FF"/>
                </a:solidFill>
                <a:latin typeface="Aptos"/>
              </a:rPr>
              <a:t>Large pressure pool, focused wedge, strategic optionality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011680"/>
            <a:ext cx="3429000" cy="2057400"/>
          </a:xfrm>
          <a:prstGeom prst="roundRect">
            <a:avLst>
              <a:gd name="adj" fmla="val 8000"/>
            </a:avLst>
          </a:prstGeom>
          <a:solidFill>
            <a:srgbClr val="111B2A"/>
          </a:solidFill>
          <a:ln w="9525">
            <a:solidFill>
              <a:srgbClr val="2436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240280"/>
            <a:ext cx="3026664" cy="45720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22D3EE"/>
                </a:solidFill>
                <a:latin typeface="Aptos"/>
              </a:rPr>
              <a:t>$1T+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852928"/>
            <a:ext cx="3026664" cy="237744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5F8FF"/>
                </a:solidFill>
                <a:latin typeface="Aptos"/>
              </a:rPr>
              <a:t>TAM context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3182112"/>
            <a:ext cx="3026664" cy="704088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0">
                <a:solidFill>
                  <a:srgbClr val="A5B4C5"/>
                </a:solidFill>
                <a:latin typeface="Aptos"/>
              </a:rPr>
              <a:t>2026 semiconductor revenue context. Backdrop only; ATOMiK does not address all semiconductor spend.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07408" y="2011680"/>
            <a:ext cx="3429000" cy="2057400"/>
          </a:xfrm>
          <a:prstGeom prst="roundRect">
            <a:avLst>
              <a:gd name="adj" fmla="val 8000"/>
            </a:avLst>
          </a:prstGeom>
          <a:solidFill>
            <a:srgbClr val="111B2A"/>
          </a:solidFill>
          <a:ln w="9525">
            <a:solidFill>
              <a:srgbClr val="2436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08576" y="2240280"/>
            <a:ext cx="3026664" cy="45720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22C55E"/>
                </a:solidFill>
                <a:latin typeface="Aptos"/>
              </a:rPr>
              <a:t>$112B-$169B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08576" y="2852928"/>
            <a:ext cx="3026664" cy="237744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5F8FF"/>
                </a:solidFill>
                <a:latin typeface="Aptos"/>
              </a:rPr>
              <a:t>SAM context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08576" y="3182112"/>
            <a:ext cx="3026664" cy="704088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0">
                <a:solidFill>
                  <a:srgbClr val="A5B4C5"/>
                </a:solidFill>
                <a:latin typeface="Aptos"/>
              </a:rPr>
              <a:t>Embedded systems market range from 2024 estimate to 2030 forecast; edge AI adds adjacent pressure.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83296" y="2011680"/>
            <a:ext cx="3429000" cy="2057400"/>
          </a:xfrm>
          <a:prstGeom prst="roundRect">
            <a:avLst>
              <a:gd name="adj" fmla="val 8000"/>
            </a:avLst>
          </a:prstGeom>
          <a:solidFill>
            <a:srgbClr val="111B2A"/>
          </a:solidFill>
          <a:ln w="9525">
            <a:solidFill>
              <a:srgbClr val="2436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84464" y="2240280"/>
            <a:ext cx="3026664" cy="45720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A78BFA"/>
                </a:solidFill>
                <a:latin typeface="Aptos"/>
              </a:rPr>
              <a:t>$10M-$40M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84464" y="2852928"/>
            <a:ext cx="3026664" cy="237744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5F8FF"/>
                </a:solidFill>
                <a:latin typeface="Aptos"/>
              </a:rPr>
              <a:t>entry wedge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84464" y="3182112"/>
            <a:ext cx="3026664" cy="704088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0">
                <a:solidFill>
                  <a:srgbClr val="A5B4C5"/>
                </a:solidFill>
                <a:latin typeface="Aptos"/>
              </a:rPr>
              <a:t>early annual revenue path from evaluations, design partners, and licensing; not a ceiling.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4480560"/>
            <a:ext cx="10561320" cy="658368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5F8FF"/>
                </a:solidFill>
                <a:latin typeface="Aptos"/>
              </a:rPr>
              <a:t>Venture logic: proof-backed IP can support licensing and strategic optionality if workload evidence and partner diligence hold.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6419088"/>
            <a:ext cx="10881360" cy="201168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30" b="0">
                <a:solidFill>
                  <a:srgbClr val="74869C"/>
                </a:solidFill>
                <a:latin typeface="Aptos"/>
              </a:rPr>
              <a:t>Sources: SIA/WSTS, Gartner, Grand View Research, MarketsandMarkets. Semiconductor IP: $8.14B 2025 to $11.2B 2029. Planning targets are not forecasts.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B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210312"/>
            <a:ext cx="1280160" cy="22860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22D3EE"/>
                </a:solidFill>
                <a:latin typeface="Aptos"/>
              </a:rPr>
              <a:t>ATOMiK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64208" y="219456"/>
            <a:ext cx="6217920" cy="22860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74869C"/>
                </a:solidFill>
                <a:latin typeface="Aptos"/>
              </a:rPr>
              <a:t>Investor deck | May 2026 | matthew.h.rockwell@gmail.com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68735" y="219456"/>
            <a:ext cx="457200" cy="22860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74869C"/>
                </a:solidFill>
                <a:latin typeface="Aptos"/>
              </a:rPr>
              <a:t>05</a:t>
            </a:r>
          </a:p>
        </p:txBody>
      </p:sp>
      <p:sp>
        <p:nvSpPr>
          <p:cNvPr id="5" name="Rectangle 4"/>
          <p:cNvSpPr/>
          <p:nvPr/>
        </p:nvSpPr>
        <p:spPr>
          <a:xfrm>
            <a:off x="384048" y="548640"/>
            <a:ext cx="11423599" cy="38100"/>
          </a:xfrm>
          <a:prstGeom prst="rect">
            <a:avLst/>
          </a:prstGeom>
          <a:solidFill>
            <a:srgbClr val="2436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822960"/>
            <a:ext cx="5303520" cy="256032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22D3EE"/>
                </a:solidFill>
                <a:latin typeface="Aptos"/>
              </a:rPr>
              <a:t>FOCUS MARKETS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097280"/>
            <a:ext cx="10332720" cy="676656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F5F8FF"/>
                </a:solidFill>
                <a:latin typeface="Aptos"/>
              </a:rPr>
              <a:t>Growth pressure meets constrained state work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240280"/>
            <a:ext cx="4983480" cy="1078992"/>
          </a:xfrm>
          <a:prstGeom prst="roundRect">
            <a:avLst>
              <a:gd name="adj" fmla="val 8000"/>
            </a:avLst>
          </a:prstGeom>
          <a:solidFill>
            <a:srgbClr val="111B2A"/>
          </a:solidFill>
          <a:ln w="9525">
            <a:solidFill>
              <a:srgbClr val="2436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41832" y="2377440"/>
            <a:ext cx="4654296" cy="38100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8408" y="2569464"/>
            <a:ext cx="1627632" cy="237744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80" b="1">
                <a:solidFill>
                  <a:srgbClr val="F5F8FF"/>
                </a:solidFill>
                <a:latin typeface="Aptos"/>
              </a:rPr>
              <a:t>Edge 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1759" y="2551176"/>
            <a:ext cx="1508760" cy="402336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30" b="1">
                <a:solidFill>
                  <a:srgbClr val="A78BFA"/>
                </a:solidFill>
                <a:latin typeface="Aptos"/>
              </a:rPr>
              <a:t>$24.9B 2025 -&gt; $118.7B 2033
21.7% CAGR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" y="2953512"/>
            <a:ext cx="4572000" cy="256032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A5B4C5"/>
                </a:solidFill>
                <a:latin typeface="Aptos"/>
              </a:rPr>
              <a:t>Target examples: NVIDIA Jetson ecosystem, Qualcomm, Ambarella, Hailo, Advantech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59" y="2240280"/>
            <a:ext cx="4983480" cy="1078992"/>
          </a:xfrm>
          <a:prstGeom prst="roundRect">
            <a:avLst>
              <a:gd name="adj" fmla="val 8000"/>
            </a:avLst>
          </a:prstGeom>
          <a:solidFill>
            <a:srgbClr val="111B2A"/>
          </a:solidFill>
          <a:ln w="9525">
            <a:solidFill>
              <a:srgbClr val="2436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73951" y="2377440"/>
            <a:ext cx="4654296" cy="381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0527" y="2569464"/>
            <a:ext cx="1627632" cy="237744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80" b="1">
                <a:solidFill>
                  <a:srgbClr val="F5F8FF"/>
                </a:solidFill>
                <a:latin typeface="Aptos"/>
              </a:rPr>
              <a:t>Robotics / industrial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83878" y="2551176"/>
            <a:ext cx="1508760" cy="402336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30" b="1">
                <a:solidFill>
                  <a:srgbClr val="22D3EE"/>
                </a:solidFill>
                <a:latin typeface="Aptos"/>
              </a:rPr>
              <a:t>$33.8B 2024 -&gt; $131.5B 2030
26.5% CAGR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10527" y="2953512"/>
            <a:ext cx="4572000" cy="256032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A5B4C5"/>
                </a:solidFill>
                <a:latin typeface="Aptos"/>
              </a:rPr>
              <a:t>Target examples: Rockwell Automation, Siemens, ABB, FANUC, Universal Robots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3685032"/>
            <a:ext cx="4983480" cy="1078992"/>
          </a:xfrm>
          <a:prstGeom prst="roundRect">
            <a:avLst>
              <a:gd name="adj" fmla="val 8000"/>
            </a:avLst>
          </a:prstGeom>
          <a:solidFill>
            <a:srgbClr val="111B2A"/>
          </a:solidFill>
          <a:ln w="9525">
            <a:solidFill>
              <a:srgbClr val="2436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41832" y="3822192"/>
            <a:ext cx="4654296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8408" y="4014216"/>
            <a:ext cx="1627632" cy="237744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80" b="1">
                <a:solidFill>
                  <a:srgbClr val="F5F8FF"/>
                </a:solidFill>
                <a:latin typeface="Aptos"/>
              </a:rPr>
              <a:t>Drones / remote autonomy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51759" y="3995928"/>
            <a:ext cx="1508760" cy="402336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30" b="1">
                <a:solidFill>
                  <a:srgbClr val="F59E0B"/>
                </a:solidFill>
                <a:latin typeface="Aptos"/>
              </a:rPr>
              <a:t>$30.0B 2024 -&gt; $54.6B 2030
10.6% CAGR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" y="4398264"/>
            <a:ext cx="4572000" cy="256032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A5B4C5"/>
                </a:solidFill>
                <a:latin typeface="Aptos"/>
              </a:rPr>
              <a:t>Target examples: Skydio, AeroVironment, Anduril, Shield AI, Teledyne FLIR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09359" y="3685032"/>
            <a:ext cx="4983480" cy="1078992"/>
          </a:xfrm>
          <a:prstGeom prst="roundRect">
            <a:avLst>
              <a:gd name="adj" fmla="val 8000"/>
            </a:avLst>
          </a:prstGeom>
          <a:solidFill>
            <a:srgbClr val="111B2A"/>
          </a:solidFill>
          <a:ln w="9525">
            <a:solidFill>
              <a:srgbClr val="2436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73951" y="3822192"/>
            <a:ext cx="4654296" cy="3810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10527" y="4014216"/>
            <a:ext cx="1627632" cy="237744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80" b="1">
                <a:solidFill>
                  <a:srgbClr val="F5F8FF"/>
                </a:solidFill>
                <a:latin typeface="Aptos"/>
              </a:rPr>
              <a:t>Smallsat / remote sensing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83878" y="3995928"/>
            <a:ext cx="1508760" cy="402336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30" b="1">
                <a:solidFill>
                  <a:srgbClr val="22C55E"/>
                </a:solidFill>
                <a:latin typeface="Aptos"/>
              </a:rPr>
              <a:t>$4.0B 2024 -&gt; $14.0B 2030
22.8% CAGR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10527" y="4398264"/>
            <a:ext cx="4572000" cy="256032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A5B4C5"/>
                </a:solidFill>
                <a:latin typeface="Aptos"/>
              </a:rPr>
              <a:t>Target examples: Planet, Spire, BlackSky, Maxar, Rocket Lab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6419088"/>
            <a:ext cx="10881360" cy="201168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30" b="0">
                <a:solidFill>
                  <a:srgbClr val="74869C"/>
                </a:solidFill>
                <a:latin typeface="Aptos"/>
              </a:rPr>
              <a:t>Sources: Grand View Research segment reports. Target examples are account hypotheses only; no relationship or endorsement implied.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B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210312"/>
            <a:ext cx="1280160" cy="22860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22D3EE"/>
                </a:solidFill>
                <a:latin typeface="Aptos"/>
              </a:rPr>
              <a:t>ATOMiK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64208" y="219456"/>
            <a:ext cx="6217920" cy="22860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74869C"/>
                </a:solidFill>
                <a:latin typeface="Aptos"/>
              </a:rPr>
              <a:t>Investor deck | May 2026 | matthew.h.rockwell@gmail.com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68735" y="219456"/>
            <a:ext cx="457200" cy="22860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74869C"/>
                </a:solidFill>
                <a:latin typeface="Aptos"/>
              </a:rPr>
              <a:t>06</a:t>
            </a:r>
          </a:p>
        </p:txBody>
      </p:sp>
      <p:sp>
        <p:nvSpPr>
          <p:cNvPr id="5" name="Rectangle 4"/>
          <p:cNvSpPr/>
          <p:nvPr/>
        </p:nvSpPr>
        <p:spPr>
          <a:xfrm>
            <a:off x="384048" y="548640"/>
            <a:ext cx="11423599" cy="38100"/>
          </a:xfrm>
          <a:prstGeom prst="rect">
            <a:avLst/>
          </a:prstGeom>
          <a:solidFill>
            <a:srgbClr val="2436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822960"/>
            <a:ext cx="5303520" cy="256032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22D3EE"/>
                </a:solidFill>
                <a:latin typeface="Aptos"/>
              </a:rPr>
              <a:t>COMPETITIVE LANDSCAPE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097280"/>
            <a:ext cx="10332720" cy="932688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F5F8FF"/>
                </a:solidFill>
                <a:latin typeface="Aptos"/>
              </a:rPr>
              <a:t>Alternatives are real; proof-bound IP is the wedge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240280"/>
            <a:ext cx="3246120" cy="1664208"/>
          </a:xfrm>
          <a:prstGeom prst="roundRect">
            <a:avLst>
              <a:gd name="adj" fmla="val 8000"/>
            </a:avLst>
          </a:prstGeom>
          <a:solidFill>
            <a:srgbClr val="0C1420"/>
          </a:solidFill>
          <a:ln w="9525">
            <a:solidFill>
              <a:srgbClr val="2436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41832" y="2377440"/>
            <a:ext cx="2916936" cy="381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2560320"/>
            <a:ext cx="2916936" cy="256032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80" b="1">
                <a:solidFill>
                  <a:srgbClr val="F5F8FF"/>
                </a:solidFill>
                <a:latin typeface="Aptos"/>
              </a:rPr>
              <a:t>More silicon / accelerators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832" y="2953512"/>
            <a:ext cx="2916936" cy="841248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19" b="0">
                <a:solidFill>
                  <a:srgbClr val="A5B4C5"/>
                </a:solidFill>
                <a:latin typeface="Aptos"/>
              </a:rPr>
              <a:t>NVIDIA Jetson, Qualcomm, Ambarella, Hailo, Google Coral; FPGA upgrades from AMD/Xilinx, Intel/Altera, Lattice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07992" y="2240280"/>
            <a:ext cx="3246120" cy="1664208"/>
          </a:xfrm>
          <a:prstGeom prst="roundRect">
            <a:avLst>
              <a:gd name="adj" fmla="val 8000"/>
            </a:avLst>
          </a:prstGeom>
          <a:solidFill>
            <a:srgbClr val="0C1420"/>
          </a:solidFill>
          <a:ln w="9525">
            <a:solidFill>
              <a:srgbClr val="2436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672584" y="2377440"/>
            <a:ext cx="2916936" cy="3810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72584" y="2560320"/>
            <a:ext cx="2916936" cy="256032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80" b="1">
                <a:solidFill>
                  <a:srgbClr val="F5F8FF"/>
                </a:solidFill>
                <a:latin typeface="Aptos"/>
              </a:rPr>
              <a:t>Processor and IP incumbents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72584" y="2953512"/>
            <a:ext cx="2916936" cy="841248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19" b="0">
                <a:solidFill>
                  <a:srgbClr val="A5B4C5"/>
                </a:solidFill>
                <a:latin typeface="Aptos"/>
              </a:rPr>
              <a:t>Arm, Synopsys ARC, Cadence Tensilica, CEVA, Andes/RISC-V ecosystem, Imagination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38744" y="2240280"/>
            <a:ext cx="3246120" cy="1664208"/>
          </a:xfrm>
          <a:prstGeom prst="roundRect">
            <a:avLst>
              <a:gd name="adj" fmla="val 8000"/>
            </a:avLst>
          </a:prstGeom>
          <a:solidFill>
            <a:srgbClr val="0C1420"/>
          </a:solidFill>
          <a:ln w="9525">
            <a:solidFill>
              <a:srgbClr val="2436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403336" y="2377440"/>
            <a:ext cx="2916936" cy="38100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03336" y="2560320"/>
            <a:ext cx="2916936" cy="256032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80" b="1">
                <a:solidFill>
                  <a:srgbClr val="F5F8FF"/>
                </a:solidFill>
                <a:latin typeface="Aptos"/>
              </a:rPr>
              <a:t>Software/status quo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03336" y="2953512"/>
            <a:ext cx="2916936" cy="841248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19" b="0">
                <a:solidFill>
                  <a:srgbClr val="A5B4C5"/>
                </a:solidFill>
                <a:latin typeface="Aptos"/>
              </a:rPr>
              <a:t>compression, caching, dedup, delta sync, CRDT/event sourcing, hand optimization, bigger batteries, more cooling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68680" y="4407408"/>
            <a:ext cx="10469880" cy="786384"/>
          </a:xfrm>
          <a:prstGeom prst="roundRect">
            <a:avLst>
              <a:gd name="adj" fmla="val 8000"/>
            </a:avLst>
          </a:prstGeom>
          <a:solidFill>
            <a:srgbClr val="111B2A"/>
          </a:solidFill>
          <a:ln w="9525">
            <a:solidFill>
              <a:srgbClr val="2436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15568" y="4590288"/>
            <a:ext cx="2743200" cy="22860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1">
                <a:solidFill>
                  <a:srgbClr val="22D3EE"/>
                </a:solidFill>
                <a:latin typeface="Aptos"/>
              </a:rPr>
              <a:t>Defensibility wedge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4553712"/>
            <a:ext cx="7315200" cy="310896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40" b="1">
                <a:solidFill>
                  <a:srgbClr val="F5F8FF"/>
                </a:solidFill>
                <a:latin typeface="Aptos"/>
              </a:rPr>
              <a:t>Lean4-checked formal algebra + FPGA hardware validation + IP/proof registry. Exact formal claims stay tied to audited properties.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6419088"/>
            <a:ext cx="10881360" cy="201168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30" b="0">
                <a:solidFill>
                  <a:srgbClr val="74869C"/>
                </a:solidFill>
                <a:latin typeface="Aptos"/>
              </a:rPr>
              <a:t>Competitor names are buyer alternatives/status quo references, not partnership, customer, or displacement claims.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B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210312"/>
            <a:ext cx="1280160" cy="22860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22D3EE"/>
                </a:solidFill>
                <a:latin typeface="Aptos"/>
              </a:rPr>
              <a:t>ATOMiK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64208" y="219456"/>
            <a:ext cx="6217920" cy="22860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74869C"/>
                </a:solidFill>
                <a:latin typeface="Aptos"/>
              </a:rPr>
              <a:t>Investor deck | May 2026 | matthew.h.rockwell@gmail.com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68735" y="219456"/>
            <a:ext cx="457200" cy="22860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74869C"/>
                </a:solidFill>
                <a:latin typeface="Aptos"/>
              </a:rPr>
              <a:t>07</a:t>
            </a:r>
          </a:p>
        </p:txBody>
      </p:sp>
      <p:sp>
        <p:nvSpPr>
          <p:cNvPr id="5" name="Rectangle 4"/>
          <p:cNvSpPr/>
          <p:nvPr/>
        </p:nvSpPr>
        <p:spPr>
          <a:xfrm>
            <a:off x="384048" y="548640"/>
            <a:ext cx="11423599" cy="38100"/>
          </a:xfrm>
          <a:prstGeom prst="rect">
            <a:avLst/>
          </a:prstGeom>
          <a:solidFill>
            <a:srgbClr val="2436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822960"/>
            <a:ext cx="5303520" cy="256032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22D3EE"/>
                </a:solidFill>
                <a:latin typeface="Aptos"/>
              </a:rPr>
              <a:t>PRIMITIVE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097280"/>
            <a:ext cx="10332720" cy="676656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F5F8FF"/>
                </a:solidFill>
                <a:latin typeface="Aptos"/>
              </a:rPr>
              <a:t>Make change the unit of compute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1560" y="1965960"/>
            <a:ext cx="10058400" cy="804672"/>
          </a:xfrm>
          <a:prstGeom prst="roundRect">
            <a:avLst>
              <a:gd name="adj" fmla="val 8000"/>
            </a:avLst>
          </a:prstGeom>
          <a:solidFill>
            <a:srgbClr val="111B2A"/>
          </a:solidFill>
          <a:ln w="9525">
            <a:solidFill>
              <a:srgbClr val="2436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80160" y="2212848"/>
            <a:ext cx="9601200" cy="256032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22D3EE"/>
                </a:solidFill>
                <a:latin typeface="Aptos"/>
              </a:rPr>
              <a:t>state = reference_state XOR accumulated_delta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3657600"/>
            <a:ext cx="2331720" cy="1051560"/>
          </a:xfrm>
          <a:prstGeom prst="roundRect">
            <a:avLst>
              <a:gd name="adj" fmla="val 8000"/>
            </a:avLst>
          </a:prstGeom>
          <a:solidFill>
            <a:srgbClr val="0C1420"/>
          </a:solidFill>
          <a:ln w="9525">
            <a:solidFill>
              <a:srgbClr val="2436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033272" y="3794760"/>
            <a:ext cx="2002536" cy="381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33272" y="3977640"/>
            <a:ext cx="2002536" cy="256032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5F8FF"/>
                </a:solidFill>
                <a:latin typeface="Aptos"/>
              </a:rPr>
              <a:t>LOAD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" y="4370832"/>
            <a:ext cx="2002536" cy="22860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A5B4C5"/>
                </a:solidFill>
                <a:latin typeface="Aptos"/>
              </a:rPr>
              <a:t>set reference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0" y="3657600"/>
            <a:ext cx="2331720" cy="1051560"/>
          </a:xfrm>
          <a:prstGeom prst="roundRect">
            <a:avLst>
              <a:gd name="adj" fmla="val 8000"/>
            </a:avLst>
          </a:prstGeom>
          <a:solidFill>
            <a:srgbClr val="0C1420"/>
          </a:solidFill>
          <a:ln w="9525">
            <a:solidFill>
              <a:srgbClr val="2436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822192" y="3794760"/>
            <a:ext cx="2002536" cy="3810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22192" y="3977640"/>
            <a:ext cx="2002536" cy="256032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5F8FF"/>
                </a:solidFill>
                <a:latin typeface="Aptos"/>
              </a:rPr>
              <a:t>ACCUM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22192" y="4370832"/>
            <a:ext cx="2002536" cy="22860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A5B4C5"/>
                </a:solidFill>
                <a:latin typeface="Aptos"/>
              </a:rPr>
              <a:t>add deltas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46520" y="3657600"/>
            <a:ext cx="2331720" cy="1051560"/>
          </a:xfrm>
          <a:prstGeom prst="roundRect">
            <a:avLst>
              <a:gd name="adj" fmla="val 8000"/>
            </a:avLst>
          </a:prstGeom>
          <a:solidFill>
            <a:srgbClr val="0C1420"/>
          </a:solidFill>
          <a:ln w="9525">
            <a:solidFill>
              <a:srgbClr val="2436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611112" y="3794760"/>
            <a:ext cx="2002536" cy="3810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11112" y="3977640"/>
            <a:ext cx="2002536" cy="256032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5F8FF"/>
                </a:solidFill>
                <a:latin typeface="Aptos"/>
              </a:rPr>
              <a:t>READ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11112" y="4370832"/>
            <a:ext cx="2002536" cy="22860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A5B4C5"/>
                </a:solidFill>
                <a:latin typeface="Aptos"/>
              </a:rPr>
              <a:t>reconstruct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235439" y="3657600"/>
            <a:ext cx="2331720" cy="1051560"/>
          </a:xfrm>
          <a:prstGeom prst="roundRect">
            <a:avLst>
              <a:gd name="adj" fmla="val 8000"/>
            </a:avLst>
          </a:prstGeom>
          <a:solidFill>
            <a:srgbClr val="0C1420"/>
          </a:solidFill>
          <a:ln w="9525">
            <a:solidFill>
              <a:srgbClr val="2436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400031" y="3794760"/>
            <a:ext cx="2002536" cy="38100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00031" y="3977640"/>
            <a:ext cx="2002536" cy="256032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5F8FF"/>
                </a:solidFill>
                <a:latin typeface="Aptos"/>
              </a:rPr>
              <a:t>SWAP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00031" y="4370832"/>
            <a:ext cx="2002536" cy="22860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A5B4C5"/>
                </a:solidFill>
                <a:latin typeface="Aptos"/>
              </a:rPr>
              <a:t>commit boundary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6419088"/>
            <a:ext cx="10881360" cy="201168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30" b="0">
                <a:solidFill>
                  <a:srgbClr val="74869C"/>
                </a:solidFill>
                <a:latin typeface="Aptos"/>
              </a:rPr>
              <a:t>Plain English: track meaningful change and reconstruct only when the system needs full state.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B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210312"/>
            <a:ext cx="1280160" cy="22860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22D3EE"/>
                </a:solidFill>
                <a:latin typeface="Aptos"/>
              </a:rPr>
              <a:t>ATOMiK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64208" y="219456"/>
            <a:ext cx="6217920" cy="22860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74869C"/>
                </a:solidFill>
                <a:latin typeface="Aptos"/>
              </a:rPr>
              <a:t>Investor deck | May 2026 | matthew.h.rockwell@gmail.com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68735" y="219456"/>
            <a:ext cx="457200" cy="22860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74869C"/>
                </a:solidFill>
                <a:latin typeface="Aptos"/>
              </a:rPr>
              <a:t>08</a:t>
            </a:r>
          </a:p>
        </p:txBody>
      </p:sp>
      <p:sp>
        <p:nvSpPr>
          <p:cNvPr id="5" name="Rectangle 4"/>
          <p:cNvSpPr/>
          <p:nvPr/>
        </p:nvSpPr>
        <p:spPr>
          <a:xfrm>
            <a:off x="384048" y="548640"/>
            <a:ext cx="11423599" cy="38100"/>
          </a:xfrm>
          <a:prstGeom prst="rect">
            <a:avLst/>
          </a:prstGeom>
          <a:solidFill>
            <a:srgbClr val="2436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822960"/>
            <a:ext cx="5303520" cy="256032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22D3EE"/>
                </a:solidFill>
                <a:latin typeface="Aptos"/>
              </a:rPr>
              <a:t>FIT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097280"/>
            <a:ext cx="10332720" cy="676656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F5F8FF"/>
                </a:solidFill>
                <a:latin typeface="Aptos"/>
              </a:rPr>
              <a:t>ATOMiK has a wedge, not a universal claim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1874519"/>
            <a:ext cx="5212080" cy="3017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C55E"/>
                </a:solidFill>
                <a:latin typeface="Aptos"/>
              </a:rPr>
              <a:t>- </a:t>
            </a:r>
            <a:r>
              <a:rPr sz="1500">
                <a:solidFill>
                  <a:srgbClr val="A5B4C5"/>
                </a:solidFill>
                <a:latin typeface="Aptos"/>
              </a:rPr>
              <a:t>updates dominate reads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C55E"/>
                </a:solidFill>
                <a:latin typeface="Aptos"/>
              </a:rPr>
              <a:t>- </a:t>
            </a:r>
            <a:r>
              <a:rPr sz="1500">
                <a:solidFill>
                  <a:srgbClr val="A5B4C5"/>
                </a:solidFill>
                <a:latin typeface="Aptos"/>
              </a:rPr>
              <a:t>state changes are sparse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C55E"/>
                </a:solidFill>
                <a:latin typeface="Aptos"/>
              </a:rPr>
              <a:t>- </a:t>
            </a:r>
            <a:r>
              <a:rPr sz="1500">
                <a:solidFill>
                  <a:srgbClr val="A5B4C5"/>
                </a:solidFill>
                <a:latin typeface="Aptos"/>
              </a:rPr>
              <a:t>bandwidth or latency is expensive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C55E"/>
                </a:solidFill>
                <a:latin typeface="Aptos"/>
              </a:rPr>
              <a:t>- </a:t>
            </a:r>
            <a:r>
              <a:rPr sz="1500">
                <a:solidFill>
                  <a:srgbClr val="A5B4C5"/>
                </a:solidFill>
                <a:latin typeface="Aptos"/>
              </a:rPr>
              <a:t>power budget or hardware margin is tight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C55E"/>
                </a:solidFill>
                <a:latin typeface="Aptos"/>
              </a:rPr>
              <a:t>- </a:t>
            </a:r>
            <a:r>
              <a:rPr sz="1500">
                <a:solidFill>
                  <a:srgbClr val="A5B4C5"/>
                </a:solidFill>
                <a:latin typeface="Aptos"/>
              </a:rPr>
              <a:t>sync, replay, rollback, or context retention creates overhead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92240" y="2057400"/>
            <a:ext cx="4389120" cy="2057400"/>
          </a:xfrm>
          <a:prstGeom prst="roundRect">
            <a:avLst>
              <a:gd name="adj" fmla="val 8000"/>
            </a:avLst>
          </a:prstGeom>
          <a:solidFill>
            <a:srgbClr val="111B2A"/>
          </a:solidFill>
          <a:ln w="9525">
            <a:solidFill>
              <a:srgbClr val="2436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66560" y="2331720"/>
            <a:ext cx="3840480" cy="27432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59E0B"/>
                </a:solidFill>
                <a:latin typeface="Aptos"/>
              </a:rPr>
              <a:t>Not the claim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12280" y="2788920"/>
            <a:ext cx="3749039" cy="9601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F59E0B"/>
                </a:solidFill>
                <a:latin typeface="Aptos"/>
              </a:rPr>
              <a:t>- </a:t>
            </a:r>
            <a:r>
              <a:rPr sz="1200">
                <a:solidFill>
                  <a:srgbClr val="A5B4C5"/>
                </a:solidFill>
                <a:latin typeface="Aptos"/>
              </a:rPr>
              <a:t>CPU/GPU/NPU replacement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F59E0B"/>
                </a:solidFill>
                <a:latin typeface="Aptos"/>
              </a:rPr>
              <a:t>- </a:t>
            </a:r>
            <a:r>
              <a:rPr sz="1200">
                <a:solidFill>
                  <a:srgbClr val="A5B4C5"/>
                </a:solidFill>
                <a:latin typeface="Aptos"/>
              </a:rPr>
              <a:t>universal speedup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F59E0B"/>
                </a:solidFill>
                <a:latin typeface="Aptos"/>
              </a:rPr>
              <a:t>- </a:t>
            </a:r>
            <a:r>
              <a:rPr sz="1200">
                <a:solidFill>
                  <a:srgbClr val="A5B4C5"/>
                </a:solidFill>
                <a:latin typeface="Aptos"/>
              </a:rPr>
              <a:t>thermal or battery result before measurement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B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210312"/>
            <a:ext cx="1280160" cy="22860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22D3EE"/>
                </a:solidFill>
                <a:latin typeface="Aptos"/>
              </a:rPr>
              <a:t>ATOMiK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64208" y="219456"/>
            <a:ext cx="6217920" cy="22860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74869C"/>
                </a:solidFill>
                <a:latin typeface="Aptos"/>
              </a:rPr>
              <a:t>Investor deck | May 2026 | matthew.h.rockwell@gmail.com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68735" y="219456"/>
            <a:ext cx="457200" cy="22860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74869C"/>
                </a:solidFill>
                <a:latin typeface="Aptos"/>
              </a:rPr>
              <a:t>09</a:t>
            </a:r>
          </a:p>
        </p:txBody>
      </p:sp>
      <p:sp>
        <p:nvSpPr>
          <p:cNvPr id="5" name="Rectangle 4"/>
          <p:cNvSpPr/>
          <p:nvPr/>
        </p:nvSpPr>
        <p:spPr>
          <a:xfrm>
            <a:off x="384048" y="548640"/>
            <a:ext cx="11423599" cy="38100"/>
          </a:xfrm>
          <a:prstGeom prst="rect">
            <a:avLst/>
          </a:prstGeom>
          <a:solidFill>
            <a:srgbClr val="2436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822960"/>
            <a:ext cx="5303520" cy="256032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22D3EE"/>
                </a:solidFill>
                <a:latin typeface="Aptos"/>
              </a:rPr>
              <a:t>USE CASES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097280"/>
            <a:ext cx="10332720" cy="676656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F5F8FF"/>
                </a:solidFill>
                <a:latin typeface="Aptos"/>
              </a:rPr>
              <a:t>Same waste, different customer budgets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331720"/>
            <a:ext cx="4846320" cy="896112"/>
          </a:xfrm>
          <a:prstGeom prst="roundRect">
            <a:avLst>
              <a:gd name="adj" fmla="val 8000"/>
            </a:avLst>
          </a:prstGeom>
          <a:solidFill>
            <a:srgbClr val="0C1420"/>
          </a:solidFill>
          <a:ln w="9525">
            <a:solidFill>
              <a:srgbClr val="2436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87552" y="2468880"/>
            <a:ext cx="4517136" cy="381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651760"/>
            <a:ext cx="4517136" cy="256032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F5F8FF"/>
                </a:solidFill>
                <a:latin typeface="Aptos"/>
              </a:rPr>
              <a:t>Robotics / industrial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" y="3044952"/>
            <a:ext cx="4517136" cy="73152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19" b="0">
                <a:solidFill>
                  <a:srgbClr val="A5B4C5"/>
                </a:solidFill>
                <a:latin typeface="Aptos"/>
              </a:rPr>
              <a:t>heat, latency, reliability, control-state churn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60" y="2331720"/>
            <a:ext cx="4846320" cy="896112"/>
          </a:xfrm>
          <a:prstGeom prst="roundRect">
            <a:avLst>
              <a:gd name="adj" fmla="val 8000"/>
            </a:avLst>
          </a:prstGeom>
          <a:solidFill>
            <a:srgbClr val="0C1420"/>
          </a:solidFill>
          <a:ln w="9525">
            <a:solidFill>
              <a:srgbClr val="2436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73952" y="2468880"/>
            <a:ext cx="4517136" cy="38100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2651760"/>
            <a:ext cx="4517136" cy="256032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F5F8FF"/>
                </a:solidFill>
                <a:latin typeface="Aptos"/>
              </a:rPr>
              <a:t>AI at the edge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73952" y="3044952"/>
            <a:ext cx="4517136" cy="73152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19" b="0">
                <a:solidFill>
                  <a:srgbClr val="A5B4C5"/>
                </a:solidFill>
                <a:latin typeface="Aptos"/>
              </a:rPr>
              <a:t>context movement, memory pressure, local response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3593591"/>
            <a:ext cx="4846320" cy="896112"/>
          </a:xfrm>
          <a:prstGeom prst="roundRect">
            <a:avLst>
              <a:gd name="adj" fmla="val 8000"/>
            </a:avLst>
          </a:prstGeom>
          <a:solidFill>
            <a:srgbClr val="0C1420"/>
          </a:solidFill>
          <a:ln w="9525">
            <a:solidFill>
              <a:srgbClr val="2436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87552" y="3730751"/>
            <a:ext cx="4517136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7552" y="3913631"/>
            <a:ext cx="4517136" cy="256032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F5F8FF"/>
                </a:solidFill>
                <a:latin typeface="Aptos"/>
              </a:rPr>
              <a:t>Remote systems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7552" y="4306823"/>
            <a:ext cx="4517136" cy="73152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19" b="0">
                <a:solidFill>
                  <a:srgbClr val="A5B4C5"/>
                </a:solidFill>
                <a:latin typeface="Aptos"/>
              </a:rPr>
              <a:t>drones, satellites, field runtime, packet budget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09360" y="3593591"/>
            <a:ext cx="4846320" cy="896112"/>
          </a:xfrm>
          <a:prstGeom prst="roundRect">
            <a:avLst>
              <a:gd name="adj" fmla="val 8000"/>
            </a:avLst>
          </a:prstGeom>
          <a:solidFill>
            <a:srgbClr val="0C1420"/>
          </a:solidFill>
          <a:ln w="9525">
            <a:solidFill>
              <a:srgbClr val="2436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73952" y="3730751"/>
            <a:ext cx="4517136" cy="3810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73952" y="3913631"/>
            <a:ext cx="4517136" cy="256032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F5F8FF"/>
                </a:solidFill>
                <a:latin typeface="Aptos"/>
              </a:rPr>
              <a:t>Defense-adjacent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73952" y="4306823"/>
            <a:ext cx="4517136" cy="73152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19" b="0">
                <a:solidFill>
                  <a:srgbClr val="A5B4C5"/>
                </a:solidFill>
                <a:latin typeface="Aptos"/>
              </a:rPr>
              <a:t>constrained hardware, power, rugged reliability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6419088"/>
            <a:ext cx="10881360" cy="201168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30" b="0">
                <a:solidFill>
                  <a:srgbClr val="74869C"/>
                </a:solidFill>
                <a:latin typeface="Aptos"/>
              </a:rPr>
              <a:t>ICP is defined by constraint and measurable state path, not by industry label alone.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B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210312"/>
            <a:ext cx="1280160" cy="22860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22D3EE"/>
                </a:solidFill>
                <a:latin typeface="Aptos"/>
              </a:rPr>
              <a:t>ATOMiK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64208" y="219456"/>
            <a:ext cx="6217920" cy="22860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74869C"/>
                </a:solidFill>
                <a:latin typeface="Aptos"/>
              </a:rPr>
              <a:t>Investor deck | May 2026 | matthew.h.rockwell@gmail.com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68735" y="219456"/>
            <a:ext cx="457200" cy="22860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74869C"/>
                </a:solidFill>
                <a:latin typeface="Aptos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384048" y="548640"/>
            <a:ext cx="11423599" cy="38100"/>
          </a:xfrm>
          <a:prstGeom prst="rect">
            <a:avLst/>
          </a:prstGeom>
          <a:solidFill>
            <a:srgbClr val="2436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822960"/>
            <a:ext cx="5303520" cy="256032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22D3EE"/>
                </a:solidFill>
                <a:latin typeface="Aptos"/>
              </a:rPr>
              <a:t>LIVE PROOF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097280"/>
            <a:ext cx="10332720" cy="676656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F5F8FF"/>
                </a:solidFill>
                <a:latin typeface="Aptos"/>
              </a:rPr>
              <a:t>Current Zynq UI artifact with caption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084831"/>
            <a:ext cx="6995160" cy="3383280"/>
          </a:xfrm>
          <a:prstGeom prst="roundRect">
            <a:avLst>
              <a:gd name="adj" fmla="val 8000"/>
            </a:avLst>
          </a:prstGeom>
          <a:solidFill>
            <a:srgbClr val="111B2A"/>
          </a:solidFill>
          <a:ln w="9525">
            <a:solidFill>
              <a:srgbClr val="2436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09-current-live-atomik-desk-v039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1780" y="2286000"/>
            <a:ext cx="5283200" cy="297180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909560" y="2148840"/>
            <a:ext cx="3337560" cy="841248"/>
          </a:xfrm>
          <a:prstGeom prst="roundRect">
            <a:avLst>
              <a:gd name="adj" fmla="val 8000"/>
            </a:avLst>
          </a:prstGeom>
          <a:solidFill>
            <a:srgbClr val="0C1420"/>
          </a:solidFill>
          <a:ln w="9525">
            <a:solidFill>
              <a:srgbClr val="2436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74152" y="2286000"/>
            <a:ext cx="3008376" cy="3810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74152" y="2468880"/>
            <a:ext cx="3008376" cy="256032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19" b="1">
                <a:solidFill>
                  <a:srgbClr val="F5F8FF"/>
                </a:solidFill>
                <a:latin typeface="Aptos"/>
              </a:rPr>
              <a:t>What it shows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74152" y="2862072"/>
            <a:ext cx="3008376" cy="18288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A5B4C5"/>
                </a:solidFill>
                <a:latin typeface="Aptos"/>
              </a:rPr>
              <a:t>current Zynq hardware UI/demo surface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09560" y="3191256"/>
            <a:ext cx="3337560" cy="841248"/>
          </a:xfrm>
          <a:prstGeom prst="roundRect">
            <a:avLst>
              <a:gd name="adj" fmla="val 8000"/>
            </a:avLst>
          </a:prstGeom>
          <a:solidFill>
            <a:srgbClr val="0C1420"/>
          </a:solidFill>
          <a:ln w="9525">
            <a:solidFill>
              <a:srgbClr val="2436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74152" y="3328416"/>
            <a:ext cx="3008376" cy="381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74152" y="3511296"/>
            <a:ext cx="3008376" cy="256032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19" b="1">
                <a:solidFill>
                  <a:srgbClr val="F5F8FF"/>
                </a:solidFill>
                <a:latin typeface="Aptos"/>
              </a:rPr>
              <a:t>What to quote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74152" y="3904488"/>
            <a:ext cx="3008376" cy="18288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A5B4C5"/>
                </a:solidFill>
                <a:latin typeface="Aptos"/>
              </a:rPr>
              <a:t>caption-bound hardware-validated UI artifact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09560" y="4233672"/>
            <a:ext cx="3337560" cy="841248"/>
          </a:xfrm>
          <a:prstGeom prst="roundRect">
            <a:avLst>
              <a:gd name="adj" fmla="val 8000"/>
            </a:avLst>
          </a:prstGeom>
          <a:solidFill>
            <a:srgbClr val="0C1420"/>
          </a:solidFill>
          <a:ln w="9525">
            <a:solidFill>
              <a:srgbClr val="2436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74152" y="4370832"/>
            <a:ext cx="3008376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74152" y="4553712"/>
            <a:ext cx="3008376" cy="256032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19" b="1">
                <a:solidFill>
                  <a:srgbClr val="F5F8FF"/>
                </a:solidFill>
                <a:latin typeface="Aptos"/>
              </a:rPr>
              <a:t>What not to quote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74152" y="4946904"/>
            <a:ext cx="3008376" cy="18288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A5B4C5"/>
                </a:solidFill>
                <a:latin typeface="Aptos"/>
              </a:rPr>
              <a:t>on-screen telemetry as customer benchmark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419088"/>
            <a:ext cx="10881360" cy="201168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30" b="0">
                <a:solidFill>
                  <a:srgbClr val="74869C"/>
                </a:solidFill>
                <a:latin typeface="Aptos"/>
              </a:rPr>
              <a:t>HARDWARE_VALIDATED UI ARTIFACT - not a customer workload benchmark or production-readiness claim.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B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210312"/>
            <a:ext cx="1280160" cy="22860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22D3EE"/>
                </a:solidFill>
                <a:latin typeface="Aptos"/>
              </a:rPr>
              <a:t>ATOMiK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64208" y="219456"/>
            <a:ext cx="6217920" cy="22860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74869C"/>
                </a:solidFill>
                <a:latin typeface="Aptos"/>
              </a:rPr>
              <a:t>Investor deck | May 2026 | matthew.h.rockwell@gmail.com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68735" y="219456"/>
            <a:ext cx="457200" cy="22860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74869C"/>
                </a:solidFill>
                <a:latin typeface="Aptos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384048" y="548640"/>
            <a:ext cx="11423599" cy="38100"/>
          </a:xfrm>
          <a:prstGeom prst="rect">
            <a:avLst/>
          </a:prstGeom>
          <a:solidFill>
            <a:srgbClr val="2436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822960"/>
            <a:ext cx="5303520" cy="256032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22D3EE"/>
                </a:solidFill>
                <a:latin typeface="Aptos"/>
              </a:rPr>
              <a:t>PROOF STACK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097280"/>
            <a:ext cx="10332720" cy="676656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F5F8FF"/>
                </a:solidFill>
                <a:latin typeface="Aptos"/>
              </a:rPr>
              <a:t>Real, specific, evidence-bounded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847088"/>
            <a:ext cx="10561320" cy="457200"/>
          </a:xfrm>
          <a:prstGeom prst="roundRect">
            <a:avLst>
              <a:gd name="adj" fmla="val 8000"/>
            </a:avLst>
          </a:prstGeom>
          <a:solidFill>
            <a:srgbClr val="0C1420"/>
          </a:solidFill>
          <a:ln w="9525">
            <a:solidFill>
              <a:srgbClr val="2436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4128" y="1956816"/>
            <a:ext cx="2743200" cy="146304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19" b="1">
                <a:solidFill>
                  <a:srgbClr val="F5F8FF"/>
                </a:solidFill>
                <a:latin typeface="Aptos"/>
              </a:rPr>
              <a:t>Zynq Desk v0.39-K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1956816"/>
            <a:ext cx="2194560" cy="146304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19" b="1">
                <a:solidFill>
                  <a:srgbClr val="22C55E"/>
                </a:solidFill>
                <a:latin typeface="Aptos"/>
              </a:rPr>
              <a:t>HARDWARE_VALIDATED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1956816"/>
            <a:ext cx="4709160" cy="146304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A5B4C5"/>
                </a:solidFill>
                <a:latin typeface="Aptos"/>
              </a:rPr>
              <a:t>current UI proof image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505456"/>
            <a:ext cx="10561320" cy="457200"/>
          </a:xfrm>
          <a:prstGeom prst="roundRect">
            <a:avLst>
              <a:gd name="adj" fmla="val 8000"/>
            </a:avLst>
          </a:prstGeom>
          <a:solidFill>
            <a:srgbClr val="0C1420"/>
          </a:solidFill>
          <a:ln w="9525">
            <a:solidFill>
              <a:srgbClr val="2436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4128" y="2615184"/>
            <a:ext cx="2743200" cy="146304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19" b="1">
                <a:solidFill>
                  <a:srgbClr val="F5F8FF"/>
                </a:solidFill>
                <a:latin typeface="Aptos"/>
              </a:rPr>
              <a:t>Linux userspace to FPGA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615184"/>
            <a:ext cx="2194560" cy="146304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19" b="1">
                <a:solidFill>
                  <a:srgbClr val="22D3EE"/>
                </a:solidFill>
                <a:latin typeface="Aptos"/>
              </a:rPr>
              <a:t>HARDWARE_VALIDATED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2615184"/>
            <a:ext cx="4709160" cy="146304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A5B4C5"/>
                </a:solidFill>
                <a:latin typeface="Aptos"/>
              </a:rPr>
              <a:t>documented OS-to-bus path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3163824"/>
            <a:ext cx="10561320" cy="457200"/>
          </a:xfrm>
          <a:prstGeom prst="roundRect">
            <a:avLst>
              <a:gd name="adj" fmla="val 8000"/>
            </a:avLst>
          </a:prstGeom>
          <a:solidFill>
            <a:srgbClr val="0C1420"/>
          </a:solidFill>
          <a:ln w="9525">
            <a:solidFill>
              <a:srgbClr val="2436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24128" y="3273552"/>
            <a:ext cx="2743200" cy="146304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19" b="1">
                <a:solidFill>
                  <a:srgbClr val="F5F8FF"/>
                </a:solidFill>
                <a:latin typeface="Aptos"/>
              </a:rPr>
              <a:t>AX7020 board matrix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31920" y="3273552"/>
            <a:ext cx="2194560" cy="146304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19" b="1">
                <a:solidFill>
                  <a:srgbClr val="60A5FA"/>
                </a:solidFill>
                <a:latin typeface="Aptos"/>
              </a:rPr>
              <a:t>LIVE_MEASURED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3273552"/>
            <a:ext cx="4709160" cy="146304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A5B4C5"/>
                </a:solidFill>
                <a:latin typeface="Aptos"/>
              </a:rPr>
              <a:t>wins and losses with caveats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3822191"/>
            <a:ext cx="10561320" cy="457200"/>
          </a:xfrm>
          <a:prstGeom prst="roundRect">
            <a:avLst>
              <a:gd name="adj" fmla="val 8000"/>
            </a:avLst>
          </a:prstGeom>
          <a:solidFill>
            <a:srgbClr val="0C1420"/>
          </a:solidFill>
          <a:ln w="9525">
            <a:solidFill>
              <a:srgbClr val="2436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4128" y="3931919"/>
            <a:ext cx="2743200" cy="146304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19" b="1">
                <a:solidFill>
                  <a:srgbClr val="F5F8FF"/>
                </a:solidFill>
                <a:latin typeface="Aptos"/>
              </a:rPr>
              <a:t>Formal algebra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31920" y="3931919"/>
            <a:ext cx="2194560" cy="146304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19" b="1">
                <a:solidFill>
                  <a:srgbClr val="A78BFA"/>
                </a:solidFill>
                <a:latin typeface="Aptos"/>
              </a:rPr>
              <a:t>FORMAL_PROOF*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3931919"/>
            <a:ext cx="4709160" cy="146304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A5B4C5"/>
                </a:solidFill>
                <a:latin typeface="Aptos"/>
              </a:rPr>
              <a:t>Lean4-checked algebra; exact audited properties only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22960" y="4480560"/>
            <a:ext cx="10561320" cy="457200"/>
          </a:xfrm>
          <a:prstGeom prst="roundRect">
            <a:avLst>
              <a:gd name="adj" fmla="val 8000"/>
            </a:avLst>
          </a:prstGeom>
          <a:solidFill>
            <a:srgbClr val="0C1420"/>
          </a:solidFill>
          <a:ln w="9525">
            <a:solidFill>
              <a:srgbClr val="2436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4128" y="4590288"/>
            <a:ext cx="2743200" cy="146304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19" b="1">
                <a:solidFill>
                  <a:srgbClr val="F5F8FF"/>
                </a:solidFill>
                <a:latin typeface="Aptos"/>
              </a:rPr>
              <a:t>Standalone boot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931920" y="4590288"/>
            <a:ext cx="2194560" cy="146304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19" b="1">
                <a:solidFill>
                  <a:srgbClr val="F59E0B"/>
                </a:solidFill>
                <a:latin typeface="Aptos"/>
              </a:rPr>
              <a:t>BUILD_ARTIFACT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4590288"/>
            <a:ext cx="4709160" cy="146304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A5B4C5"/>
                </a:solidFill>
                <a:latin typeface="Aptos"/>
              </a:rPr>
              <a:t>not promoted until run proof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6419088"/>
            <a:ext cx="10881360" cy="201168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30" b="0">
                <a:solidFill>
                  <a:srgbClr val="74869C"/>
                </a:solidFill>
                <a:latin typeface="Aptos"/>
              </a:rPr>
              <a:t>*FORMAL_PROOF applies only to specifically audited formal properties; it does not imply workload or customer outcomes.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B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210312"/>
            <a:ext cx="1280160" cy="22860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22D3EE"/>
                </a:solidFill>
                <a:latin typeface="Aptos"/>
              </a:rPr>
              <a:t>ATOMiK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64208" y="219456"/>
            <a:ext cx="6217920" cy="22860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74869C"/>
                </a:solidFill>
                <a:latin typeface="Aptos"/>
              </a:rPr>
              <a:t>Investor deck | May 2026 | matthew.h.rockwell@gmail.com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68735" y="219456"/>
            <a:ext cx="457200" cy="22860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74869C"/>
                </a:solidFill>
                <a:latin typeface="Aptos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384048" y="548640"/>
            <a:ext cx="11423599" cy="38100"/>
          </a:xfrm>
          <a:prstGeom prst="rect">
            <a:avLst/>
          </a:prstGeom>
          <a:solidFill>
            <a:srgbClr val="2436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822960"/>
            <a:ext cx="5303520" cy="256032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22D3EE"/>
                </a:solidFill>
                <a:latin typeface="Aptos"/>
              </a:rPr>
              <a:t>COMMERCIAL PATH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097280"/>
            <a:ext cx="10332720" cy="676656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F5F8FF"/>
                </a:solidFill>
                <a:latin typeface="Aptos"/>
              </a:rPr>
              <a:t>A customer can understand the first step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121408"/>
            <a:ext cx="2468880" cy="1554480"/>
          </a:xfrm>
          <a:prstGeom prst="roundRect">
            <a:avLst>
              <a:gd name="adj" fmla="val 8000"/>
            </a:avLst>
          </a:prstGeom>
          <a:solidFill>
            <a:srgbClr val="0C1420"/>
          </a:solidFill>
          <a:ln w="9525">
            <a:solidFill>
              <a:srgbClr val="2436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41832" y="2258568"/>
            <a:ext cx="2139696" cy="381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2441448"/>
            <a:ext cx="2139696" cy="256032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70" b="1">
                <a:solidFill>
                  <a:srgbClr val="F5F8FF"/>
                </a:solidFill>
                <a:latin typeface="Aptos"/>
              </a:rPr>
              <a:t>1. Show us the problem path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832" y="2834640"/>
            <a:ext cx="2139696" cy="73152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A5B4C5"/>
                </a:solidFill>
                <a:latin typeface="Aptos"/>
              </a:rPr>
              <a:t>the part causing battery, heat, hardware, latency, size, weight, or cost pressure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11880" y="2121408"/>
            <a:ext cx="2468880" cy="1554480"/>
          </a:xfrm>
          <a:prstGeom prst="roundRect">
            <a:avLst>
              <a:gd name="adj" fmla="val 8000"/>
            </a:avLst>
          </a:prstGeom>
          <a:solidFill>
            <a:srgbClr val="0C1420"/>
          </a:solidFill>
          <a:ln w="9525">
            <a:solidFill>
              <a:srgbClr val="2436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776472" y="2258568"/>
            <a:ext cx="2139696" cy="3810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76472" y="2441448"/>
            <a:ext cx="2139696" cy="256032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70" b="1">
                <a:solidFill>
                  <a:srgbClr val="F5F8FF"/>
                </a:solidFill>
                <a:latin typeface="Aptos"/>
              </a:rPr>
              <a:t>2. We evaluate fit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76472" y="2834640"/>
            <a:ext cx="2139696" cy="73152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A5B4C5"/>
                </a:solidFill>
                <a:latin typeface="Aptos"/>
              </a:rPr>
              <a:t>measure whether ATOMiK can reduce state work against the current baseline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46520" y="2121408"/>
            <a:ext cx="2468880" cy="1554480"/>
          </a:xfrm>
          <a:prstGeom prst="roundRect">
            <a:avLst>
              <a:gd name="adj" fmla="val 8000"/>
            </a:avLst>
          </a:prstGeom>
          <a:solidFill>
            <a:srgbClr val="0C1420"/>
          </a:solidFill>
          <a:ln w="9525">
            <a:solidFill>
              <a:srgbClr val="2436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611112" y="2258568"/>
            <a:ext cx="2139696" cy="3810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11112" y="2441448"/>
            <a:ext cx="2139696" cy="256032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70" b="1">
                <a:solidFill>
                  <a:srgbClr val="F5F8FF"/>
                </a:solidFill>
                <a:latin typeface="Aptos"/>
              </a:rPr>
              <a:t>3. We show the evidence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11112" y="2834640"/>
            <a:ext cx="2139696" cy="73152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A5B4C5"/>
                </a:solidFill>
                <a:latin typeface="Aptos"/>
              </a:rPr>
              <a:t>where the opportunity is, what was measured, and the potential impact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281160" y="2121408"/>
            <a:ext cx="2468880" cy="1554480"/>
          </a:xfrm>
          <a:prstGeom prst="roundRect">
            <a:avLst>
              <a:gd name="adj" fmla="val 8000"/>
            </a:avLst>
          </a:prstGeom>
          <a:solidFill>
            <a:srgbClr val="0C1420"/>
          </a:solidFill>
          <a:ln w="9525">
            <a:solidFill>
              <a:srgbClr val="2436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445752" y="2258568"/>
            <a:ext cx="2139696" cy="38100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45752" y="2441448"/>
            <a:ext cx="2139696" cy="256032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70" b="1">
                <a:solidFill>
                  <a:srgbClr val="F5F8FF"/>
                </a:solidFill>
                <a:latin typeface="Aptos"/>
              </a:rPr>
              <a:t>4. Or call no-fit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45752" y="2834640"/>
            <a:ext cx="2139696" cy="73152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A5B4C5"/>
                </a:solidFill>
                <a:latin typeface="Aptos"/>
              </a:rPr>
              <a:t>if ATOMiK does not help, say so and stop before wasting customer time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4498848"/>
            <a:ext cx="10287000" cy="530352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5F8FF"/>
                </a:solidFill>
                <a:latin typeface="Aptos"/>
              </a:rPr>
              <a:t>Design-partner work and licensing diligence come only after measured proof supports the path.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B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210312"/>
            <a:ext cx="1280160" cy="22860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22D3EE"/>
                </a:solidFill>
                <a:latin typeface="Aptos"/>
              </a:rPr>
              <a:t>ATOMiK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64208" y="219456"/>
            <a:ext cx="6217920" cy="22860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74869C"/>
                </a:solidFill>
                <a:latin typeface="Aptos"/>
              </a:rPr>
              <a:t>Investor deck | May 2026 | matthew.h.rockwell@gmail.com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68735" y="219456"/>
            <a:ext cx="457200" cy="22860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74869C"/>
                </a:solidFill>
                <a:latin typeface="Aptos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384048" y="548640"/>
            <a:ext cx="11423599" cy="38100"/>
          </a:xfrm>
          <a:prstGeom prst="rect">
            <a:avLst/>
          </a:prstGeom>
          <a:solidFill>
            <a:srgbClr val="2436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822960"/>
            <a:ext cx="5303520" cy="256032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22D3EE"/>
                </a:solidFill>
                <a:latin typeface="Aptos"/>
              </a:rPr>
              <a:t>FINANCIAL 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097280"/>
            <a:ext cx="10332720" cy="932688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F5F8FF"/>
                </a:solidFill>
                <a:latin typeface="Aptos"/>
              </a:rPr>
              <a:t>$5M funds proof, partners, and licensing diligence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2011680"/>
            <a:ext cx="9875520" cy="384048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A5B4C5"/>
                </a:solidFill>
                <a:latin typeface="Aptos"/>
              </a:rPr>
              <a:t>Founder-prepared planning scenario, not a forecast.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487168"/>
            <a:ext cx="2542032" cy="1600200"/>
          </a:xfrm>
          <a:prstGeom prst="roundRect">
            <a:avLst>
              <a:gd name="adj" fmla="val 8000"/>
            </a:avLst>
          </a:prstGeom>
          <a:solidFill>
            <a:srgbClr val="111B2A"/>
          </a:solidFill>
          <a:ln w="9525">
            <a:solidFill>
              <a:srgbClr val="2436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6968" y="2715768"/>
            <a:ext cx="2139696" cy="45720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22D3EE"/>
                </a:solidFill>
                <a:latin typeface="Aptos"/>
              </a:rPr>
              <a:t>$0-$150K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3328416"/>
            <a:ext cx="2139696" cy="237744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5F8FF"/>
                </a:solidFill>
                <a:latin typeface="Aptos"/>
              </a:rPr>
              <a:t>0-6 mo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" y="3657600"/>
            <a:ext cx="2139696" cy="246888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0">
                <a:solidFill>
                  <a:srgbClr val="A5B4C5"/>
                </a:solidFill>
                <a:latin typeface="Aptos"/>
              </a:rPr>
              <a:t>qualified proof reviews / technical evals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38728" y="2487168"/>
            <a:ext cx="2542032" cy="1600200"/>
          </a:xfrm>
          <a:prstGeom prst="roundRect">
            <a:avLst>
              <a:gd name="adj" fmla="val 8000"/>
            </a:avLst>
          </a:prstGeom>
          <a:solidFill>
            <a:srgbClr val="111B2A"/>
          </a:solidFill>
          <a:ln w="9525">
            <a:solidFill>
              <a:srgbClr val="2436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39896" y="2715768"/>
            <a:ext cx="2139696" cy="45720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22C55E"/>
                </a:solidFill>
                <a:latin typeface="Aptos"/>
              </a:rPr>
              <a:t>$250K-$750K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9896" y="3328416"/>
            <a:ext cx="2139696" cy="237744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5F8FF"/>
                </a:solidFill>
                <a:latin typeface="Aptos"/>
              </a:rPr>
              <a:t>6-12 mo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9896" y="3657600"/>
            <a:ext cx="2139696" cy="246888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0">
                <a:solidFill>
                  <a:srgbClr val="A5B4C5"/>
                </a:solidFill>
                <a:latin typeface="Aptos"/>
              </a:rPr>
              <a:t>paid evaluation or design-partner SOWs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91656" y="2487168"/>
            <a:ext cx="2542032" cy="1600200"/>
          </a:xfrm>
          <a:prstGeom prst="roundRect">
            <a:avLst>
              <a:gd name="adj" fmla="val 8000"/>
            </a:avLst>
          </a:prstGeom>
          <a:solidFill>
            <a:srgbClr val="111B2A"/>
          </a:solidFill>
          <a:ln w="9525">
            <a:solidFill>
              <a:srgbClr val="2436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92824" y="2715768"/>
            <a:ext cx="2139696" cy="45720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60A5FA"/>
                </a:solidFill>
                <a:latin typeface="Aptos"/>
              </a:rPr>
              <a:t>$1M-$3M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92824" y="3328416"/>
            <a:ext cx="2139696" cy="237744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5F8FF"/>
                </a:solidFill>
                <a:latin typeface="Aptos"/>
              </a:rPr>
              <a:t>12-24 mo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92824" y="3657600"/>
            <a:ext cx="2139696" cy="246888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0">
                <a:solidFill>
                  <a:srgbClr val="A5B4C5"/>
                </a:solidFill>
                <a:latin typeface="Aptos"/>
              </a:rPr>
              <a:t>potential contracted value if proof converts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244584" y="2487168"/>
            <a:ext cx="2542032" cy="1600200"/>
          </a:xfrm>
          <a:prstGeom prst="roundRect">
            <a:avLst>
              <a:gd name="adj" fmla="val 8000"/>
            </a:avLst>
          </a:prstGeom>
          <a:solidFill>
            <a:srgbClr val="111B2A"/>
          </a:solidFill>
          <a:ln w="9525">
            <a:solidFill>
              <a:srgbClr val="2436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45752" y="2715768"/>
            <a:ext cx="2139696" cy="45720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A78BFA"/>
                </a:solidFill>
                <a:latin typeface="Aptos"/>
              </a:rPr>
              <a:t>$3M-$8M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45752" y="3328416"/>
            <a:ext cx="2139696" cy="237744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5F8FF"/>
                </a:solidFill>
                <a:latin typeface="Aptos"/>
              </a:rPr>
              <a:t>24-36 mo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45752" y="3657600"/>
            <a:ext cx="2139696" cy="246888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0">
                <a:solidFill>
                  <a:srgbClr val="A5B4C5"/>
                </a:solidFill>
                <a:latin typeface="Aptos"/>
              </a:rPr>
              <a:t>annualized potential if proof and economics hold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4553712"/>
            <a:ext cx="10515600" cy="256032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>
                <a:solidFill>
                  <a:srgbClr val="F5F8FF"/>
                </a:solidFill>
                <a:latin typeface="Aptos"/>
              </a:rPr>
              <a:t>Use of funds: $1.5M engineering | $1.0M customer proof | $750K IP/legal | $750K ASIC feasibility | $1.0M finance/GTM/ops + reserve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6419088"/>
            <a:ext cx="10881360" cy="201168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30" b="0">
                <a:solidFill>
                  <a:srgbClr val="74869C"/>
                </a:solidFill>
                <a:latin typeface="Aptos"/>
              </a:rPr>
              <a:t>Do not present ranges as booked revenue, committed pipeline, forecast, or guaranteed ROI. Material revenue requires signed SOWs or licensing terms.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B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210312"/>
            <a:ext cx="1280160" cy="22860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22D3EE"/>
                </a:solidFill>
                <a:latin typeface="Aptos"/>
              </a:rPr>
              <a:t>ATOMiK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64208" y="219456"/>
            <a:ext cx="6217920" cy="22860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74869C"/>
                </a:solidFill>
                <a:latin typeface="Aptos"/>
              </a:rPr>
              <a:t>Investor deck | May 2026 | matthew.h.rockwell@gmail.com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68735" y="219456"/>
            <a:ext cx="457200" cy="22860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74869C"/>
                </a:solidFill>
                <a:latin typeface="Aptos"/>
              </a:rPr>
              <a:t>14</a:t>
            </a:r>
          </a:p>
        </p:txBody>
      </p:sp>
      <p:sp>
        <p:nvSpPr>
          <p:cNvPr id="5" name="Rectangle 4"/>
          <p:cNvSpPr/>
          <p:nvPr/>
        </p:nvSpPr>
        <p:spPr>
          <a:xfrm>
            <a:off x="384048" y="548640"/>
            <a:ext cx="11423599" cy="38100"/>
          </a:xfrm>
          <a:prstGeom prst="rect">
            <a:avLst/>
          </a:prstGeom>
          <a:solidFill>
            <a:srgbClr val="2436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822960"/>
            <a:ext cx="5303520" cy="256032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22D3EE"/>
                </a:solidFill>
                <a:latin typeface="Aptos"/>
              </a:rPr>
              <a:t>RISKS AND GATES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097280"/>
            <a:ext cx="10332720" cy="932688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F5F8FF"/>
                </a:solidFill>
                <a:latin typeface="Aptos"/>
              </a:rPr>
              <a:t>Trust comes from saying what is still unproven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148840"/>
            <a:ext cx="4892040" cy="960120"/>
          </a:xfrm>
          <a:prstGeom prst="roundRect">
            <a:avLst>
              <a:gd name="adj" fmla="val 8000"/>
            </a:avLst>
          </a:prstGeom>
          <a:solidFill>
            <a:srgbClr val="0C1420"/>
          </a:solidFill>
          <a:ln w="9525">
            <a:solidFill>
              <a:srgbClr val="2436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87552" y="2286000"/>
            <a:ext cx="4562856" cy="381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468880"/>
            <a:ext cx="4562856" cy="256032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F5F8FF"/>
                </a:solidFill>
                <a:latin typeface="Aptos"/>
              </a:rPr>
              <a:t>Customer validation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" y="2862072"/>
            <a:ext cx="4562856" cy="13716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A5B4C5"/>
                </a:solidFill>
                <a:latin typeface="Aptos"/>
              </a:rPr>
              <a:t>pending; design partners are the wedge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60" y="2148840"/>
            <a:ext cx="4892040" cy="960120"/>
          </a:xfrm>
          <a:prstGeom prst="roundRect">
            <a:avLst>
              <a:gd name="adj" fmla="val 8000"/>
            </a:avLst>
          </a:prstGeom>
          <a:solidFill>
            <a:srgbClr val="0C1420"/>
          </a:solidFill>
          <a:ln w="9525">
            <a:solidFill>
              <a:srgbClr val="2436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73952" y="2286000"/>
            <a:ext cx="4562856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2468880"/>
            <a:ext cx="4562856" cy="256032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F5F8FF"/>
                </a:solidFill>
                <a:latin typeface="Aptos"/>
              </a:rPr>
              <a:t>Downstream outcomes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73952" y="2862072"/>
            <a:ext cx="4562856" cy="13716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A5B4C5"/>
                </a:solidFill>
                <a:latin typeface="Aptos"/>
              </a:rPr>
              <a:t>battery/heat/water/ROI need end-to-end measurement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3520440"/>
            <a:ext cx="4892040" cy="960120"/>
          </a:xfrm>
          <a:prstGeom prst="roundRect">
            <a:avLst>
              <a:gd name="adj" fmla="val 8000"/>
            </a:avLst>
          </a:prstGeom>
          <a:solidFill>
            <a:srgbClr val="0C1420"/>
          </a:solidFill>
          <a:ln w="9525">
            <a:solidFill>
              <a:srgbClr val="2436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87552" y="3657600"/>
            <a:ext cx="4562856" cy="38100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7552" y="3840480"/>
            <a:ext cx="4562856" cy="256032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F5F8FF"/>
                </a:solidFill>
                <a:latin typeface="Aptos"/>
              </a:rPr>
              <a:t>ASIC economics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7552" y="4233672"/>
            <a:ext cx="4562856" cy="13716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A5B4C5"/>
                </a:solidFill>
                <a:latin typeface="Aptos"/>
              </a:rPr>
              <a:t>external feasibility review before tape-out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09360" y="3520440"/>
            <a:ext cx="4892040" cy="960120"/>
          </a:xfrm>
          <a:prstGeom prst="roundRect">
            <a:avLst>
              <a:gd name="adj" fmla="val 8000"/>
            </a:avLst>
          </a:prstGeom>
          <a:solidFill>
            <a:srgbClr val="0C1420"/>
          </a:solidFill>
          <a:ln w="9525">
            <a:solidFill>
              <a:srgbClr val="2436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73952" y="3657600"/>
            <a:ext cx="4562856" cy="3810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73952" y="3840480"/>
            <a:ext cx="4562856" cy="256032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F5F8FF"/>
                </a:solidFill>
                <a:latin typeface="Aptos"/>
              </a:rPr>
              <a:t>Incumbents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73952" y="4233672"/>
            <a:ext cx="4562856" cy="13716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A5B4C5"/>
                </a:solidFill>
                <a:latin typeface="Aptos"/>
              </a:rPr>
              <a:t>differentiate by proof, IP, and workload focus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5166360"/>
            <a:ext cx="10287000" cy="310896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5F8FF"/>
                </a:solidFill>
                <a:latin typeface="Aptos"/>
              </a:rPr>
              <a:t>The risks are exactly why this is a proof round, not a tape-out round.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B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210312"/>
            <a:ext cx="1280160" cy="22860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22D3EE"/>
                </a:solidFill>
                <a:latin typeface="Aptos"/>
              </a:rPr>
              <a:t>ATOMiK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64208" y="219456"/>
            <a:ext cx="6217920" cy="22860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74869C"/>
                </a:solidFill>
                <a:latin typeface="Aptos"/>
              </a:rPr>
              <a:t>Investor deck | May 2026 | matthew.h.rockwell@gmail.com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68735" y="219456"/>
            <a:ext cx="457200" cy="22860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74869C"/>
                </a:solidFill>
                <a:latin typeface="Aptos"/>
              </a:rPr>
              <a:t>15</a:t>
            </a:r>
          </a:p>
        </p:txBody>
      </p:sp>
      <p:sp>
        <p:nvSpPr>
          <p:cNvPr id="5" name="Rectangle 4"/>
          <p:cNvSpPr/>
          <p:nvPr/>
        </p:nvSpPr>
        <p:spPr>
          <a:xfrm>
            <a:off x="384048" y="548640"/>
            <a:ext cx="11423599" cy="38100"/>
          </a:xfrm>
          <a:prstGeom prst="rect">
            <a:avLst/>
          </a:prstGeom>
          <a:solidFill>
            <a:srgbClr val="2436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822960"/>
            <a:ext cx="5303520" cy="256032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22D3EE"/>
                </a:solidFill>
                <a:latin typeface="Aptos"/>
              </a:rPr>
              <a:t>TEAM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097280"/>
            <a:ext cx="10332720" cy="676656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F5F8FF"/>
                </a:solidFill>
                <a:latin typeface="Aptos"/>
              </a:rPr>
              <a:t>Founder-led proof with commercial translation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920240"/>
            <a:ext cx="4983480" cy="2011680"/>
          </a:xfrm>
          <a:prstGeom prst="roundRect">
            <a:avLst>
              <a:gd name="adj" fmla="val 8000"/>
            </a:avLst>
          </a:prstGeom>
          <a:solidFill>
            <a:srgbClr val="111B2A"/>
          </a:solidFill>
          <a:ln w="9525">
            <a:solidFill>
              <a:srgbClr val="2436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05840" y="2084832"/>
            <a:ext cx="4617720" cy="381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152144" y="2395728"/>
            <a:ext cx="1444752" cy="1444752"/>
          </a:xfrm>
          <a:prstGeom prst="roundRect">
            <a:avLst>
              <a:gd name="adj" fmla="val 8000"/>
            </a:avLst>
          </a:prstGeom>
          <a:solidFill>
            <a:srgbClr val="0C1420"/>
          </a:solidFill>
          <a:ln w="9525">
            <a:solidFill>
              <a:srgbClr val="2436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matthew-rockwell-headsh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432304"/>
            <a:ext cx="1371600" cy="13716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788920" y="2450592"/>
            <a:ext cx="2743200" cy="292608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F5F8FF"/>
                </a:solidFill>
                <a:latin typeface="Aptos"/>
              </a:rPr>
              <a:t>Matthew H. Rockwell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88920" y="2852928"/>
            <a:ext cx="2743200" cy="22860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22D3EE"/>
                </a:solidFill>
                <a:latin typeface="Aptos"/>
              </a:rPr>
              <a:t>Founder &amp; CEO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88920" y="3182112"/>
            <a:ext cx="2743200" cy="50292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19" b="0">
                <a:solidFill>
                  <a:srgbClr val="A5B4C5"/>
                </a:solidFill>
                <a:latin typeface="Aptos"/>
              </a:rPr>
              <a:t>Architecture, live proof, product direction, financial model, ask, and technical Q&amp;A.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55080" y="1920240"/>
            <a:ext cx="4983480" cy="2011680"/>
          </a:xfrm>
          <a:prstGeom prst="roundRect">
            <a:avLst>
              <a:gd name="adj" fmla="val 8000"/>
            </a:avLst>
          </a:prstGeom>
          <a:solidFill>
            <a:srgbClr val="111B2A"/>
          </a:solidFill>
          <a:ln w="9525">
            <a:solidFill>
              <a:srgbClr val="2436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37960" y="2084832"/>
            <a:ext cx="4617720" cy="3810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684264" y="2395728"/>
            <a:ext cx="1444752" cy="1444752"/>
          </a:xfrm>
          <a:prstGeom prst="roundRect">
            <a:avLst>
              <a:gd name="adj" fmla="val 8000"/>
            </a:avLst>
          </a:prstGeom>
          <a:solidFill>
            <a:srgbClr val="0C1420"/>
          </a:solidFill>
          <a:ln w="9525">
            <a:solidFill>
              <a:srgbClr val="2436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allison_rossi_headsho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2432304"/>
            <a:ext cx="1371600" cy="13716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321040" y="2450592"/>
            <a:ext cx="2743200" cy="292608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F5F8FF"/>
                </a:solidFill>
                <a:latin typeface="Aptos"/>
              </a:rPr>
              <a:t>Allison Rossi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2852928"/>
            <a:ext cx="2743200" cy="22860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22C55E"/>
                </a:solidFill>
                <a:latin typeface="Aptos"/>
              </a:rPr>
              <a:t>CMO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40" y="3182112"/>
            <a:ext cx="2743200" cy="50292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19" b="0">
                <a:solidFill>
                  <a:srgbClr val="A5B4C5"/>
                </a:solidFill>
                <a:latin typeface="Aptos"/>
              </a:rPr>
              <a:t>Messaging, positioning, buyer-language, commercialization, and go-to-market support.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68680" y="4370832"/>
            <a:ext cx="10469880" cy="822960"/>
          </a:xfrm>
          <a:prstGeom prst="roundRect">
            <a:avLst>
              <a:gd name="adj" fmla="val 8000"/>
            </a:avLst>
          </a:prstGeom>
          <a:solidFill>
            <a:srgbClr val="111B2A"/>
          </a:solidFill>
          <a:ln w="9525">
            <a:solidFill>
              <a:srgbClr val="2436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" y="4553712"/>
            <a:ext cx="1874519" cy="201168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22D3EE"/>
                </a:solidFill>
                <a:latin typeface="Aptos"/>
              </a:rPr>
              <a:t>Advisor priorities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44368" y="4526280"/>
            <a:ext cx="8092440" cy="292608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5F8FF"/>
                </a:solidFill>
                <a:latin typeface="Aptos"/>
              </a:rPr>
              <a:t>ASIC/EDA feasibility reviewer | formal-methods reviewer | semiconductor IP/licensing counsel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6419088"/>
            <a:ext cx="10881360" cy="201168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30" b="0">
                <a:solidFill>
                  <a:srgbClr val="74869C"/>
                </a:solidFill>
                <a:latin typeface="Aptos"/>
              </a:rPr>
              <a:t>No advisors are represented as signed until documented. These are priority asks for the round and AAN network.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B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210312"/>
            <a:ext cx="1280160" cy="22860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22D3EE"/>
                </a:solidFill>
                <a:latin typeface="Aptos"/>
              </a:rPr>
              <a:t>ATOMiK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64208" y="219456"/>
            <a:ext cx="6217920" cy="22860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74869C"/>
                </a:solidFill>
                <a:latin typeface="Aptos"/>
              </a:rPr>
              <a:t>Investor deck | May 2026 | matthew.h.rockwell@gmail.com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68735" y="219456"/>
            <a:ext cx="457200" cy="22860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74869C"/>
                </a:solidFill>
                <a:latin typeface="Aptos"/>
              </a:rPr>
              <a:t>16</a:t>
            </a:r>
          </a:p>
        </p:txBody>
      </p:sp>
      <p:sp>
        <p:nvSpPr>
          <p:cNvPr id="5" name="Rectangle 4"/>
          <p:cNvSpPr/>
          <p:nvPr/>
        </p:nvSpPr>
        <p:spPr>
          <a:xfrm>
            <a:off x="384048" y="548640"/>
            <a:ext cx="11423599" cy="38100"/>
          </a:xfrm>
          <a:prstGeom prst="rect">
            <a:avLst/>
          </a:prstGeom>
          <a:solidFill>
            <a:srgbClr val="2436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822960"/>
            <a:ext cx="5303520" cy="256032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22D3EE"/>
                </a:solidFill>
                <a:latin typeface="Aptos"/>
              </a:rPr>
              <a:t>THE 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097280"/>
            <a:ext cx="10332720" cy="676656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F5F8FF"/>
                </a:solidFill>
                <a:latin typeface="Aptos"/>
              </a:rPr>
              <a:t>$5M target to reach measured workload proof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1965960"/>
            <a:ext cx="6035040" cy="192024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>
              <a:spcAft>
                <a:spcPts val="700"/>
              </a:spcAft>
            </a:pPr>
            <a:r>
              <a:rPr sz="1500">
                <a:solidFill>
                  <a:srgbClr val="22C55E"/>
                </a:solidFill>
                <a:latin typeface="Aptos"/>
              </a:rPr>
              <a:t>- </a:t>
            </a:r>
            <a:r>
              <a:rPr sz="1500">
                <a:solidFill>
                  <a:srgbClr val="A5B4C5"/>
                </a:solidFill>
                <a:latin typeface="Aptos"/>
              </a:rPr>
              <a:t>$5M target pre-seed; final SAFE terms CFO/counsel pending</a:t>
            </a:r>
          </a:p>
          <a:p>
            <a:pPr>
              <a:spcAft>
                <a:spcPts val="700"/>
              </a:spcAft>
            </a:pPr>
            <a:r>
              <a:rPr sz="1500">
                <a:solidFill>
                  <a:srgbClr val="22C55E"/>
                </a:solidFill>
                <a:latin typeface="Aptos"/>
              </a:rPr>
              <a:t>- </a:t>
            </a:r>
            <a:r>
              <a:rPr sz="1500">
                <a:solidFill>
                  <a:srgbClr val="A5B4C5"/>
                </a:solidFill>
                <a:latin typeface="Aptos"/>
              </a:rPr>
              <a:t>18-24 months to measured workload proof, IP packet, ASIC feasibility</a:t>
            </a:r>
          </a:p>
          <a:p>
            <a:pPr>
              <a:spcAft>
                <a:spcPts val="700"/>
              </a:spcAft>
            </a:pPr>
            <a:r>
              <a:rPr sz="1500">
                <a:solidFill>
                  <a:srgbClr val="22C55E"/>
                </a:solidFill>
                <a:latin typeface="Aptos"/>
              </a:rPr>
              <a:t>- </a:t>
            </a:r>
            <a:r>
              <a:rPr sz="1500">
                <a:solidFill>
                  <a:srgbClr val="A5B4C5"/>
                </a:solidFill>
                <a:latin typeface="Aptos"/>
              </a:rPr>
              <a:t>Need: capital, qualified workloads, design-partner introductions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52360" y="1874519"/>
            <a:ext cx="3246120" cy="2011680"/>
          </a:xfrm>
          <a:prstGeom prst="roundRect">
            <a:avLst>
              <a:gd name="adj" fmla="val 8000"/>
            </a:avLst>
          </a:prstGeom>
          <a:solidFill>
            <a:srgbClr val="111B2A"/>
          </a:solidFill>
          <a:ln w="9525">
            <a:solidFill>
              <a:srgbClr val="2436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53528" y="2103119"/>
            <a:ext cx="2843784" cy="45720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F59E0B"/>
                </a:solidFill>
                <a:latin typeface="Aptos"/>
              </a:rPr>
              <a:t>Priority help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53528" y="2715767"/>
            <a:ext cx="2843784" cy="237744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5F8FF"/>
                </a:solidFill>
                <a:latin typeface="Aptos"/>
              </a:rPr>
              <a:t>not just capital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53528" y="3044951"/>
            <a:ext cx="2843784" cy="658368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0">
                <a:solidFill>
                  <a:srgbClr val="A5B4C5"/>
                </a:solidFill>
                <a:latin typeface="Aptos"/>
              </a:rPr>
              <a:t>design-partner introductions plus investor feedback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8680" y="4480560"/>
            <a:ext cx="3154680" cy="713232"/>
          </a:xfrm>
          <a:prstGeom prst="roundRect">
            <a:avLst>
              <a:gd name="adj" fmla="val 8000"/>
            </a:avLst>
          </a:prstGeom>
          <a:solidFill>
            <a:srgbClr val="0C1420"/>
          </a:solidFill>
          <a:ln w="9525">
            <a:solidFill>
              <a:srgbClr val="2436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33272" y="4617720"/>
            <a:ext cx="2825496" cy="381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33272" y="4800600"/>
            <a:ext cx="2825496" cy="256032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5F8FF"/>
                </a:solidFill>
                <a:latin typeface="Aptos"/>
              </a:rPr>
              <a:t>Money 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" y="5193792"/>
            <a:ext cx="2825496" cy="-109728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A5B4C5"/>
                </a:solidFill>
                <a:latin typeface="Aptos"/>
              </a:rPr>
              <a:t>$5M target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26280" y="4480560"/>
            <a:ext cx="3154680" cy="713232"/>
          </a:xfrm>
          <a:prstGeom prst="roundRect">
            <a:avLst>
              <a:gd name="adj" fmla="val 8000"/>
            </a:avLst>
          </a:prstGeom>
          <a:solidFill>
            <a:srgbClr val="0C1420"/>
          </a:solidFill>
          <a:ln w="9525">
            <a:solidFill>
              <a:srgbClr val="2436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690872" y="4617720"/>
            <a:ext cx="2825496" cy="3810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90872" y="4800600"/>
            <a:ext cx="2825496" cy="256032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5F8FF"/>
                </a:solidFill>
                <a:latin typeface="Aptos"/>
              </a:rPr>
              <a:t>Output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90872" y="5193792"/>
            <a:ext cx="2825496" cy="-109728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A5B4C5"/>
                </a:solidFill>
                <a:latin typeface="Aptos"/>
              </a:rPr>
              <a:t>proof + IP + feasibility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83879" y="4480560"/>
            <a:ext cx="3154680" cy="713232"/>
          </a:xfrm>
          <a:prstGeom prst="roundRect">
            <a:avLst>
              <a:gd name="adj" fmla="val 8000"/>
            </a:avLst>
          </a:prstGeom>
          <a:solidFill>
            <a:srgbClr val="0C1420"/>
          </a:solidFill>
          <a:ln w="9525">
            <a:solidFill>
              <a:srgbClr val="2436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348471" y="4617720"/>
            <a:ext cx="2825496" cy="38100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48471" y="4800600"/>
            <a:ext cx="2825496" cy="256032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5F8FF"/>
                </a:solidFill>
                <a:latin typeface="Aptos"/>
              </a:rPr>
              <a:t>Upside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48471" y="5193792"/>
            <a:ext cx="2825496" cy="-109728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A5B4C5"/>
                </a:solidFill>
                <a:latin typeface="Aptos"/>
              </a:rPr>
              <a:t>licensing path if proof holds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6419088"/>
            <a:ext cx="10881360" cy="201168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30" b="0">
                <a:solidFill>
                  <a:srgbClr val="74869C"/>
                </a:solidFill>
                <a:latin typeface="Aptos"/>
              </a:rPr>
              <a:t>Final SAFE mechanics CFO/counsel pending. No signed traction, revenue, or customer-savings claim without supporting documents.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