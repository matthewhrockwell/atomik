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PRE-SEED | $5M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Make change the unit of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87168"/>
            <a:ext cx="9144000" cy="5943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A5B4C5"/>
                </a:solidFill>
                <a:latin typeface="Aptos"/>
              </a:rPr>
              <a:t>Bring one workload. Measure wasted state movement. Decide fit with evidence.</a:t>
            </a:r>
          </a:p>
        </p:txBody>
      </p:sp>
      <p:pic>
        <p:nvPicPr>
          <p:cNvPr id="9" name="Picture 8" descr="09-current-live-atomik-desk-v039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063240"/>
            <a:ext cx="3657600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Public proof image is a hardware-validated UI artifact, not customer workload proof.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Customers already know the pain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3108960"/>
            <a:ext cx="213969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85032"/>
            <a:ext cx="2139696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dies too quickly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97180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30752" y="3108960"/>
            <a:ext cx="213969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685032"/>
            <a:ext cx="2139696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is maxed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7180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5392" y="3108960"/>
            <a:ext cx="21396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Heat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685032"/>
            <a:ext cx="2139696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systems run 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97180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00032" y="3108960"/>
            <a:ext cx="21396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685032"/>
            <a:ext cx="2139696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more performance is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Reference state plus accumulated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43200"/>
            <a:ext cx="9601200" cy="5486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2D3EE"/>
                </a:solidFill>
                <a:latin typeface="Aptos"/>
              </a:rPr>
              <a:t>current_state = reference_state XOR accumulated_delta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" y="3977640"/>
            <a:ext cx="19110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160520"/>
            <a:ext cx="19110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553712"/>
            <a:ext cx="191109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set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8404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22192" y="3977640"/>
            <a:ext cx="19110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2" y="4160520"/>
            <a:ext cx="19110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ACCUM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4553712"/>
            <a:ext cx="191109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add deltas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65392" y="3977640"/>
            <a:ext cx="19110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160520"/>
            <a:ext cx="19110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553712"/>
            <a:ext cx="191109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reconstruct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8404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08592" y="3977640"/>
            <a:ext cx="19110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4160520"/>
            <a:ext cx="19110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4553712"/>
            <a:ext cx="191109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commit boundary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PROOF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Real, specific, evidence-labeled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51460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6152" y="2651760"/>
            <a:ext cx="447141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83464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Zynq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227832"/>
            <a:ext cx="447141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HARDWARE_VALIDATED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1460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5392" y="2651760"/>
            <a:ext cx="447141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83464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Linux-to-FPGA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227832"/>
            <a:ext cx="447141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HARDWARE_VALIDATED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93192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6152" y="4069080"/>
            <a:ext cx="447141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25196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AX7020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645152"/>
            <a:ext cx="447141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LIVE_MEASURED with caveats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4069080"/>
            <a:ext cx="447141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25196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Lean4 algebra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45152"/>
            <a:ext cx="447141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FORMAL_PROOF where audited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Formal claims stay bounded to specifically audited properties. AX7020 has wins and losses with caveats.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COMMERCIAL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Show the problem path; measure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" y="3108960"/>
            <a:ext cx="213969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Show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685032"/>
            <a:ext cx="2139696" cy="41148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the constrained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97180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76472" y="3108960"/>
            <a:ext cx="21396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685032"/>
            <a:ext cx="2139696" cy="41148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fit against 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97180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11112" y="3108960"/>
            <a:ext cx="213969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Show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685032"/>
            <a:ext cx="2139696" cy="41148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measurement + impact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97180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45752" y="3108960"/>
            <a:ext cx="21396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3291840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Call no-fit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685032"/>
            <a:ext cx="2139696" cy="41148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if ATOMiK does not help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69848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8229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$5M to reach measured workload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60604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6152" y="2743200"/>
            <a:ext cx="447141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92608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319272"/>
            <a:ext cx="447141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$5M target pre-seed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0604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5392" y="2743200"/>
            <a:ext cx="447141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92608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Entry wedge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319272"/>
            <a:ext cx="447141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paid evals -&gt; licensing optionality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9319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6152" y="4069080"/>
            <a:ext cx="447141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25196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645152"/>
            <a:ext cx="447141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proof + IP packet + ASIC feasibility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4069080"/>
            <a:ext cx="447141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251960"/>
            <a:ext cx="447141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45152"/>
            <a:ext cx="4471416" cy="914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workloads + design-partner/advisor intros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56048"/>
            <a:ext cx="10287000" cy="32004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74869C"/>
                </a:solidFill>
                <a:latin typeface="Aptos"/>
              </a:rPr>
              <a:t>Planning model: entry wedge from paid evaluations to licensing/strategic optionality if proof holds. Final SAFE terms require counsel/CFO.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66944"/>
            <a:ext cx="102870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74869C"/>
                </a:solidFill>
                <a:latin typeface="Aptos"/>
              </a:rPr>
              <a:t>This round does not fund tape-out.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